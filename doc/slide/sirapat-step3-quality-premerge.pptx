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6caa731aa7449c" /><Relationship Type="http://schemas.openxmlformats.org/officeDocument/2006/relationships/extended-properties" Target="/docProps/app.xml" Id="Re20af6098a28410a" /><Relationship Type="http://schemas.openxmlformats.org/officeDocument/2006/relationships/officeDocument" Target="/ppt/presentation.xml" Id="R6753aa5c7118456f" /></Relationships>
</file>

<file path=ppt/presentation.xml><?xml version="1.0" encoding="utf-8"?>
<p:presentation xmlns:p="http://schemas.openxmlformats.org/presentationml/2006/main">
  <p:sldMasterIdLst>
    <p:sldMasterId xmlns:r="http://schemas.openxmlformats.org/officeDocument/2006/relationships" id="2147483648" r:id="Raaeadcf494244df9"/>
  </p:sldMasterIdLst>
  <p:notesMasterIdLst>
    <p:notesMasterId xmlns:r="http://schemas.openxmlformats.org/officeDocument/2006/relationships" r:id="Rbc76b7389a7c4e19"/>
  </p:notesMasterIdLst>
  <p:sldIdLst>
    <p:sldId xmlns:r="http://schemas.openxmlformats.org/officeDocument/2006/relationships" id="256" r:id="Rd23d2ef48fbe48c6"/>
    <p:sldId xmlns:r="http://schemas.openxmlformats.org/officeDocument/2006/relationships" id="257" r:id="Rdd4583e20dbf4e7d"/>
    <p:sldId xmlns:r="http://schemas.openxmlformats.org/officeDocument/2006/relationships" id="258" r:id="R987f7f58378341eb"/>
    <p:sldId xmlns:r="http://schemas.openxmlformats.org/officeDocument/2006/relationships" id="259" r:id="R90f3c698c2504f1b"/>
    <p:sldId xmlns:r="http://schemas.openxmlformats.org/officeDocument/2006/relationships" id="260" r:id="Rb87a209aae6b4b68"/>
    <p:sldId xmlns:r="http://schemas.openxmlformats.org/officeDocument/2006/relationships" id="261" r:id="R6353e26da13242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6cc10f26ee4e25" /><Relationship Type="http://schemas.openxmlformats.org/officeDocument/2006/relationships/slideMaster" Target="/ppt/slideMasters/slideMaster1.xml" Id="Raaeadcf494244df9" /><Relationship Type="http://schemas.openxmlformats.org/officeDocument/2006/relationships/notesMaster" Target="/ppt/notesMasters/notesMaster1.xml" Id="Rbc76b7389a7c4e19" /><Relationship Type="http://schemas.openxmlformats.org/officeDocument/2006/relationships/presProps" Target="/ppt/presProps.xml" Id="R34209fdfc62741d0" /><Relationship Type="http://schemas.openxmlformats.org/officeDocument/2006/relationships/tableStyles" Target="/ppt/tableStyles.xml" Id="R17e90867cc0d437b" /><Relationship Type="http://schemas.openxmlformats.org/officeDocument/2006/relationships/slide" Target="/ppt/slides/slide1.xml" Id="Rd23d2ef48fbe48c6" /><Relationship Type="http://schemas.openxmlformats.org/officeDocument/2006/relationships/slide" Target="/ppt/slides/slide2.xml" Id="Rdd4583e20dbf4e7d" /><Relationship Type="http://schemas.openxmlformats.org/officeDocument/2006/relationships/slide" Target="/ppt/slides/slide3.xml" Id="R987f7f58378341eb" /><Relationship Type="http://schemas.openxmlformats.org/officeDocument/2006/relationships/slide" Target="/ppt/slides/slide4.xml" Id="R90f3c698c2504f1b" /><Relationship Type="http://schemas.openxmlformats.org/officeDocument/2006/relationships/slide" Target="/ppt/slides/slide5.xml" Id="Rb87a209aae6b4b68" /><Relationship Type="http://schemas.openxmlformats.org/officeDocument/2006/relationships/slide" Target="/ppt/slides/slide6.xml" Id="R6353e26da13242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c4a9ea36e04a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4ddb923b084254" /><Relationship Type="http://schemas.openxmlformats.org/officeDocument/2006/relationships/notesMaster" Target="/ppt/notesMasters/notesMaster1.xml" Id="Ra70c87c5d98b41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c518b15cec4d3b" /><Relationship Type="http://schemas.openxmlformats.org/officeDocument/2006/relationships/notesMaster" Target="/ppt/notesMasters/notesMaster1.xml" Id="R3238cc74f18042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9e53dadcad4ec5" /><Relationship Type="http://schemas.openxmlformats.org/officeDocument/2006/relationships/notesMaster" Target="/ppt/notesMasters/notesMaster1.xml" Id="R2e235d0a436442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052285048f4ea8" /><Relationship Type="http://schemas.openxmlformats.org/officeDocument/2006/relationships/notesMaster" Target="/ppt/notesMasters/notesMaster1.xml" Id="R096953edb8cc43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4c5409d312495d" /><Relationship Type="http://schemas.openxmlformats.org/officeDocument/2006/relationships/notesMaster" Target="/ppt/notesMasters/notesMaster1.xml" Id="R4c311c9f786c46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dc0cef2d73431d" /><Relationship Type="http://schemas.openxmlformats.org/officeDocument/2006/relationships/notesMaster" Target="/ppt/notesMasters/notesMaster1.xml" Id="R11d3fc6c5e444f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หน้าที่ของศิระพัทธ์คือดูแล test strategy/traceability, Customer และ components กลาง ตรวจ UI เจ้าของ feature และส่งหลักฐานที่แยก baseline/local/public ชัดเจน สไลด์ชุดนี้เป็นส่วนส่งให้ปวริศช์รวม ยังไม่ได้รับรอง release หรือการซ้อมห้าคน</a:t>
            </a:r>
          </a:p>
          <a:p xmlns:a="http://schemas.openxmlformats.org/drawingml/2006/main">
            <a:r>
              <a:t>Source: https://app.notion.com/p/37e90b8ff964834fad3701e2d8115de2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ผล H2 ไม่พิสูจน์ PostgreSQL lock/grants ส่วน HTTP response fixtures ใช้ตรวจ loading/empty/error ต้องแยกจาก Core Flow ที่ไม่มี mocks CI ต้องเป็น run ของ revision ที่ตรวจรับ เอกสารอ้าง test name อย่างเดียวไม่ใช่ผลรัน</a:t>
            </a:r>
          </a:p>
          <a:p xmlns:a="http://schemas.openxmlformats.org/drawingml/2006/main">
            <a:r>
              <a:t>Sources: doc/testing/test-plan.md; .github/workflows/ci.yml; doc/testing/sirapat-step3-report.md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QR token ถูกลบจาก fragment ทันที ส่งใน POST body เท่านั้น backend rotate QR และเก็บ hash ของ credential หน้าเว็บกัน stale response และ retry menu ผ่าน cookie แทนแลก token ใช้แล้วซ้ำ ใช้หนึ่ง ordering tab ต่อ browser profile; ไม่ได้อ้างว่ามี cross-tab synchronization</a:t>
            </a:r>
          </a:p>
          <a:p xmlns:a="http://schemas.openxmlformats.org/drawingml/2006/main">
            <a:r>
              <a:t>Sources: doc/contracts/ordering-contract.md; code/frontend/src/features/ordering/api.ts; CustomerOrderingPage.tsx; CustomerOrderingPage.test.tsx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ผล CI ของ PR #22 ที่ยืนยันก่อนแก้ draft: head a351fbaf5878f3ad1d68ae3906bd63eb337ffe20, run37478993077, 6 ตุลาคม 2026 21:27-21:28 Asia/Bangkok Backend/PostgreSQL303/303 ไม่มี failures/errors/skipped Frontend116/116 ใน14files Lint0errors/4warningsเดิมและbuildผ่าน ตัวเลขนี้เป็น CI ไม่ใช่ผล local Maven274/27skippedของรอบแรก</a:t>
            </a:r>
          </a:p>
          <a:p xmlns:a="http://schemas.openxmlformats.org/drawingml/2006/main">
            <a:r>
              <a:t>Local browser รอบก่อน mergeผ่าน14กลุ่มด้วย real HTTP/cookies และ H2 แยก รวม Menu/category CRUDผ่านUIและ4rolesรับ protected API401 ขณะเปิดหน้าอยู่หลังserver-side invalidation แยก Staff/Kitchen UIlogoutอีกกลุ่ม ไม่มีHTTPmocks และไม่ได้จำลองเวลาหมดอายุตามTTL publicยังpending พร้อม6URLguardtests และCIตรวจguardก่อนbrowser/test-data startup</a:t>
            </a:r>
          </a:p>
          <a:p xmlns:a="http://schemas.openxmlformats.org/drawingml/2006/main">
            <a:r>
              <a:t>Source CI: https://github.com/PavaritPramual/buffet-restaurant-management-system/actions/runs/37478993077</a:t>
            </a:r>
          </a:p>
          <a:p xmlns:a="http://schemas.openxmlformats.org/drawingml/2006/main">
            <a:r>
              <a:t>Sources: doc/testing/sirapat-step3-premerge-report.md; test/browser/step3-core-flow.cjs; step3-runtime-config.test.cjs; AdminShell.test.tsx</a:t>
            </a:r>
          </a:p>
          <a:p xmlns:a="http://schemas.openxmlformats.org/drawingml/2006/main">
            <a:r>
              <a:t>หลังแก้ต้องตรวจCIของPRheadใหม่อีกครั้งก่อนmerge โดยใช้linkล่าสุดในPR/report ไม่ใช้ผลCIเก่ารับรองheadใหม่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 แยก catalog/order/mapping; O เพิ่ม provider ได้; L allowed/denied contract แต่ fixtureใช้เฉพาะการตั้งค่าทดสอบ; I orderingไม่รับcatalog writes; D constructor injection PackageMenuItemไม่มีJavaentityแยก ต้องแยกSQLcascade membershipกับJPAentitycascade Orderhistoryใช้RESTRICT จึงmark unavailableแทนลบ ไม่มีquery-count benchmarkของAdmin pagination จึงไม่อ้างว่าไม่มีN+1ทุกquery</a:t>
            </a:r>
          </a:p>
          <a:p xmlns:a="http://schemas.openxmlformats.org/drawingml/2006/main">
            <a:r>
              <a:t>Sources: doc/architecture/sirapat-menu-ordering-solid-jpa.md; MenuItem.java; MenuItemRepository.java; V4__create_menu_and_order_tables.sql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เมธัสรับStock/Profile ธีรเมธรับpublicdeployment ปวริศช์รวมrelease/E2E ศรัณย์ตรวจAPI/State ศิระพัทธ์ตรวจUI/tests ไม่มีการติ๊กFinalจากผลlocalหรือreportเก่า ไม่มีpassword/token/cookieในสไลด์</a:t>
            </a:r>
          </a:p>
          <a:p xmlns:a="http://schemas.openxmlformats.org/drawingml/2006/main">
            <a:r>
              <a:t>Sources: Notion Step3 https://app.notion.com/p/37e90b8ff964834fad3701e2d8115de2; doc/testing/requirement-test-traceability.md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111bb1d00b41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f356df1ca848c0" /><Relationship Type="http://schemas.openxmlformats.org/officeDocument/2006/relationships/slideLayout" Target="/ppt/slideLayouts/slideLayout1.xml" Id="R503d123f5f9747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3d123f5f9747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8aede294c94323" /><Relationship Type="http://schemas.openxmlformats.org/officeDocument/2006/relationships/notesSlide" Target="/ppt/notesSlides/notesSlide1.xml" Id="Rc07d8f566a9244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5e27a560e24047" /><Relationship Type="http://schemas.openxmlformats.org/officeDocument/2006/relationships/notesSlide" Target="/ppt/notesSlides/notesSlide2.xml" Id="Rc70ab0654b3844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4c15918ea84933" /><Relationship Type="http://schemas.openxmlformats.org/officeDocument/2006/relationships/notesSlide" Target="/ppt/notesSlides/notesSlide3.xml" Id="R2a732824a2e54d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f58fc260c7f40ee" /><Relationship Type="http://schemas.openxmlformats.org/officeDocument/2006/relationships/notesSlide" Target="/ppt/notesSlides/notesSlide4.xml" Id="R4f94e5a6076545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10b03d066b49e4" /><Relationship Type="http://schemas.openxmlformats.org/officeDocument/2006/relationships/notesSlide" Target="/ppt/notesSlides/notesSlide5.xml" Id="R624eb85660a54d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d5e9b7fd2b4749" /><Relationship Type="http://schemas.openxmlformats.org/officeDocument/2006/relationships/notesSlide" Target="/ppt/notesSlides/notesSlide6.xml" Id="R0f8d9857c20540bc" /></Relationships>
</file>

<file path=ppt/slides/slide1.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F8F8BE-142C-4B84-8242-84C7F157A2B7}"/>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9A3412"/>
                </a:solidFill>
                <a:latin typeface="Tahoma"/>
                <a:ea typeface="Tahoma"/>
                <a:cs typeface="Tahoma"/>
              </a:defRPr>
            </a:pPr>
            <a:r>
              <a:rPr sz="3300" b="1">
                <a:solidFill>
                  <a:srgbClr val="9A3412"/>
                </a:solidFill>
                <a:latin typeface="Tahoma"/>
                <a:ea typeface="Tahoma"/>
                <a:cs typeface="Tahoma"/>
              </a:rPr>
              <a:t>ศิระพัทธ์ — การทดสอบและคุณภาพ UI</a:t>
            </a:r>
          </a:p>
        </p:txBody>
      </p:sp>
      <p:sp>
        <p:nvSpPr>
          <p:cNvPr id="2" name="">
            <a:extLst xmlns:a="http://schemas.openxmlformats.org/drawingml/2006/main">
              <a:ext uri="{FF2B5EF4-FFF2-40B4-BE49-F238E27FC236}">
                <a16:creationId xmlns:a16="http://schemas.microsoft.com/office/drawing/2014/main" id="{686BA704-3CFB-4DA1-BCD1-D42AC9693B8D}"/>
              </a:ext>
            </a:extLst>
          </p:cNvPr>
          <p:cNvSpPr>
            <a:spLocks xmlns:a="http://schemas.openxmlformats.org/drawingml/2006/main" noGrp="1"/>
          </p:cNvSpPr>
          <p:nvPr/>
        </p:nvSpPr>
        <p:spPr>
          <a:xfrm xmlns:a="http://schemas.openxmlformats.org/drawingml/2006/main">
            <a:off x="685800" y="19050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1F2937"/>
                </a:solidFill>
                <a:latin typeface="Tahoma"/>
                <a:ea typeface="Tahoma"/>
                <a:cs typeface="Tahoma"/>
              </a:defRPr>
            </a:pPr>
            <a:r>
              <a:rPr sz="3150" b="0">
                <a:solidFill>
                  <a:srgbClr val="1F2937"/>
                </a:solidFill>
                <a:latin typeface="Tahoma"/>
                <a:ea typeface="Tahoma"/>
                <a:cs typeface="Tahoma"/>
              </a:rPr>
              <a:t>Menu / Ordering · Customer QR · Shared UI</a:t>
            </a:r>
          </a:p>
        </p:txBody>
      </p:sp>
      <p:sp>
        <p:nvSpPr>
          <p:cNvPr id="3" name="">
            <a:extLst xmlns:a="http://schemas.openxmlformats.org/drawingml/2006/main">
              <a:ext uri="{FF2B5EF4-FFF2-40B4-BE49-F238E27FC236}">
                <a16:creationId xmlns:a16="http://schemas.microsoft.com/office/drawing/2014/main" id="{B0AD6F85-BEFB-48FD-97B7-94BF3AF407B1}"/>
              </a:ext>
            </a:extLst>
          </p:cNvPr>
          <p:cNvSpPr>
            <a:spLocks xmlns:a="http://schemas.openxmlformats.org/drawingml/2006/main" noGrp="1"/>
          </p:cNvSpPr>
          <p:nvPr/>
        </p:nvSpPr>
        <p:spPr>
          <a:xfrm xmlns:a="http://schemas.openxmlformats.org/drawingml/2006/main">
            <a:off x="685800" y="2686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F2937"/>
                </a:solidFill>
                <a:latin typeface="Tahoma"/>
                <a:ea typeface="Tahoma"/>
                <a:cs typeface="Tahoma"/>
              </a:defRPr>
            </a:pPr>
            <a:r>
              <a:rPr sz="2400" b="0">
                <a:solidFill>
                  <a:srgbClr val="1F2937"/>
                </a:solidFill>
                <a:latin typeface="Tahoma"/>
                <a:ea typeface="Tahoma"/>
                <a:cs typeface="Tahoma"/>
              </a:rPr>
              <a:t>Buffet Restaurant Management System</a:t>
            </a:r>
          </a:p>
        </p:txBody>
      </p:sp>
      <p:sp>
        <p:nvSpPr>
          <p:cNvPr id="4" name="">
            <a:extLst xmlns:a="http://schemas.openxmlformats.org/drawingml/2006/main">
              <a:ext uri="{FF2B5EF4-FFF2-40B4-BE49-F238E27FC236}">
                <a16:creationId xmlns:a16="http://schemas.microsoft.com/office/drawing/2014/main" id="{98E761FA-02EF-462E-BE19-9AD87D21169E}"/>
              </a:ext>
            </a:extLst>
          </p:cNvPr>
          <p:cNvSpPr>
            <a:spLocks xmlns:a="http://schemas.openxmlformats.org/drawingml/2006/main" noGrp="1"/>
          </p:cNvSpPr>
          <p:nvPr/>
        </p:nvSpPr>
        <p:spPr>
          <a:xfrm xmlns:a="http://schemas.openxmlformats.org/drawingml/2006/main">
            <a:off x="685800" y="34671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F2937"/>
                </a:solidFill>
                <a:latin typeface="Tahoma"/>
                <a:ea typeface="Tahoma"/>
                <a:cs typeface="Tahoma"/>
              </a:defRPr>
            </a:pPr>
            <a:r>
              <a:rPr sz="2100" b="0">
                <a:solidFill>
                  <a:srgbClr val="1F2937"/>
                </a:solidFill>
                <a:latin typeface="Tahoma"/>
                <a:ea typeface="Tahoma"/>
                <a:cs typeface="Tahoma"/>
              </a:rPr>
              <a:t>Step 3 · 6 ตุลาคม 2026</a:t>
            </a:r>
          </a:p>
        </p:txBody>
      </p:sp>
      <p:sp>
        <p:nvSpPr>
          <p:cNvPr id="5" name="">
            <a:extLst xmlns:a="http://schemas.openxmlformats.org/drawingml/2006/main">
              <a:ext uri="{FF2B5EF4-FFF2-40B4-BE49-F238E27FC236}">
                <a16:creationId xmlns:a16="http://schemas.microsoft.com/office/drawing/2014/main" id="{9E04D51F-EE88-4DD9-B2B9-EFDF54A29C91}"/>
              </a:ext>
            </a:extLst>
          </p:cNvPr>
          <p:cNvSpPr>
            <a:spLocks xmlns:a="http://schemas.openxmlformats.org/drawingml/2006/main" noGrp="1"/>
          </p:cNvSpPr>
          <p:nvPr/>
        </p:nvSpPr>
        <p:spPr>
          <a:xfrm xmlns:a="http://schemas.openxmlformats.org/drawingml/2006/main">
            <a:off x="685800" y="4248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F2937"/>
                </a:solidFill>
                <a:latin typeface="Tahoma"/>
                <a:ea typeface="Tahoma"/>
                <a:cs typeface="Tahoma"/>
              </a:defRPr>
            </a:pPr>
            <a:r>
              <a:rPr sz="2100" b="0">
                <a:solidFill>
                  <a:srgbClr val="1F2937"/>
                </a:solidFill>
                <a:latin typeface="Tahoma"/>
                <a:ea typeface="Tahoma"/>
                <a:cs typeface="Tahoma"/>
              </a:rPr>
              <a:t>Local regression และ CI ผ่านแล้ว, public ยัง pending</a:t>
            </a:r>
          </a:p>
        </p:txBody>
      </p:sp>
      <p:sp>
        <p:nvSpPr>
          <p:cNvPr id="6" name="">
            <a:extLst xmlns:a="http://schemas.openxmlformats.org/drawingml/2006/main">
              <a:ext uri="{FF2B5EF4-FFF2-40B4-BE49-F238E27FC236}">
                <a16:creationId xmlns:a16="http://schemas.microsoft.com/office/drawing/2014/main" id="{800958F9-23F2-4DDD-AB54-BED4C21D593A}"/>
              </a:ext>
            </a:extLst>
          </p:cNvPr>
          <p:cNvSpPr>
            <a:spLocks xmlns:a="http://schemas.openxmlformats.org/drawingml/2006/main" noGrp="1"/>
          </p:cNvSpPr>
          <p:nvPr/>
        </p:nvSpPr>
        <p:spPr>
          <a:xfrm xmlns:a="http://schemas.openxmlformats.org/drawingml/2006/main">
            <a:off x="685800" y="6305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B5563"/>
                </a:solidFill>
                <a:latin typeface="Tahoma"/>
                <a:ea typeface="Tahoma"/>
                <a:cs typeface="Tahoma"/>
              </a:defRPr>
            </a:pPr>
            <a:r>
              <a:rPr sz="1500" b="0">
                <a:solidFill>
                  <a:srgbClr val="4B5563"/>
                </a:solidFill>
                <a:latin typeface="Tahoma"/>
                <a:ea typeface="Tahoma"/>
                <a:cs typeface="Tahoma"/>
              </a:rPr>
              <a:t>ศิระพัทธ์ · Step 3 · Local contribution  |  1 / 6</a:t>
            </a:r>
          </a:p>
        </p:txBody>
      </p:sp>
    </p:spTree>
    <p:extLst>
      <p:ext uri="{BB962C8B-B14F-4D97-AF65-F5344CB8AC3E}">
        <p14:creationId xmlns:p14="http://schemas.microsoft.com/office/powerpoint/2010/main" val="1679012275"/>
      </p:ext>
    </p:extLst>
  </p:cSld>
</p:sld>
</file>

<file path=ppt/slides/slide2.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4C754D-47BB-499F-BAD1-BCA8AD2F67BE}"/>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9A3412"/>
                </a:solidFill>
                <a:latin typeface="Tahoma"/>
                <a:ea typeface="Tahoma"/>
                <a:cs typeface="Tahoma"/>
              </a:defRPr>
            </a:pPr>
            <a:r>
              <a:rPr sz="3300" b="1">
                <a:solidFill>
                  <a:srgbClr val="9A3412"/>
                </a:solidFill>
                <a:latin typeface="Tahoma"/>
                <a:ea typeface="Tahoma"/>
                <a:cs typeface="Tahoma"/>
              </a:rPr>
              <a:t>หลักฐานการทดสอบแต่ละระดับ</a:t>
            </a:r>
          </a:p>
        </p:txBody>
      </p:sp>
      <p:sp>
        <p:nvSpPr>
          <p:cNvPr id="2" name="">
            <a:extLst xmlns:a="http://schemas.openxmlformats.org/drawingml/2006/main">
              <a:ext uri="{FF2B5EF4-FFF2-40B4-BE49-F238E27FC236}">
                <a16:creationId xmlns:a16="http://schemas.microsoft.com/office/drawing/2014/main" id="{D5CB5221-37B0-4673-9543-FD598BB60DC5}"/>
              </a:ext>
            </a:extLst>
          </p:cNvPr>
          <p:cNvSpPr>
            <a:spLocks xmlns:a="http://schemas.openxmlformats.org/drawingml/2006/main" noGrp="1"/>
          </p:cNvSpPr>
          <p:nvPr/>
        </p:nvSpPr>
        <p:spPr>
          <a:xfrm xmlns:a="http://schemas.openxmlformats.org/drawingml/2006/main">
            <a:off x="685800" y="1714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Unit / Component: กฎธุรกิจและ state ของหน้าเว็บ</a:t>
            </a:r>
          </a:p>
        </p:txBody>
      </p:sp>
      <p:sp>
        <p:nvSpPr>
          <p:cNvPr id="3" name="">
            <a:extLst xmlns:a="http://schemas.openxmlformats.org/drawingml/2006/main">
              <a:ext uri="{FF2B5EF4-FFF2-40B4-BE49-F238E27FC236}">
                <a16:creationId xmlns:a16="http://schemas.microsoft.com/office/drawing/2014/main" id="{E5B7C5FC-757A-46DE-B3DF-ECC616137970}"/>
              </a:ext>
            </a:extLst>
          </p:cNvPr>
          <p:cNvSpPr>
            <a:spLocks xmlns:a="http://schemas.openxmlformats.org/drawingml/2006/main" noGrp="1"/>
          </p:cNvSpPr>
          <p:nvPr/>
        </p:nvSpPr>
        <p:spPr>
          <a:xfrm xmlns:a="http://schemas.openxmlformats.org/drawingml/2006/main">
            <a:off x="685800" y="24955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H2 Integration: HTTP, cookie, Origin และ persistence</a:t>
            </a:r>
          </a:p>
        </p:txBody>
      </p:sp>
      <p:sp>
        <p:nvSpPr>
          <p:cNvPr id="4" name="">
            <a:extLst xmlns:a="http://schemas.openxmlformats.org/drawingml/2006/main">
              <a:ext uri="{FF2B5EF4-FFF2-40B4-BE49-F238E27FC236}">
                <a16:creationId xmlns:a16="http://schemas.microsoft.com/office/drawing/2014/main" id="{BF60FDBA-3C48-47A4-BD55-0A9E404E9BF3}"/>
              </a:ext>
            </a:extLst>
          </p:cNvPr>
          <p:cNvSpPr>
            <a:spLocks xmlns:a="http://schemas.openxmlformats.org/drawingml/2006/main" noGrp="1"/>
          </p:cNvSpPr>
          <p:nvPr/>
        </p:nvSpPr>
        <p:spPr>
          <a:xfrm xmlns:a="http://schemas.openxmlformats.org/drawingml/2006/main">
            <a:off x="685800" y="32766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PostgreSQL: migration, grants และ lock contention</a:t>
            </a:r>
          </a:p>
        </p:txBody>
      </p:sp>
      <p:sp>
        <p:nvSpPr>
          <p:cNvPr id="5" name="">
            <a:extLst xmlns:a="http://schemas.openxmlformats.org/drawingml/2006/main">
              <a:ext uri="{FF2B5EF4-FFF2-40B4-BE49-F238E27FC236}">
                <a16:creationId xmlns:a16="http://schemas.microsoft.com/office/drawing/2014/main" id="{28C210F7-AAEC-4991-ADC7-F75509025E1E}"/>
              </a:ext>
            </a:extLst>
          </p:cNvPr>
          <p:cNvSpPr>
            <a:spLocks xmlns:a="http://schemas.openxmlformats.org/drawingml/2006/main" noGrp="1"/>
          </p:cNvSpPr>
          <p:nvPr/>
        </p:nvSpPr>
        <p:spPr>
          <a:xfrm xmlns:a="http://schemas.openxmlformats.org/drawingml/2006/main">
            <a:off x="685800" y="40576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Browser: flow จริงผ่านบัญชีแยกและ QR ที่ระบบสร้าง</a:t>
            </a:r>
          </a:p>
        </p:txBody>
      </p:sp>
      <p:sp>
        <p:nvSpPr>
          <p:cNvPr id="6" name="">
            <a:extLst xmlns:a="http://schemas.openxmlformats.org/drawingml/2006/main">
              <a:ext uri="{FF2B5EF4-FFF2-40B4-BE49-F238E27FC236}">
                <a16:creationId xmlns:a16="http://schemas.microsoft.com/office/drawing/2014/main" id="{5498810B-7061-4B19-A018-21BF2FAB5A5E}"/>
              </a:ext>
            </a:extLst>
          </p:cNvPr>
          <p:cNvSpPr>
            <a:spLocks xmlns:a="http://schemas.openxmlformats.org/drawingml/2006/main" noGrp="1"/>
          </p:cNvSpPr>
          <p:nvPr/>
        </p:nvSpPr>
        <p:spPr>
          <a:xfrm xmlns:a="http://schemas.openxmlformats.org/drawingml/2006/main">
            <a:off x="685800" y="48387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Public release: HTTPS และ environment ที่นำไปส่งจริง</a:t>
            </a:r>
          </a:p>
        </p:txBody>
      </p:sp>
      <p:sp>
        <p:nvSpPr>
          <p:cNvPr id="7" name="">
            <a:extLst xmlns:a="http://schemas.openxmlformats.org/drawingml/2006/main">
              <a:ext uri="{FF2B5EF4-FFF2-40B4-BE49-F238E27FC236}">
                <a16:creationId xmlns:a16="http://schemas.microsoft.com/office/drawing/2014/main" id="{306BE745-C731-4782-8877-86E315E7E560}"/>
              </a:ext>
            </a:extLst>
          </p:cNvPr>
          <p:cNvSpPr>
            <a:spLocks xmlns:a="http://schemas.openxmlformats.org/drawingml/2006/main" noGrp="1"/>
          </p:cNvSpPr>
          <p:nvPr/>
        </p:nvSpPr>
        <p:spPr>
          <a:xfrm xmlns:a="http://schemas.openxmlformats.org/drawingml/2006/main">
            <a:off x="685800" y="6305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B5563"/>
                </a:solidFill>
                <a:latin typeface="Tahoma"/>
                <a:ea typeface="Tahoma"/>
                <a:cs typeface="Tahoma"/>
              </a:defRPr>
            </a:pPr>
            <a:r>
              <a:rPr sz="1500" b="0">
                <a:solidFill>
                  <a:srgbClr val="4B5563"/>
                </a:solidFill>
                <a:latin typeface="Tahoma"/>
                <a:ea typeface="Tahoma"/>
                <a:cs typeface="Tahoma"/>
              </a:rPr>
              <a:t>ศิระพัทธ์ · Step 3 · Local contribution  |  2 / 6</a:t>
            </a:r>
          </a:p>
        </p:txBody>
      </p:sp>
    </p:spTree>
    <p:extLst>
      <p:ext uri="{BB962C8B-B14F-4D97-AF65-F5344CB8AC3E}">
        <p14:creationId xmlns:p14="http://schemas.microsoft.com/office/powerpoint/2010/main" val="375133339"/>
      </p:ext>
    </p:extLst>
  </p:cSld>
</p:sld>
</file>

<file path=ppt/slides/slide3.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1C0B3A-93AD-4179-AE37-74FAFED052D3}"/>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9A3412"/>
                </a:solidFill>
                <a:latin typeface="Tahoma"/>
                <a:ea typeface="Tahoma"/>
                <a:cs typeface="Tahoma"/>
              </a:defRPr>
            </a:pPr>
            <a:r>
              <a:rPr sz="3300" b="1">
                <a:solidFill>
                  <a:srgbClr val="9A3412"/>
                </a:solidFill>
                <a:latin typeface="Tahoma"/>
                <a:ea typeface="Tahoma"/>
                <a:cs typeface="Tahoma"/>
              </a:rPr>
              <a:t>QR และสิทธิ์ของ Customer</a:t>
            </a:r>
          </a:p>
        </p:txBody>
      </p:sp>
      <p:sp>
        <p:nvSpPr>
          <p:cNvPr id="2" name="">
            <a:extLst xmlns:a="http://schemas.openxmlformats.org/drawingml/2006/main">
              <a:ext uri="{FF2B5EF4-FFF2-40B4-BE49-F238E27FC236}">
                <a16:creationId xmlns:a16="http://schemas.microsoft.com/office/drawing/2014/main" id="{816494AB-6648-4A44-94F8-5EC421589F38}"/>
              </a:ext>
            </a:extLst>
          </p:cNvPr>
          <p:cNvSpPr>
            <a:spLocks xmlns:a="http://schemas.openxmlformats.org/drawingml/2006/main" noGrp="1"/>
          </p:cNvSpPr>
          <p:nvPr/>
        </p:nvSpPr>
        <p:spPr>
          <a:xfrm xmlns:a="http://schemas.openxmlformats.org/drawingml/2006/main">
            <a:off x="685800" y="1714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F2937"/>
                </a:solidFill>
                <a:latin typeface="Tahoma"/>
                <a:ea typeface="Tahoma"/>
                <a:cs typeface="Tahoma"/>
              </a:defRPr>
            </a:pPr>
            <a:r>
              <a:rPr sz="2550" b="0">
                <a:solidFill>
                  <a:srgbClr val="1F2937"/>
                </a:solidFill>
                <a:latin typeface="Tahoma"/>
                <a:ea typeface="Tahoma"/>
                <a:cs typeface="Tahoma"/>
              </a:rPr>
              <a:t>QR fragment → แลกครั้งเดียว → HttpOnly cookie</a:t>
            </a:r>
          </a:p>
        </p:txBody>
      </p:sp>
      <p:sp>
        <p:nvSpPr>
          <p:cNvPr id="3" name="">
            <a:extLst xmlns:a="http://schemas.openxmlformats.org/drawingml/2006/main">
              <a:ext uri="{FF2B5EF4-FFF2-40B4-BE49-F238E27FC236}">
                <a16:creationId xmlns:a16="http://schemas.microsoft.com/office/drawing/2014/main" id="{C4B96AF9-89B8-45B2-A862-5C996F8502A2}"/>
              </a:ext>
            </a:extLst>
          </p:cNvPr>
          <p:cNvSpPr>
            <a:spLocks xmlns:a="http://schemas.openxmlformats.org/drawingml/2006/main" noGrp="1"/>
          </p:cNvSpPr>
          <p:nvPr/>
        </p:nvSpPr>
        <p:spPr>
          <a:xfrm xmlns:a="http://schemas.openxmlformats.org/drawingml/2006/main">
            <a:off x="685800" y="24955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StrictMode แชร์การแลก QR; สแกนใหม่ล้างข้อมูลรอบเก่า</a:t>
            </a:r>
          </a:p>
        </p:txBody>
      </p:sp>
      <p:sp>
        <p:nvSpPr>
          <p:cNvPr id="4" name="">
            <a:extLst xmlns:a="http://schemas.openxmlformats.org/drawingml/2006/main">
              <a:ext uri="{FF2B5EF4-FFF2-40B4-BE49-F238E27FC236}">
                <a16:creationId xmlns:a16="http://schemas.microsoft.com/office/drawing/2014/main" id="{2DBF811E-B6DA-4548-BB64-71FBD7E1A9C7}"/>
              </a:ext>
            </a:extLst>
          </p:cNvPr>
          <p:cNvSpPr>
            <a:spLocks xmlns:a="http://schemas.openxmlformats.org/drawingml/2006/main" noGrp="1"/>
          </p:cNvSpPr>
          <p:nvPr/>
        </p:nvSpPr>
        <p:spPr>
          <a:xfrm xmlns:a="http://schemas.openxmlformats.org/drawingml/2006/main">
            <a:off x="685800" y="32766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หลายมือถือใช้ context แยกและ QR ที่ refresh แล้ว</a:t>
            </a:r>
          </a:p>
        </p:txBody>
      </p:sp>
      <p:sp>
        <p:nvSpPr>
          <p:cNvPr id="5" name="">
            <a:extLst xmlns:a="http://schemas.openxmlformats.org/drawingml/2006/main">
              <a:ext uri="{FF2B5EF4-FFF2-40B4-BE49-F238E27FC236}">
                <a16:creationId xmlns:a16="http://schemas.microsoft.com/office/drawing/2014/main" id="{58911E71-36E8-42BD-A661-B2173E8001B4}"/>
              </a:ext>
            </a:extLst>
          </p:cNvPr>
          <p:cNvSpPr>
            <a:spLocks xmlns:a="http://schemas.openxmlformats.org/drawingml/2006/main" noGrp="1"/>
          </p:cNvSpPr>
          <p:nvPr/>
        </p:nvSpPr>
        <p:spPr>
          <a:xfrm xmlns:a="http://schemas.openxmlformats.org/drawingml/2006/main">
            <a:off x="685800" y="40576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ขอคิดบิล → ทุกมือถือหยุด Order → PAID → ปิดรอบ</a:t>
            </a:r>
          </a:p>
        </p:txBody>
      </p:sp>
      <p:sp>
        <p:nvSpPr>
          <p:cNvPr id="6" name="">
            <a:extLst xmlns:a="http://schemas.openxmlformats.org/drawingml/2006/main">
              <a:ext uri="{FF2B5EF4-FFF2-40B4-BE49-F238E27FC236}">
                <a16:creationId xmlns:a16="http://schemas.microsoft.com/office/drawing/2014/main" id="{46AC49D1-04C5-4D49-BE7D-79ABE41F1A16}"/>
              </a:ext>
            </a:extLst>
          </p:cNvPr>
          <p:cNvSpPr>
            <a:spLocks xmlns:a="http://schemas.openxmlformats.org/drawingml/2006/main" noGrp="1"/>
          </p:cNvSpPr>
          <p:nvPr/>
        </p:nvSpPr>
        <p:spPr>
          <a:xfrm xmlns:a="http://schemas.openxmlformats.org/drawingml/2006/main">
            <a:off x="685800" y="48387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ID อย่างเดียวไม่ให้สิทธิ์; cookie / Origin ต้องผ่าน</a:t>
            </a:r>
          </a:p>
        </p:txBody>
      </p:sp>
      <p:sp>
        <p:nvSpPr>
          <p:cNvPr id="7" name="">
            <a:extLst xmlns:a="http://schemas.openxmlformats.org/drawingml/2006/main">
              <a:ext uri="{FF2B5EF4-FFF2-40B4-BE49-F238E27FC236}">
                <a16:creationId xmlns:a16="http://schemas.microsoft.com/office/drawing/2014/main" id="{BE167D8B-1FC7-4978-8C0C-8A8623B8A79C}"/>
              </a:ext>
            </a:extLst>
          </p:cNvPr>
          <p:cNvSpPr>
            <a:spLocks xmlns:a="http://schemas.openxmlformats.org/drawingml/2006/main" noGrp="1"/>
          </p:cNvSpPr>
          <p:nvPr/>
        </p:nvSpPr>
        <p:spPr>
          <a:xfrm xmlns:a="http://schemas.openxmlformats.org/drawingml/2006/main">
            <a:off x="685800" y="6305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B5563"/>
                </a:solidFill>
                <a:latin typeface="Tahoma"/>
                <a:ea typeface="Tahoma"/>
                <a:cs typeface="Tahoma"/>
              </a:defRPr>
            </a:pPr>
            <a:r>
              <a:rPr sz="1500" b="0">
                <a:solidFill>
                  <a:srgbClr val="4B5563"/>
                </a:solidFill>
                <a:latin typeface="Tahoma"/>
                <a:ea typeface="Tahoma"/>
                <a:cs typeface="Tahoma"/>
              </a:rPr>
              <a:t>ศิระพัทธ์ · Step 3 · Local contribution  |  3 / 6</a:t>
            </a:r>
          </a:p>
        </p:txBody>
      </p:sp>
    </p:spTree>
    <p:extLst>
      <p:ext uri="{BB962C8B-B14F-4D97-AF65-F5344CB8AC3E}">
        <p14:creationId xmlns:p14="http://schemas.microsoft.com/office/powerpoint/2010/main" val="1215646067"/>
      </p:ext>
    </p:extLst>
  </p:cSld>
</p:sld>
</file>

<file path=ppt/slides/slide4.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C8D020-68AD-42A7-B0AF-8A9A1DD60B54}"/>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9A3412"/>
                </a:solidFill>
                <a:latin typeface="Tahoma"/>
                <a:ea typeface="Tahoma"/>
                <a:cs typeface="Tahoma"/>
              </a:defRPr>
            </a:pPr>
            <a:r>
              <a:rPr sz="3300" b="1">
                <a:solidFill>
                  <a:srgbClr val="9A3412"/>
                </a:solidFill>
                <a:latin typeface="Tahoma"/>
                <a:ea typeface="Tahoma"/>
                <a:cs typeface="Tahoma"/>
              </a:rPr>
              <a:t>Session และผล CI ก่อน merge</a:t>
            </a:r>
          </a:p>
        </p:txBody>
      </p:sp>
      <p:sp>
        <p:nvSpPr>
          <p:cNvPr id="2" name="">
            <a:extLst xmlns:a="http://schemas.openxmlformats.org/drawingml/2006/main">
              <a:ext uri="{FF2B5EF4-FFF2-40B4-BE49-F238E27FC236}">
                <a16:creationId xmlns:a16="http://schemas.microsoft.com/office/drawing/2014/main" id="{2F1458CC-4ADE-4A80-A385-E5AA0599E222}"/>
              </a:ext>
            </a:extLst>
          </p:cNvPr>
          <p:cNvSpPr>
            <a:spLocks xmlns:a="http://schemas.openxmlformats.org/drawingml/2006/main" noGrp="1"/>
          </p:cNvSpPr>
          <p:nvPr/>
        </p:nvSpPr>
        <p:spPr>
          <a:xfrm xmlns:a="http://schemas.openxmlformats.org/drawingml/2006/main">
            <a:off x="685800" y="1714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ทั้ง 4 roles กลับหน้าเข้าสู่ระบบเมื่อ API ตอบ 401</a:t>
            </a:r>
          </a:p>
        </p:txBody>
      </p:sp>
      <p:sp>
        <p:nvSpPr>
          <p:cNvPr id="3" name="">
            <a:extLst xmlns:a="http://schemas.openxmlformats.org/drawingml/2006/main">
              <a:ext uri="{FF2B5EF4-FFF2-40B4-BE49-F238E27FC236}">
                <a16:creationId xmlns:a16="http://schemas.microsoft.com/office/drawing/2014/main" id="{1F9FDCFD-15D4-4F6D-83D3-CC6792CF7B41}"/>
              </a:ext>
            </a:extLst>
          </p:cNvPr>
          <p:cNvSpPr>
            <a:spLocks xmlns:a="http://schemas.openxmlformats.org/drawingml/2006/main" noGrp="1"/>
          </p:cNvSpPr>
          <p:nvPr/>
        </p:nvSpPr>
        <p:spPr>
          <a:xfrm xmlns:a="http://schemas.openxmlformats.org/drawingml/2006/main">
            <a:off x="685800" y="24955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คำตอบ auth ที่มาช้าไม่เปิดข้อมูลเดิมกลับขึ้นมา</a:t>
            </a:r>
          </a:p>
        </p:txBody>
      </p:sp>
      <p:sp>
        <p:nvSpPr>
          <p:cNvPr id="4" name="">
            <a:extLst xmlns:a="http://schemas.openxmlformats.org/drawingml/2006/main">
              <a:ext uri="{FF2B5EF4-FFF2-40B4-BE49-F238E27FC236}">
                <a16:creationId xmlns:a16="http://schemas.microsoft.com/office/drawing/2014/main" id="{E9BDC2C6-7C65-41F5-8F32-FDE95ABA4755}"/>
              </a:ext>
            </a:extLst>
          </p:cNvPr>
          <p:cNvSpPr>
            <a:spLocks xmlns:a="http://schemas.openxmlformats.org/drawingml/2006/main" noGrp="1"/>
          </p:cNvSpPr>
          <p:nvPr/>
        </p:nvSpPr>
        <p:spPr>
          <a:xfrm xmlns:a="http://schemas.openxmlformats.org/drawingml/2006/main">
            <a:off x="685800" y="32766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CI: Backend 303/303, Frontend 116/116 ผ่าน</a:t>
            </a:r>
          </a:p>
        </p:txBody>
      </p:sp>
      <p:sp>
        <p:nvSpPr>
          <p:cNvPr id="5" name="">
            <a:extLst xmlns:a="http://schemas.openxmlformats.org/drawingml/2006/main">
              <a:ext uri="{FF2B5EF4-FFF2-40B4-BE49-F238E27FC236}">
                <a16:creationId xmlns:a16="http://schemas.microsoft.com/office/drawing/2014/main" id="{D9A91F63-3462-421F-B160-A34F2C180645}"/>
              </a:ext>
            </a:extLst>
          </p:cNvPr>
          <p:cNvSpPr>
            <a:spLocks xmlns:a="http://schemas.openxmlformats.org/drawingml/2006/main" noGrp="1"/>
          </p:cNvSpPr>
          <p:nvPr/>
        </p:nvSpPr>
        <p:spPr>
          <a:xfrm xmlns:a="http://schemas.openxmlformats.org/drawingml/2006/main">
            <a:off x="685800" y="40576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Lint 0 errors / 4 warnings เดิม, Build ผ่าน</a:t>
            </a:r>
          </a:p>
        </p:txBody>
      </p:sp>
      <p:sp>
        <p:nvSpPr>
          <p:cNvPr id="6" name="">
            <a:extLst xmlns:a="http://schemas.openxmlformats.org/drawingml/2006/main">
              <a:ext uri="{FF2B5EF4-FFF2-40B4-BE49-F238E27FC236}">
                <a16:creationId xmlns:a16="http://schemas.microsoft.com/office/drawing/2014/main" id="{2F260404-F903-48ED-883F-62AB52006883}"/>
              </a:ext>
            </a:extLst>
          </p:cNvPr>
          <p:cNvSpPr>
            <a:spLocks xmlns:a="http://schemas.openxmlformats.org/drawingml/2006/main" noGrp="1"/>
          </p:cNvSpPr>
          <p:nvPr/>
        </p:nvSpPr>
        <p:spPr>
          <a:xfrm xmlns:a="http://schemas.openxmlformats.org/drawingml/2006/main">
            <a:off x="685800" y="48387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F2937"/>
                </a:solidFill>
                <a:latin typeface="Tahoma"/>
                <a:ea typeface="Tahoma"/>
                <a:cs typeface="Tahoma"/>
              </a:defRPr>
            </a:pPr>
            <a:r>
              <a:rPr sz="2100" b="0">
                <a:solidFill>
                  <a:srgbClr val="1F2937"/>
                </a:solidFill>
                <a:latin typeface="Tahoma"/>
                <a:ea typeface="Tahoma"/>
                <a:cs typeface="Tahoma"/>
              </a:rPr>
              <a:t>Public same-origin HTTPS และ release regression ยัง pending</a:t>
            </a:r>
          </a:p>
        </p:txBody>
      </p:sp>
      <p:sp>
        <p:nvSpPr>
          <p:cNvPr id="7" name="">
            <a:extLst xmlns:a="http://schemas.openxmlformats.org/drawingml/2006/main">
              <a:ext uri="{FF2B5EF4-FFF2-40B4-BE49-F238E27FC236}">
                <a16:creationId xmlns:a16="http://schemas.microsoft.com/office/drawing/2014/main" id="{647F614A-DD55-4BA7-BDD1-3AB905369B7A}"/>
              </a:ext>
            </a:extLst>
          </p:cNvPr>
          <p:cNvSpPr>
            <a:spLocks xmlns:a="http://schemas.openxmlformats.org/drawingml/2006/main" noGrp="1"/>
          </p:cNvSpPr>
          <p:nvPr/>
        </p:nvSpPr>
        <p:spPr>
          <a:xfrm xmlns:a="http://schemas.openxmlformats.org/drawingml/2006/main">
            <a:off x="685800" y="6305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B5563"/>
                </a:solidFill>
                <a:latin typeface="Tahoma"/>
                <a:ea typeface="Tahoma"/>
                <a:cs typeface="Tahoma"/>
              </a:defRPr>
            </a:pPr>
            <a:r>
              <a:rPr sz="1500" b="0">
                <a:solidFill>
                  <a:srgbClr val="4B5563"/>
                </a:solidFill>
                <a:latin typeface="Tahoma"/>
                <a:ea typeface="Tahoma"/>
                <a:cs typeface="Tahoma"/>
              </a:rPr>
              <a:t>ศิระพัทธ์ · Step 3 · Local contribution  |  4 / 6</a:t>
            </a:r>
          </a:p>
        </p:txBody>
      </p:sp>
    </p:spTree>
    <p:extLst>
      <p:ext uri="{BB962C8B-B14F-4D97-AF65-F5344CB8AC3E}">
        <p14:creationId xmlns:p14="http://schemas.microsoft.com/office/powerpoint/2010/main" val="802680547"/>
      </p:ext>
    </p:extLst>
  </p:cSld>
</p:sld>
</file>

<file path=ppt/slides/slide5.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A61A44-2D4F-467D-B2F4-13A932D16D6B}"/>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9A3412"/>
                </a:solidFill>
                <a:latin typeface="Tahoma"/>
                <a:ea typeface="Tahoma"/>
                <a:cs typeface="Tahoma"/>
              </a:defRPr>
            </a:pPr>
            <a:r>
              <a:rPr sz="3300" b="1">
                <a:solidFill>
                  <a:srgbClr val="9A3412"/>
                </a:solidFill>
                <a:latin typeface="Tahoma"/>
                <a:ea typeface="Tahoma"/>
                <a:cs typeface="Tahoma"/>
              </a:rPr>
              <a:t>Menu / Ordering: SOLID และ JPA</a:t>
            </a:r>
          </a:p>
        </p:txBody>
      </p:sp>
      <p:sp>
        <p:nvSpPr>
          <p:cNvPr id="2" name="">
            <a:extLst xmlns:a="http://schemas.openxmlformats.org/drawingml/2006/main">
              <a:ext uri="{FF2B5EF4-FFF2-40B4-BE49-F238E27FC236}">
                <a16:creationId xmlns:a16="http://schemas.microsoft.com/office/drawing/2014/main" id="{96F572CE-FCCD-404C-BBBD-D7AA03E74307}"/>
              </a:ext>
            </a:extLst>
          </p:cNvPr>
          <p:cNvSpPr>
            <a:spLocks xmlns:a="http://schemas.openxmlformats.org/drawingml/2006/main" noGrp="1"/>
          </p:cNvSpPr>
          <p:nvPr/>
        </p:nvSpPr>
        <p:spPr>
          <a:xfrm xmlns:a="http://schemas.openxmlformats.org/drawingml/2006/main">
            <a:off x="685800" y="1714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F2937"/>
                </a:solidFill>
                <a:latin typeface="Tahoma"/>
                <a:ea typeface="Tahoma"/>
                <a:cs typeface="Tahoma"/>
              </a:defRPr>
            </a:pPr>
            <a:r>
              <a:rPr sz="2400" b="0">
                <a:solidFill>
                  <a:srgbClr val="1F2937"/>
                </a:solidFill>
                <a:latin typeface="Tahoma"/>
                <a:ea typeface="Tahoma"/>
                <a:cs typeface="Tahoma"/>
              </a:rPr>
              <a:t>Controller → Service → Repository / Mapper → DTO</a:t>
            </a:r>
          </a:p>
        </p:txBody>
      </p:sp>
      <p:sp>
        <p:nvSpPr>
          <p:cNvPr id="3" name="">
            <a:extLst xmlns:a="http://schemas.openxmlformats.org/drawingml/2006/main">
              <a:ext uri="{FF2B5EF4-FFF2-40B4-BE49-F238E27FC236}">
                <a16:creationId xmlns:a16="http://schemas.microsoft.com/office/drawing/2014/main" id="{85579D11-0C73-4190-8376-7EF5C4E25C95}"/>
              </a:ext>
            </a:extLst>
          </p:cNvPr>
          <p:cNvSpPr>
            <a:spLocks xmlns:a="http://schemas.openxmlformats.org/drawingml/2006/main" noGrp="1"/>
          </p:cNvSpPr>
          <p:nvPr/>
        </p:nvSpPr>
        <p:spPr>
          <a:xfrm xmlns:a="http://schemas.openxmlformats.org/drawingml/2006/main">
            <a:off x="685800" y="24955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แยก Catalog กับ Ordering; inject access/session providers</a:t>
            </a:r>
          </a:p>
        </p:txBody>
      </p:sp>
      <p:sp>
        <p:nvSpPr>
          <p:cNvPr id="4" name="">
            <a:extLst xmlns:a="http://schemas.openxmlformats.org/drawingml/2006/main">
              <a:ext uri="{FF2B5EF4-FFF2-40B4-BE49-F238E27FC236}">
                <a16:creationId xmlns:a16="http://schemas.microsoft.com/office/drawing/2014/main" id="{3D212E32-CD72-41D2-A217-EA6235E699D9}"/>
              </a:ext>
            </a:extLst>
          </p:cNvPr>
          <p:cNvSpPr>
            <a:spLocks xmlns:a="http://schemas.openxmlformats.org/drawingml/2006/main" noGrp="1"/>
          </p:cNvSpPr>
          <p:nvPr/>
        </p:nvSpPr>
        <p:spPr>
          <a:xfrm xmlns:a="http://schemas.openxmlformats.org/drawingml/2006/main">
            <a:off x="685800" y="32766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MenuCategory: LAZY และไม่ cascade ลบหมวดร่วม</a:t>
            </a:r>
          </a:p>
        </p:txBody>
      </p:sp>
      <p:sp>
        <p:nvSpPr>
          <p:cNvPr id="5" name="">
            <a:extLst xmlns:a="http://schemas.openxmlformats.org/drawingml/2006/main">
              <a:ext uri="{FF2B5EF4-FFF2-40B4-BE49-F238E27FC236}">
                <a16:creationId xmlns:a16="http://schemas.microsoft.com/office/drawing/2014/main" id="{6C20EDE2-CD8A-4495-AD81-9273F0F2FD49}"/>
              </a:ext>
            </a:extLst>
          </p:cNvPr>
          <p:cNvSpPr>
            <a:spLocks xmlns:a="http://schemas.openxmlformats.org/drawingml/2006/main" noGrp="1"/>
          </p:cNvSpPr>
          <p:nvPr/>
        </p:nvSpPr>
        <p:spPr>
          <a:xfrm xmlns:a="http://schemas.openxmlformats.org/drawingml/2006/main">
            <a:off x="685800" y="40576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PackageMenuItem: join table ผ่าน ElementCollection</a:t>
            </a:r>
          </a:p>
        </p:txBody>
      </p:sp>
      <p:sp>
        <p:nvSpPr>
          <p:cNvPr id="6" name="">
            <a:extLst xmlns:a="http://schemas.openxmlformats.org/drawingml/2006/main">
              <a:ext uri="{FF2B5EF4-FFF2-40B4-BE49-F238E27FC236}">
                <a16:creationId xmlns:a16="http://schemas.microsoft.com/office/drawing/2014/main" id="{B243FB7B-F8CC-45AE-B745-22C55015D72E}"/>
              </a:ext>
            </a:extLst>
          </p:cNvPr>
          <p:cNvSpPr>
            <a:spLocks xmlns:a="http://schemas.openxmlformats.org/drawingml/2006/main" noGrp="1"/>
          </p:cNvSpPr>
          <p:nvPr/>
        </p:nvSpPr>
        <p:spPr>
          <a:xfrm xmlns:a="http://schemas.openxmlformats.org/drawingml/2006/main">
            <a:off x="685800" y="48387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F2937"/>
                </a:solidFill>
                <a:latin typeface="Tahoma"/>
                <a:ea typeface="Tahoma"/>
                <a:cs typeface="Tahoma"/>
              </a:defRPr>
            </a:pPr>
            <a:r>
              <a:rPr sz="2100" b="0">
                <a:solidFill>
                  <a:srgbClr val="1F2937"/>
                </a:solidFill>
                <a:latin typeface="Tahoma"/>
                <a:ea typeface="Tahoma"/>
                <a:cs typeface="Tahoma"/>
              </a:rPr>
              <a:t>EntityGraph โหลด category / packageIds เมื่อ Customer ต้องใช้</a:t>
            </a:r>
          </a:p>
        </p:txBody>
      </p:sp>
      <p:sp>
        <p:nvSpPr>
          <p:cNvPr id="7" name="">
            <a:extLst xmlns:a="http://schemas.openxmlformats.org/drawingml/2006/main">
              <a:ext uri="{FF2B5EF4-FFF2-40B4-BE49-F238E27FC236}">
                <a16:creationId xmlns:a16="http://schemas.microsoft.com/office/drawing/2014/main" id="{CDF1EDE6-92E7-4E2B-8816-44EED3CCD1EC}"/>
              </a:ext>
            </a:extLst>
          </p:cNvPr>
          <p:cNvSpPr>
            <a:spLocks xmlns:a="http://schemas.openxmlformats.org/drawingml/2006/main" noGrp="1"/>
          </p:cNvSpPr>
          <p:nvPr/>
        </p:nvSpPr>
        <p:spPr>
          <a:xfrm xmlns:a="http://schemas.openxmlformats.org/drawingml/2006/main">
            <a:off x="685800" y="6305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B5563"/>
                </a:solidFill>
                <a:latin typeface="Tahoma"/>
                <a:ea typeface="Tahoma"/>
                <a:cs typeface="Tahoma"/>
              </a:defRPr>
            </a:pPr>
            <a:r>
              <a:rPr sz="1500" b="0">
                <a:solidFill>
                  <a:srgbClr val="4B5563"/>
                </a:solidFill>
                <a:latin typeface="Tahoma"/>
                <a:ea typeface="Tahoma"/>
                <a:cs typeface="Tahoma"/>
              </a:rPr>
              <a:t>ศิระพัทธ์ · Step 3 · Local contribution  |  5 / 6</a:t>
            </a:r>
          </a:p>
        </p:txBody>
      </p:sp>
    </p:spTree>
    <p:extLst>
      <p:ext uri="{BB962C8B-B14F-4D97-AF65-F5344CB8AC3E}">
        <p14:creationId xmlns:p14="http://schemas.microsoft.com/office/powerpoint/2010/main" val="811488175"/>
      </p:ext>
    </p:extLst>
  </p:cSld>
</p:sld>
</file>

<file path=ppt/slides/slide6.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3D3D76-D35C-495E-B479-49A7D5E75CB7}"/>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9A3412"/>
                </a:solidFill>
                <a:latin typeface="Tahoma"/>
                <a:ea typeface="Tahoma"/>
                <a:cs typeface="Tahoma"/>
              </a:defRPr>
            </a:pPr>
            <a:r>
              <a:rPr sz="3300" b="1">
                <a:solidFill>
                  <a:srgbClr val="9A3412"/>
                </a:solidFill>
                <a:latin typeface="Tahoma"/>
                <a:ea typeface="Tahoma"/>
                <a:cs typeface="Tahoma"/>
              </a:rPr>
              <a:t>เกณฑ์ก่อนส่ง Final</a:t>
            </a:r>
          </a:p>
        </p:txBody>
      </p:sp>
      <p:sp>
        <p:nvSpPr>
          <p:cNvPr id="2" name="">
            <a:extLst xmlns:a="http://schemas.openxmlformats.org/drawingml/2006/main">
              <a:ext uri="{FF2B5EF4-FFF2-40B4-BE49-F238E27FC236}">
                <a16:creationId xmlns:a16="http://schemas.microsoft.com/office/drawing/2014/main" id="{FAD03B3D-AE49-421B-9637-4FCE787558C2}"/>
              </a:ext>
            </a:extLst>
          </p:cNvPr>
          <p:cNvSpPr>
            <a:spLocks xmlns:a="http://schemas.openxmlformats.org/drawingml/2006/main" noGrp="1"/>
          </p:cNvSpPr>
          <p:nvPr/>
        </p:nvSpPr>
        <p:spPr>
          <a:xfrm xmlns:a="http://schemas.openxmlformats.org/drawingml/2006/main">
            <a:off x="685800" y="1714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Stock target / active และ Profile: รอเจ้าของ feature + review</a:t>
            </a:r>
          </a:p>
        </p:txBody>
      </p:sp>
      <p:sp>
        <p:nvSpPr>
          <p:cNvPr id="3" name="">
            <a:extLst xmlns:a="http://schemas.openxmlformats.org/drawingml/2006/main">
              <a:ext uri="{FF2B5EF4-FFF2-40B4-BE49-F238E27FC236}">
                <a16:creationId xmlns:a16="http://schemas.microsoft.com/office/drawing/2014/main" id="{1D4837CC-7BA6-431E-8F26-A3B9C71D5535}"/>
              </a:ext>
            </a:extLst>
          </p:cNvPr>
          <p:cNvSpPr>
            <a:spLocks xmlns:a="http://schemas.openxmlformats.org/drawingml/2006/main" noGrp="1"/>
          </p:cNvSpPr>
          <p:nvPr/>
        </p:nvSpPr>
        <p:spPr>
          <a:xfrm xmlns:a="http://schemas.openxmlformats.org/drawingml/2006/main">
            <a:off x="685800" y="24955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รัน regression ใหม่บน release commit และ public HTTPS</a:t>
            </a:r>
          </a:p>
        </p:txBody>
      </p:sp>
      <p:sp>
        <p:nvSpPr>
          <p:cNvPr id="4" name="">
            <a:extLst xmlns:a="http://schemas.openxmlformats.org/drawingml/2006/main">
              <a:ext uri="{FF2B5EF4-FFF2-40B4-BE49-F238E27FC236}">
                <a16:creationId xmlns:a16="http://schemas.microsoft.com/office/drawing/2014/main" id="{BEC33A22-01D7-41BD-8189-6E78D11204A4}"/>
              </a:ext>
            </a:extLst>
          </p:cNvPr>
          <p:cNvSpPr>
            <a:spLocks xmlns:a="http://schemas.openxmlformats.org/drawingml/2006/main" noGrp="1"/>
          </p:cNvSpPr>
          <p:nvPr/>
        </p:nvSpPr>
        <p:spPr>
          <a:xfrm xmlns:a="http://schemas.openxmlformats.org/drawingml/2006/main">
            <a:off x="685800" y="32766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ภาพ Customer 360px · Staff/Kitchen 768px · Manager 1280px</a:t>
            </a:r>
          </a:p>
        </p:txBody>
      </p:sp>
      <p:sp>
        <p:nvSpPr>
          <p:cNvPr id="5" name="">
            <a:extLst xmlns:a="http://schemas.openxmlformats.org/drawingml/2006/main">
              <a:ext uri="{FF2B5EF4-FFF2-40B4-BE49-F238E27FC236}">
                <a16:creationId xmlns:a16="http://schemas.microsoft.com/office/drawing/2014/main" id="{4A4FC332-4A4B-45D6-BDC7-C454FA42A98C}"/>
              </a:ext>
            </a:extLst>
          </p:cNvPr>
          <p:cNvSpPr>
            <a:spLocks xmlns:a="http://schemas.openxmlformats.org/drawingml/2006/main" noGrp="1"/>
          </p:cNvSpPr>
          <p:nvPr/>
        </p:nvSpPr>
        <p:spPr>
          <a:xfrm xmlns:a="http://schemas.openxmlformats.org/drawingml/2006/main">
            <a:off x="685800" y="40576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Reviewer ยืนยัน; main และ deployed commit ตรงกับหลักฐาน</a:t>
            </a:r>
          </a:p>
        </p:txBody>
      </p:sp>
      <p:sp>
        <p:nvSpPr>
          <p:cNvPr id="6" name="">
            <a:extLst xmlns:a="http://schemas.openxmlformats.org/drawingml/2006/main">
              <a:ext uri="{FF2B5EF4-FFF2-40B4-BE49-F238E27FC236}">
                <a16:creationId xmlns:a16="http://schemas.microsoft.com/office/drawing/2014/main" id="{385A0359-FEF6-47A9-88C3-F33CC2C5B67F}"/>
              </a:ext>
            </a:extLst>
          </p:cNvPr>
          <p:cNvSpPr>
            <a:spLocks xmlns:a="http://schemas.openxmlformats.org/drawingml/2006/main" noGrp="1"/>
          </p:cNvSpPr>
          <p:nvPr/>
        </p:nvSpPr>
        <p:spPr>
          <a:xfrm xmlns:a="http://schemas.openxmlformats.org/drawingml/2006/main">
            <a:off x="685800" y="48387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F2937"/>
                </a:solidFill>
                <a:latin typeface="Tahoma"/>
                <a:ea typeface="Tahoma"/>
                <a:cs typeface="Tahoma"/>
              </a:defRPr>
            </a:pPr>
            <a:r>
              <a:rPr sz="2250" b="0">
                <a:solidFill>
                  <a:srgbClr val="1F2937"/>
                </a:solidFill>
                <a:latin typeface="Tahoma"/>
                <a:ea typeface="Tahoma"/>
                <a:cs typeface="Tahoma"/>
              </a:rPr>
              <a:t>รวมสไลด์กับทีมและซ้อมด้วยบัญชีจริง / QR จริง</a:t>
            </a:r>
          </a:p>
        </p:txBody>
      </p:sp>
      <p:sp>
        <p:nvSpPr>
          <p:cNvPr id="7" name="">
            <a:extLst xmlns:a="http://schemas.openxmlformats.org/drawingml/2006/main">
              <a:ext uri="{FF2B5EF4-FFF2-40B4-BE49-F238E27FC236}">
                <a16:creationId xmlns:a16="http://schemas.microsoft.com/office/drawing/2014/main" id="{B6AB6B80-9DA7-440C-8BF1-2F5900D9518D}"/>
              </a:ext>
            </a:extLst>
          </p:cNvPr>
          <p:cNvSpPr>
            <a:spLocks xmlns:a="http://schemas.openxmlformats.org/drawingml/2006/main" noGrp="1"/>
          </p:cNvSpPr>
          <p:nvPr/>
        </p:nvSpPr>
        <p:spPr>
          <a:xfrm xmlns:a="http://schemas.openxmlformats.org/drawingml/2006/main">
            <a:off x="685800" y="6305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4B5563"/>
                </a:solidFill>
                <a:latin typeface="Tahoma"/>
                <a:ea typeface="Tahoma"/>
                <a:cs typeface="Tahoma"/>
              </a:defRPr>
            </a:pPr>
            <a:r>
              <a:rPr sz="1500" b="0">
                <a:solidFill>
                  <a:srgbClr val="4B5563"/>
                </a:solidFill>
                <a:latin typeface="Tahoma"/>
                <a:ea typeface="Tahoma"/>
                <a:cs typeface="Tahoma"/>
              </a:rPr>
              <a:t>ศิระพัทธ์ · Step 3 · Local contribution  |  6 / 6</a:t>
            </a:r>
          </a:p>
        </p:txBody>
      </p:sp>
    </p:spTree>
    <p:extLst>
      <p:ext uri="{BB962C8B-B14F-4D97-AF65-F5344CB8AC3E}">
        <p14:creationId xmlns:p14="http://schemas.microsoft.com/office/powerpoint/2010/main" val="1620792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2026-10-06T15:11:10.7210000Z</dcterms:created>
  <dcterms:modified xsi:type="dcterms:W3CDTF">2026-10-06T15:11:10.7210000Z</dcterms:modified>
</coreProperties>
</file>