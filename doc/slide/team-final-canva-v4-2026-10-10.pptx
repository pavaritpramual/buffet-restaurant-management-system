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Sarabun Bold" charset="1" panose="00000800000000000000"/>
      <p:regular r:id="rId33"/>
    </p:embeddedFont>
    <p:embeddedFont>
      <p:font typeface="Sarabun Semi-Bold" charset="1" panose="00000700000000000000"/>
      <p:regular r:id="rId34"/>
    </p:embeddedFont>
    <p:embeddedFont>
      <p:font typeface="Sarabun" charset="1" panose="00000500000000000000"/>
      <p:regular r:id="rId35"/>
    </p:embeddedFont>
    <p:embeddedFont>
      <p:font typeface="DejaVu Sans Bold" charset="1" panose="020B0803030604020204"/>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notesMasters/notesMaster1.xml" Type="http://schemas.openxmlformats.org/officeDocument/2006/relationships/notesMaster"/><Relationship Id="rId31" Target="theme/theme2.xml" Type="http://schemas.openxmlformats.org/officeDocument/2006/relationships/theme"/><Relationship Id="rId32" Target="notesSlides/notesSlide1.xml" Type="http://schemas.openxmlformats.org/officeDocument/2006/relationships/note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notesSlides/notesSlide2.xml" Type="http://schemas.openxmlformats.org/officeDocument/2006/relationships/notesSlide"/><Relationship Id="rId37" Target="notesSlides/notesSlide3.xml" Type="http://schemas.openxmlformats.org/officeDocument/2006/relationships/notesSlide"/><Relationship Id="rId38" Target="notesSlides/notesSlide4.xml" Type="http://schemas.openxmlformats.org/officeDocument/2006/relationships/notesSlide"/><Relationship Id="rId39" Target="notesSlides/notesSlide5.xml" Type="http://schemas.openxmlformats.org/officeDocument/2006/relationships/notesSlide"/><Relationship Id="rId4" Target="theme/theme1.xml" Type="http://schemas.openxmlformats.org/officeDocument/2006/relationships/theme"/><Relationship Id="rId40" Target="notesSlides/notesSlide6.xml" Type="http://schemas.openxmlformats.org/officeDocument/2006/relationships/notesSlide"/><Relationship Id="rId41" Target="notesSlides/notesSlide7.xml" Type="http://schemas.openxmlformats.org/officeDocument/2006/relationships/notesSlide"/><Relationship Id="rId42" Target="notesSlides/notesSlide8.xml" Type="http://schemas.openxmlformats.org/officeDocument/2006/relationships/notesSlide"/><Relationship Id="rId43" Target="notesSlides/notesSlide9.xml" Type="http://schemas.openxmlformats.org/officeDocument/2006/relationships/notesSlide"/><Relationship Id="rId44" Target="notesSlides/notesSlide10.xml" Type="http://schemas.openxmlformats.org/officeDocument/2006/relationships/notesSlide"/><Relationship Id="rId45" Target="fonts/font45.fntdata" Type="http://schemas.openxmlformats.org/officeDocument/2006/relationships/font"/><Relationship Id="rId46" Target="notesSlides/notesSlide11.xml" Type="http://schemas.openxmlformats.org/officeDocument/2006/relationships/notesSlide"/><Relationship Id="rId47" Target="notesSlides/notesSlide12.xml" Type="http://schemas.openxmlformats.org/officeDocument/2006/relationships/notesSlide"/><Relationship Id="rId48" Target="notesSlides/notesSlide13.xml" Type="http://schemas.openxmlformats.org/officeDocument/2006/relationships/notesSlide"/><Relationship Id="rId49" Target="notesSlides/notesSlide14.xml" Type="http://schemas.openxmlformats.org/officeDocument/2006/relationships/notesSlide"/><Relationship Id="rId5" Target="tableStyles.xml" Type="http://schemas.openxmlformats.org/officeDocument/2006/relationships/tableStyles"/><Relationship Id="rId50" Target="notesSlides/notesSlide15.xml" Type="http://schemas.openxmlformats.org/officeDocument/2006/relationships/notesSlide"/><Relationship Id="rId51" Target="notesSlides/notesSlide16.xml" Type="http://schemas.openxmlformats.org/officeDocument/2006/relationships/notesSlide"/><Relationship Id="rId52" Target="notesSlides/notesSlide17.xml" Type="http://schemas.openxmlformats.org/officeDocument/2006/relationships/notesSlide"/><Relationship Id="rId53" Target="notesSlides/notesSlide18.xml" Type="http://schemas.openxmlformats.org/officeDocument/2006/relationships/notesSlide"/><Relationship Id="rId54" Target="notesSlides/notesSlide19.xml" Type="http://schemas.openxmlformats.org/officeDocument/2006/relationships/notesSlide"/><Relationship Id="rId55" Target="notesSlides/notesSlide20.xml" Type="http://schemas.openxmlformats.org/officeDocument/2006/relationships/notesSlide"/><Relationship Id="rId56" Target="notesSlides/notesSlide21.xml" Type="http://schemas.openxmlformats.org/officeDocument/2006/relationships/notesSlide"/><Relationship Id="rId57" Target="notesSlides/notesSlide22.xml" Type="http://schemas.openxmlformats.org/officeDocument/2006/relationships/notesSlide"/><Relationship Id="rId58" Target="notesSlides/notesSlide23.xml" Type="http://schemas.openxmlformats.org/officeDocument/2006/relationships/notesSlide"/><Relationship Id="rId59" Target="notesSlides/notesSlide24.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pavarit_673380278-9_01</a:t>
            </a:r>
          </a:p>
          <a:p>
            <a:r>
              <a:rPr lang="en-US"/>
              <a:t>เวลา 20 วินาที</a:t>
            </a:r>
          </a:p>
          <a:p>
            <a:r>
              <a:rPr lang="en-US"/>
              <a:t/>
            </a:r>
          </a:p>
          <a:p>
            <a:r>
              <a:rPr lang="en-US"/>
              <a:t>คำอธิบายบนสไลด์</a:t>
            </a:r>
          </a:p>
          <a:p>
            <a:r>
              <a:rPr lang="en-US"/>
              <a:t>เชื่อมการเปิดโต๊ะและการสั่งอาหารเข้ากับรอบเดียวกัน</a:t>
            </a:r>
          </a:p>
          <a:p>
            <a:r>
              <a:rPr lang="en-US"/>
              <a:t>ติดตามงานครัว การใช้วัตถุดิบ และการชำระเงินจนปิดรอบ</a:t>
            </a:r>
          </a:p>
          <a:p>
            <a:r>
              <a:rPr lang="en-US"/>
              <a:t/>
            </a:r>
          </a:p>
          <a:p>
            <a:r>
              <a:rPr lang="en-US"/>
              <a:t>บทพูด</a:t>
            </a:r>
          </a:p>
          <a:p>
            <a:r>
              <a:rPr lang="en-US"/>
              <a:t>โปรเจกต์ของเราเชื่อมงานหน้าร้าน ครัว สต๊อก และการชำระเงินเข้ากับรอบโต๊ะเดียวกันค่ะ ร่างนี้อ้างโค้ด develop 855a954 หลังรวม PR49 และ PR52 เราจะใช้ภาพอธิบายว่าระบบแบ่งหน้าที่อย่างไร รักษาประวัติอย่างไร และหักวัตถุดิบเมื่อครัวเริ่มทำ จากนั้นสาธิต flow ตั้งแต่เปิดโต๊ะจนปิดรอบ</a:t>
            </a:r>
          </a:p>
          <a:p>
            <a:r>
              <a:rPr lang="en-US"/>
              <a:t/>
            </a:r>
          </a:p>
          <a:p>
            <a:r>
              <a:rPr lang="en-US"/>
              <a:t>แหล่งอ้างอิง</a:t>
            </a:r>
          </a:p>
          <a:p>
            <a:r>
              <a:rPr lang="en-US"/>
              <a:t>https://github.com/PavaritPramual/buffet-restaurant-management-system/blob/855a954a29eb0354c07851fb8da1e44f7adc2f9a/README.md</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pavarit_673380278-9_01</a:t>
            </a:r>
          </a:p>
          <a:p>
            <a:r>
              <a:rPr lang="en-US"/>
              <a:t>เวลา 35 วินาที</a:t>
            </a:r>
          </a:p>
          <a:p>
            <a:r>
              <a:rPr lang="en-US"/>
              <a:t/>
            </a:r>
          </a:p>
          <a:p>
            <a:r>
              <a:rPr lang="en-US"/>
              <a:t>คำอธิบายบนสไลด์</a:t>
            </a:r>
          </a:p>
          <a:p>
            <a:r>
              <a:rPr lang="en-US"/>
              <a:t>ลูกค้าสั่งอาหาร ครัวเริ่มทำ และพนักงานดูแลการชำระเงิน</a:t>
            </a:r>
          </a:p>
          <a:p>
            <a:r>
              <a:rPr lang="en-US"/>
              <a:t>แต่ละบทบาทใช้ข้อมูลรอบโต๊ะเดียวกัน โดย backend ตรวจสิทธิ์ทุกคำขอ</a:t>
            </a:r>
          </a:p>
          <a:p>
            <a:r>
              <a:rPr lang="en-US"/>
              <a:t/>
            </a:r>
          </a:p>
          <a:p>
            <a:r>
              <a:rPr lang="en-US"/>
              <a:t>บทพูด</a:t>
            </a:r>
          </a:p>
          <a:p>
            <a:r>
              <a:rPr lang="en-US"/>
              <a:t>ลูกค้าใช้ QR เพื่อสั่งอาหารและขอคิดบิล ส่วน SERVICE_STAFF เปิดโต๊ะ เสิร์ฟ รับชำระ และปิดรอบค่ะ KITCHEN_STAFF รับผิดชอบการเริ่มเตรียมและทำให้พร้อมเสิร์ฟ Manager ดูแลข้อมูลร้าน เมนูและผู้ใช้ ส่วน Supervisor รับเข้าและปรับสต๊อก เส้นทางเหล่านี้แชร์ข้อมูลรอบเดียวกัน แต่ทุกคำขอของ backend ยังตรวจสิทธิ์ตามบทบาท ไม่ใช้ชื่อ role ที่หน้าเว็บส่งมาเป็นอำนาจ</a:t>
            </a:r>
          </a:p>
          <a:p>
            <a:r>
              <a:rPr lang="en-US"/>
              <a:t/>
            </a:r>
          </a:p>
          <a:p>
            <a:r>
              <a:rPr lang="en-US"/>
              <a:t>แหล่งอ้างอิง</a:t>
            </a:r>
          </a:p>
          <a:p>
            <a:r>
              <a:rPr lang="en-US"/>
              <a:t>https://github.com/PavaritPramual/buffet-restaurant-management-system/blob/855a954a29eb0354c07851fb8da1e44f7adc2f9a/doc/diagrams/presentation-use-case.puml</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pavarit_673380278-9_01</a:t>
            </a:r>
          </a:p>
          <a:p>
            <a:r>
              <a:rPr lang="en-US"/>
              <a:t>เวลา 35 วินาที</a:t>
            </a:r>
          </a:p>
          <a:p>
            <a:r>
              <a:rPr lang="en-US"/>
              <a:t/>
            </a:r>
          </a:p>
          <a:p>
            <a:r>
              <a:rPr lang="en-US"/>
              <a:t>คำอธิบายบนสไลด์</a:t>
            </a:r>
          </a:p>
          <a:p>
            <a:r>
              <a:rPr lang="en-US"/>
              <a:t>Controller รับคำขอ ส่วน Service คุมกฎธุรกิจ</a:t>
            </a:r>
          </a:p>
          <a:p>
            <a:r>
              <a:rPr lang="en-US"/>
              <a:t>Repository ดูแลการอ่านเขียนข้อมูล ทำให้ทดสอบแต่ละชั้นแยกกันได้</a:t>
            </a:r>
          </a:p>
          <a:p>
            <a:r>
              <a:rPr lang="en-US"/>
              <a:t/>
            </a:r>
          </a:p>
          <a:p>
            <a:r>
              <a:rPr lang="en-US"/>
              <a:t>บทพูด</a:t>
            </a:r>
          </a:p>
          <a:p>
            <a:r>
              <a:rPr lang="en-US"/>
              <a:t>ภาพนี้แสดง layered architecture ค่ะ React เป็น View ส่วน Controller ดู HTTP, validation และ DTO จากนั้น Service ประสาน use case และขอบเขต transaction แล้ว Repository จึงเข้าถึง PostgreSQL การอ่านข้ามโมดูลผ่าน interface ที่จำเป็น เช่น SessionContextProvider หรือ DiningSessionBillingReader และฉีด dependency ผ่าน constructor ทำให้แยกความรับผิดชอบและทดสอบ implementation ทดแทนได้ เป็นตัวอย่าง SRP, ISP และ DIP</a:t>
            </a:r>
          </a:p>
          <a:p>
            <a:r>
              <a:rPr lang="en-US"/>
              <a:t/>
            </a:r>
          </a:p>
          <a:p>
            <a:r>
              <a:rPr lang="en-US"/>
              <a:t>แหล่งอ้างอิง</a:t>
            </a:r>
          </a:p>
          <a:p>
            <a:r>
              <a:rPr lang="en-US"/>
              <a:t>https://github.com/PavaritPramual/buffet-restaurant-management-system/blob/855a954a29eb0354c07851fb8da1e44f7adc2f9a/doc/diagrams/presentation-component.puml</a:t>
            </a:r>
          </a:p>
          <a:p>
            <a:r>
              <a:rPr lang="en-US"/>
              <a:t>https://github.com/PavaritPramual/buffet-restaurant-management-system/blob/855a954a29eb0354c07851fb8da1e44f7adc2f9a/code/backend/src/main/java/com/buffetrestaurant/service/SessionContextProvider.java</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methus_673380300-2_01</a:t>
            </a:r>
          </a:p>
          <a:p>
            <a:r>
              <a:rPr lang="en-US"/>
              <a:t>เวลา 35 วินาที</a:t>
            </a:r>
          </a:p>
          <a:p>
            <a:r>
              <a:rPr lang="en-US"/>
              <a:t/>
            </a:r>
          </a:p>
          <a:p>
            <a:r>
              <a:rPr lang="en-US"/>
              <a:t>คำอธิบายบนสไลด์</a:t>
            </a:r>
          </a:p>
          <a:p>
            <a:r>
              <a:rPr lang="en-US"/>
              <a:t>ระบบเก็บสูตรตอนสั่งไว้กับออเดอร์</a:t>
            </a:r>
          </a:p>
          <a:p>
            <a:r>
              <a:rPr lang="en-US"/>
              <a:t>เมื่อแก้สูตร ออเดอร์เก่าจึงยังหักวัตถุดิบตามสูตรเดิม</a:t>
            </a:r>
          </a:p>
          <a:p>
            <a:r>
              <a:rPr lang="en-US"/>
              <a:t/>
            </a:r>
          </a:p>
          <a:p>
            <a:r>
              <a:rPr lang="en-US"/>
              <a:t>บทพูด</a:t>
            </a:r>
          </a:p>
          <a:p>
            <a:r>
              <a:rPr lang="en-US"/>
              <a:t>เมื่อรับออเดอร์ ระบบคัดลอกสูตรวัตถุดิบลง OrderItem ค่ะ จึงไม่อ่านสูตรล่าสุดไปเปลี่ยนรายการเก่า ใน UAT บน af2b45b ออเดอร์7ถูกสร้างตอนสูตรใช้ A 0.100 กิโลกรัมต่อเสิร์ฟ ต่อมาแก้สูตรเป็น 0.250 แล้วจึงเริ่มครัว ออเดอร์7สองเสิร์ฟยังหัก 0.200 ส่วนออเดอร์11ที่สั่งภายหลังหัก 0.500 หลักเดียวกันนี้ใช้กับ packagePriceAtOpen ซึ่งตรึงราคาตอนเปิดรอบ การคง ID และ snapshot ช่วยให้ประวัติยังอธิบายได้เมื่อข้อมูลต้นทางเปลี่ยน</a:t>
            </a:r>
          </a:p>
          <a:p>
            <a:r>
              <a:rPr lang="en-US"/>
              <a:t/>
            </a:r>
          </a:p>
          <a:p>
            <a:r>
              <a:rPr lang="en-US"/>
              <a:t>แหล่งอ้างอิง</a:t>
            </a:r>
          </a:p>
          <a:p>
            <a:r>
              <a:rPr lang="en-US"/>
              <a:t>https://github.com/PavaritPramual/buffet-restaurant-management-system/blob/855a954a29eb0354c07851fb8da1e44f7adc2f9a/code/backend/src/main/java/com/buffetrestaurant/domain/OrderItem.java</a:t>
            </a:r>
          </a:p>
          <a:p>
            <a:r>
              <a:rPr lang="en-US"/>
              <a:t>https://github.com/PavaritPramual/buffet-restaurant-management-system/blob/855a954a29eb0354c07851fb8da1e44f7adc2f9a/code/backend/src/main/java/com/buffetrestaurant/domain/MenuStockUsage.java</a:t>
            </a:r>
          </a:p>
          <a:p>
            <a:r>
              <a:rPr lang="en-US"/>
              <a:t>https://github.com/PavaritPramual/buffet-restaurant-management-system/blob/855a954a29eb0354c07851fb8da1e44f7adc2f9a/test/evidence/uat-buffet-2026-10-10/report.md</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methus_673380300-2_01</a:t>
            </a:r>
          </a:p>
          <a:p>
            <a:r>
              <a:rPr lang="en-US"/>
              <a:t>เวลา 25 วินาที</a:t>
            </a:r>
          </a:p>
          <a:p>
            <a:r>
              <a:rPr lang="en-US"/>
              <a:t/>
            </a:r>
          </a:p>
          <a:p>
            <a:r>
              <a:rPr lang="en-US"/>
              <a:t>คำอธิบายบนสไลด์</a:t>
            </a:r>
          </a:p>
          <a:p>
            <a:r>
              <a:rPr lang="en-US"/>
              <a:t>Template กำหนดขั้นตอนตรวจและบันทึกไว้ร่วมกัน</a:t>
            </a:r>
          </a:p>
          <a:p>
            <a:r>
              <a:rPr lang="en-US"/>
              <a:t>แต่ละ Processor เปลี่ยนวิธีคำนวณยอดและประเภทประวัติผ่าน Hook</a:t>
            </a:r>
          </a:p>
          <a:p>
            <a:r>
              <a:rPr lang="en-US"/>
              <a:t/>
            </a:r>
          </a:p>
          <a:p>
            <a:r>
              <a:rPr lang="en-US"/>
              <a:t>บทพูด</a:t>
            </a:r>
          </a:p>
          <a:p>
            <a:r>
              <a:rPr lang="en-US"/>
              <a:t>StockTransactionTemplate กำหนดขั้นร่วมเป็น final ค่ะ เริ่มจากตรวจ actor และวัตถุดิบ คำนวณ delta ตรวจยอดถัดไป แล้วบันทึกยอดพร้อมประวัติ Subclass เปลี่ยนเฉพาะ calculateDelta และ transactionType ปัจจุบันมีทั้ง IN, ADJUSTMENT และ CONSUMPTION โดย Consumption เพิ่ม orderId ผ่าน processWithOrder การประสานทั้งออเดอร์ยังอยู่ใน Service และ transaction ชั้นนอก ไม่ใช่ว่า Template เพียงอย่างเดียวรับรอง atomicity ทั้งระบบ</a:t>
            </a:r>
          </a:p>
          <a:p>
            <a:r>
              <a:rPr lang="en-US"/>
              <a:t/>
            </a:r>
          </a:p>
          <a:p>
            <a:r>
              <a:rPr lang="en-US"/>
              <a:t>แหล่งอ้างอิง</a:t>
            </a:r>
          </a:p>
          <a:p>
            <a:r>
              <a:rPr lang="en-US"/>
              <a:t>https://github.com/PavaritPramual/buffet-restaurant-management-system/blob/855a954a29eb0354c07851fb8da1e44f7adc2f9a/code/backend/src/main/java/com/buffetrestaurant/service/StockTransactionTemplate.java</a:t>
            </a:r>
          </a:p>
          <a:p>
            <a:r>
              <a:rPr lang="en-US"/>
              <a:t>https://github.com/PavaritPramual/buffet-restaurant-management-system/blob/855a954a29eb0354c07851fb8da1e44f7adc2f9a/code/backend/src/main/java/com/buffetrestaurant/service/StockConsumptionProcessor.java</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sarun_673380515-1_02</a:t>
            </a:r>
          </a:p>
          <a:p>
            <a:r>
              <a:rPr lang="en-US"/>
              <a:t>เวลา 45 วินาที</a:t>
            </a:r>
          </a:p>
          <a:p>
            <a:r>
              <a:rPr lang="en-US"/>
              <a:t/>
            </a:r>
          </a:p>
          <a:p>
            <a:r>
              <a:rPr lang="en-US"/>
              <a:t>คำอธิบายบนสไลด์</a:t>
            </a:r>
          </a:p>
          <a:p>
            <a:r>
              <a:rPr lang="en-US"/>
              <a:t>ระบบหักวัตถุดิบตามสูตรเมื่อเปลี่ยนเป็น PREPARING</a:t>
            </a:r>
          </a:p>
          <a:p>
            <a:r>
              <a:rPr lang="en-US"/>
              <a:t>ถ้าสต๊อกไม่พอ จะปฏิเสธทั้งคำขอและคงยอดเดิม</a:t>
            </a:r>
          </a:p>
          <a:p>
            <a:r>
              <a:rPr lang="en-US"/>
              <a:t/>
            </a:r>
          </a:p>
          <a:p>
            <a:r>
              <a:rPr lang="en-US"/>
              <a:t>บทพูด</a:t>
            </a:r>
          </a:p>
          <a:p>
            <a:r>
              <a:rPr lang="en-US"/>
              <a:t>State กำหนดว่าออเดอร์ต้องเดิน RECEIVED ไป PREPARING ไป READY และ SERVED ค่ะ ครัวทำสอง transition แรก และพนักงานเสิร์ฟทำ READY ไป SERVED ก่อนเปลี่ยนเป็น PREPARING Service ล็อกออเดอร์แล้วเรียก consume เพื่อรวมยอดจากสูตร snapshot ตรวจวัตถุดิบทุกตัว และบันทึกการหักกับสถานะใน transaction เดียวกัน ตัวอย่าง UAT หัก A จาก3เป็น2.8เมื่อเริ่ม order7 การส่ง PREPARING ซ้ำถูกปฏิเสธก่อนหัก ถ้ามีวัตถุดิบไม่พอ เช่น B ต้อง0.2แต่มี0.05 จะตอบ409 ออเดอร์ยัง RECEIVED และไม่หักบางส่วน ข้อสรุป UAT มาจากยอด ประวัติ และสถานะที่อ่านได้ ไม่ใช่การ query transaction ภายในฐานกลาง</a:t>
            </a:r>
          </a:p>
          <a:p>
            <a:r>
              <a:rPr lang="en-US"/>
              <a:t/>
            </a:r>
          </a:p>
          <a:p>
            <a:r>
              <a:rPr lang="en-US"/>
              <a:t>แหล่งอ้างอิง</a:t>
            </a:r>
          </a:p>
          <a:p>
            <a:r>
              <a:rPr lang="en-US"/>
              <a:t>https://github.com/PavaritPramual/buffet-restaurant-management-system/blob/855a954a29eb0354c07851fb8da1e44f7adc2f9a/code/backend/src/main/java/com/buffetrestaurant/service/impl/OrderFulfillmentServiceImpl.java</a:t>
            </a:r>
          </a:p>
          <a:p>
            <a:r>
              <a:rPr lang="en-US"/>
              <a:t>https://github.com/PavaritPramual/buffet-restaurant-management-system/blob/855a954a29eb0354c07851fb8da1e44f7adc2f9a/code/backend/src/main/java/com/buffetrestaurant/service/impl/OrderStockConsumptionServiceImpl.java</a:t>
            </a:r>
          </a:p>
          <a:p>
            <a:r>
              <a:rPr lang="en-US"/>
              <a:t>https://github.com/PavaritPramual/buffet-restaurant-management-system/blob/855a954a29eb0354c07851fb8da1e44f7adc2f9a/test/evidence/uat-buffet-2026-10-10/report.md</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teeramet_673380273-9_02</a:t>
            </a:r>
          </a:p>
          <a:p>
            <a:r>
              <a:rPr lang="en-US"/>
              <a:t>เวลา 45 วินาที</a:t>
            </a:r>
          </a:p>
          <a:p>
            <a:r>
              <a:rPr lang="en-US"/>
              <a:t/>
            </a:r>
          </a:p>
          <a:p>
            <a:r>
              <a:rPr lang="en-US"/>
              <a:t>คำอธิบายบนสไลด์</a:t>
            </a:r>
          </a:p>
          <a:p>
            <a:r>
              <a:rPr lang="en-US"/>
              <a:t>BillingEngine เรียกการคิดราคาและส่วนลดผ่าน Interface</a:t>
            </a:r>
          </a:p>
          <a:p>
            <a:r>
              <a:rPr lang="en-US"/>
              <a:t>จึงเปลี่ยนวิธีคำนวณได้ โดยยังตรวจสัญญาและปัดเศษที่ส่วนกลาง</a:t>
            </a:r>
          </a:p>
          <a:p>
            <a:r>
              <a:rPr lang="en-US"/>
              <a:t/>
            </a:r>
          </a:p>
          <a:p>
            <a:r>
              <a:rPr lang="en-US"/>
              <a:t>บทพูด</a:t>
            </a:r>
          </a:p>
          <a:p>
            <a:r>
              <a:rPr lang="en-US"/>
              <a:t>BillingEngine ประกอบ BillCalculationStrategy สำหรับราคา และ DiscountCalculationStrategy สำหรับส่วนลดค่ะ Engine เรียกผ่าน interface ตรวจว่ายอดและส่วนลดอยู่ในสัญญา แล้วคำนวณยอดสุทธิด้วย BigDecimal ก่อนปัด HALF_UP สองตำแหน่ง ข้อมูลราคามาจาก snapshot ที่ backend เชื่อถือได้ ภาพนี้เป็นหลักการออกแบบ ไม่ใช่ยอด UAT ชุดใหม่ และการคำนวณบิลต่างจากการรับชำระ เมื่อ paymentเป็นPAIDแล้ว พนักงานยังต้องปิดรอบอีกคำสั่งหนึ่งเพื่อคืนโต๊ะและยกเลิกสิทธิ์ลูกค้า</a:t>
            </a:r>
          </a:p>
          <a:p>
            <a:r>
              <a:rPr lang="en-US"/>
              <a:t/>
            </a:r>
          </a:p>
          <a:p>
            <a:r>
              <a:rPr lang="en-US"/>
              <a:t>แหล่งอ้างอิง</a:t>
            </a:r>
          </a:p>
          <a:p>
            <a:r>
              <a:rPr lang="en-US"/>
              <a:t>https://github.com/PavaritPramual/buffet-restaurant-management-system/blob/855a954a29eb0354c07851fb8da1e44f7adc2f9a/code/backend/src/main/java/com/buffetrestaurant/service/billing/BillingEngine.java</a:t>
            </a:r>
          </a:p>
          <a:p>
            <a:r>
              <a:rPr lang="en-US"/>
              <a:t>https://github.com/PavaritPramual/buffet-restaurant-management-system/blob/855a954a29eb0354c07851fb8da1e44f7adc2f9a/code/backend/src/main/java/com/buffetrestaurant/service/billing/BillCalculationStrategy.java</a:t>
            </a:r>
          </a:p>
          <a:p>
            <a:r>
              <a:rPr lang="en-US"/>
              <a:t>https://github.com/PavaritPramual/buffet-restaurant-management-system/blob/855a954a29eb0354c07851fb8da1e44f7adc2f9a/code/backend/src/main/java/com/buffetrestaurant/service/billing/DiscountCalculationStrategy.java</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sirapat_673380293-3_01</a:t>
            </a:r>
          </a:p>
          <a:p>
            <a:r>
              <a:rPr lang="en-US"/>
              <a:t>เวลา 30 วินาที</a:t>
            </a:r>
          </a:p>
          <a:p>
            <a:r>
              <a:rPr lang="en-US"/>
              <a:t/>
            </a:r>
          </a:p>
          <a:p>
            <a:r>
              <a:rPr lang="en-US"/>
              <a:t>คำอธิบายบนสไลด์</a:t>
            </a:r>
          </a:p>
          <a:p>
            <a:r>
              <a:rPr lang="en-US"/>
              <a:t>PR52 ประกาศ 201 พร้อม DTO และ Location ให้ตรงกับ API จริง</a:t>
            </a:r>
          </a:p>
          <a:p>
            <a:r>
              <a:rPr lang="en-US"/>
              <a:t>และแก้ตัวอย่าง ErrorResponse ที่เคยแสดงข้อมูลข้าม Operation</a:t>
            </a:r>
          </a:p>
          <a:p>
            <a:r>
              <a:rPr lang="en-US"/>
              <a:t/>
            </a:r>
          </a:p>
          <a:p>
            <a:r>
              <a:rPr lang="en-US"/>
              <a:t>บทพูด</a:t>
            </a:r>
          </a:p>
          <a:p>
            <a:r>
              <a:rPr lang="en-US"/>
              <a:t>UAT พบว่า API สร้างเมนูและออเดอร์ตอบ201จริง แต่ Swagger เดิมแสดง200ค่ะ PR52จึงประกาศ201พร้อม response DTO และ Location อีกข้อคือเอาตัวอย่าง Billing400ออกจาก shared ErrorResponse โดยคงfieldsเดิม ทำให้ไม่แสดง pathของอีกoperationใต้401หรือ409 Tests ตรวจทั้ง /v3/api-docs และ Location ของ response จริง การแก้ผ่าน localและCI25c7a40แล้ว แต่หลักฐานในPRยังไม่ได้ retest การแก้ Swagger บน public release จึงต้องแยกจาก UAT เดิม</a:t>
            </a:r>
          </a:p>
          <a:p>
            <a:r>
              <a:rPr lang="en-US"/>
              <a:t/>
            </a:r>
          </a:p>
          <a:p>
            <a:r>
              <a:rPr lang="en-US"/>
              <a:t>แหล่งอ้างอิง</a:t>
            </a:r>
          </a:p>
          <a:p>
            <a:r>
              <a:rPr lang="en-US"/>
              <a:t>https://github.com/PavaritPramual/buffet-restaurant-management-system/blob/855a954a29eb0354c07851fb8da1e44f7adc2f9a/code/backend/src/main/java/com/buffetrestaurant/controller/MenuItemController.java</a:t>
            </a:r>
          </a:p>
          <a:p>
            <a:r>
              <a:rPr lang="en-US"/>
              <a:t>https://github.com/PavaritPramual/buffet-restaurant-management-system/blob/855a954a29eb0354c07851fb8da1e44f7adc2f9a/code/backend/src/main/java/com/buffetrestaurant/controller/CustomerOrderingController.java</a:t>
            </a:r>
          </a:p>
          <a:p>
            <a:r>
              <a:rPr lang="en-US"/>
              <a:t>https://github.com/PavaritPramual/buffet-restaurant-management-system/blob/855a954a29eb0354c07851fb8da1e44f7adc2f9a/code/backend/src/main/java/com/buffetrestaurant/dto/response/ErrorResponse.java</a:t>
            </a:r>
          </a:p>
          <a:p>
            <a:r>
              <a:rPr lang="en-US"/>
              <a:t>https://github.com/PavaritPramual/buffet-restaurant-management-system/blob/855a954a29eb0354c07851fb8da1e44f7adc2f9a/test/evidence/pr52-swagger-fix-2026-10-10/report.md</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sirapat_673380293-3_01</a:t>
            </a:r>
          </a:p>
          <a:p>
            <a:r>
              <a:rPr lang="en-US"/>
              <a:t>เวลา 210 วินาที</a:t>
            </a:r>
          </a:p>
          <a:p>
            <a:r>
              <a:rPr lang="en-US"/>
              <a:t/>
            </a:r>
          </a:p>
          <a:p>
            <a:r>
              <a:rPr lang="en-US"/>
              <a:t>คำอธิบายบนสไลด์</a:t>
            </a:r>
          </a:p>
          <a:p>
            <a:r>
              <a:rPr lang="en-US"/>
              <a:t>สาธิตหนึ่งรอบโต๊ะ ตั้งแต่เปิด QR จนชำระเงินและปิดรอบ</a:t>
            </a:r>
          </a:p>
          <a:p>
            <a:r>
              <a:rPr lang="en-US"/>
              <a:t>ระหว่างทางแสดงว่าสต๊อกลดลงตอนครัวเริ่มทำอาหาร</a:t>
            </a:r>
          </a:p>
          <a:p>
            <a:r>
              <a:rPr lang="en-US"/>
              <a:t/>
            </a:r>
          </a:p>
          <a:p>
            <a:r>
              <a:rPr lang="en-US"/>
              <a:t>บทพูด</a:t>
            </a:r>
          </a:p>
          <a:p>
            <a:r>
              <a:rPr lang="en-US"/>
              <a:t>ก่อนเริ่ม เปิดแท็บ Staff, Customer, Kitchen และสต๊อกโดยแยก browser context เตรียมบัญชีและข้อมูลใหม่ที่เจ้าของอนุญาต อย่าใช้ session15ของUATเดิมเป็นข้อมูลสาธิตโดยไม่ตรวจสภาพ และอย่าเปิดเผย QR token หรือรหัสผ่านบนสไลด์</a:t>
            </a:r>
          </a:p>
          <a:p>
            <a:r>
              <a:rPr lang="en-US"/>
              <a:t/>
            </a:r>
          </a:p>
          <a:p>
            <a:r>
              <a:rPr lang="en-US"/>
              <a:t>0:00–0:55 พูด: เราเริ่มจากพนักงานเปิดโต๊ะ เลือกแพ็กเกจ ซุปและจำนวนคนค่ะ ระบบสร้างรอบ ACTIVE และ QR สำหรับลูกค้ารอบนี้ ให้ลูกค้าแลกสิทธิ์ใน context แยก แล้วชี้ว่าข้อมูลโต๊ะและแพ็กเกจตรงกัน</a:t>
            </a:r>
          </a:p>
          <a:p>
            <a:r>
              <a:rPr lang="en-US"/>
              <a:t/>
            </a:r>
          </a:p>
          <a:p>
            <a:r>
              <a:rPr lang="en-US"/>
              <a:t>0:55–2:15 พูด: เราสั่งเมนูที่เตรียมสูตรไว้หนึ่งรายการค่ะ ตอน RECEIVED สต๊อกยังคงเดิม จากนั้นครัวกดเริ่มเตรียมเป็น PREPARING จึงหักตามสูตรคูณจำนวนเสิร์ฟและมี CONSUMPTION ผูก orderId เปิดยอดหรือประวัติที่เตรียมไว้ให้เห็นความต่าง แล้วทำ READY และให้ Staff ยืนยัน SERVED การตรวจ shortage/duplicate ให้ใช้ภาพ UAT ภาคผนวกเพื่อรักษาเวลา ไม่บังคับสร้างความผิดพลาดบนฐานกลางบนเวที</a:t>
            </a:r>
          </a:p>
          <a:p>
            <a:r>
              <a:rPr lang="en-US"/>
              <a:t/>
            </a:r>
          </a:p>
          <a:p>
            <a:r>
              <a:rPr lang="en-US"/>
              <a:t>2:15–3:30 พูด: ลูกค้าขอคิดบิล จากนั้น Staff ตรวจยอด รับชำระ และกดปิดรอบค่ะ ชี้ว่า PAID เป็นสถานะการชำระ ส่วนการปิดรอบคืนโต๊ะ AVAILABLE และยกเลิกสิทธิ์ลูกค้า ถ้าคำขอชำระขาด response ให้ตรวจ GET payment ก่อน retry ไม่ POST ซ้ำทันที</a:t>
            </a:r>
          </a:p>
          <a:p>
            <a:r>
              <a:rPr lang="en-US"/>
              <a:t/>
            </a:r>
          </a:p>
          <a:p>
            <a:r>
              <a:rPr lang="en-US"/>
              <a:t>นี่เป็นแผนสาธิต ยังไม่ได้รันและจับเวลารอบใหม่ หาก public ไม่พร้อม ใช้วิดีโอสำรองจากรุ่นที่ระบุและบอกข้อจำกัดตามจริง Public URL ที่รายงานPR52ใช้คือ https://buffet-restaurant-management.onrender.com/ ต้องตรวจ deployed SHA/schema และ flowบนรุ่นสาธิตก่อนวันจริง</a:t>
            </a:r>
          </a:p>
          <a:p>
            <a:r>
              <a:rPr lang="en-US"/>
              <a:t/>
            </a:r>
          </a:p>
          <a:p>
            <a:r>
              <a:rPr lang="en-US"/>
              <a:t>แหล่งอ้างอิง</a:t>
            </a:r>
          </a:p>
          <a:p>
            <a:r>
              <a:rPr lang="en-US"/>
              <a:t>https://github.com/PavaritPramual/buffet-restaurant-management-system/blob/855a954a29eb0354c07851fb8da1e44f7adc2f9a/doc/deployment/production-runbook.md</a:t>
            </a:r>
          </a:p>
          <a:p>
            <a:r>
              <a:rPr lang="en-US"/>
              <a:t>https://github.com/PavaritPramual/buffet-restaurant-management-system/blob/855a954a29eb0354c07851fb8da1e44f7adc2f9a/test/evidence/uat-buffet-2026-10-10/report.md</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sirapat_673380293-3_01</a:t>
            </a:r>
          </a:p>
          <a:p>
            <a:r>
              <a:rPr lang="en-US"/>
              <a:t>เวลา 60 วินาที</a:t>
            </a:r>
          </a:p>
          <a:p>
            <a:r>
              <a:rPr lang="en-US"/>
              <a:t/>
            </a:r>
          </a:p>
          <a:p>
            <a:r>
              <a:rPr lang="en-US"/>
              <a:t>คำอธิบายบนสไลด์</a:t>
            </a:r>
          </a:p>
          <a:p>
            <a:r>
              <a:rPr lang="en-US"/>
              <a:t>ใช้สัญญาร่วมและ Regression ลดปัญหาระหว่างโมดูล</a:t>
            </a:r>
          </a:p>
          <a:p>
            <a:r>
              <a:rPr lang="en-US"/>
              <a:t>ระบุรุ่นโค้ดและสภาพแวดล้อมของผลทดสอบ เพื่อให้ตรวจสอบย้อนกลับได้</a:t>
            </a:r>
          </a:p>
          <a:p>
            <a:r>
              <a:rPr lang="en-US"/>
              <a:t/>
            </a:r>
          </a:p>
          <a:p>
            <a:r>
              <a:rPr lang="en-US"/>
              <a:t>บทพูด</a:t>
            </a:r>
          </a:p>
          <a:p>
            <a:r>
              <a:rPr lang="en-US"/>
              <a:t>บทเรียนของทีมมีสามเรื่องค่ะ หนึ่ง ต้องกำหนดสัญญาร่วมให้ตรง ทั้งDTO สถานะและบทบาท เพื่อให้แต่ละโมดูลเชื่อมกันได้ สอง แยกจุดที่ตรวจสิทธิ์ จุดเปลี่ยนสถานะ และtransactionให้เห็นชัด จึงทดสอบได้ทั้งเส้นทางสำเร็จและขอบเขต เช่น duplicateหรือstockไม่พอ สาม ต้องผูกหลักฐานกับรุ่นและenvironment โค้ดล่าสุดรวมPR52แล้ว แต่UATpublicที่รายงานอ้างaf2b45b ส่วนCIอ้าง25c7a40 ห้ามใช้CIแทนการรับรองpublicdeploy เมื่อพบ Swaggerคลาดเคลื่อน เราแก้เอกสารและเพิ่ม regression tests โดยไม่เปลี่ยนruntimeให้ตรงตัวอย่างผิด ก่อนนำเสนอจริงยังต้องทีมรับรอง CLO3/ใบงานต้นฉบับ ตรวจdeployedSHA/schema และซ้อม9นาทีบนเครื่องที่จะใช้ค่ะ</a:t>
            </a:r>
          </a:p>
          <a:p>
            <a:r>
              <a:rPr lang="en-US"/>
              <a:t/>
            </a:r>
          </a:p>
          <a:p>
            <a:r>
              <a:rPr lang="en-US"/>
              <a:t>แหล่งอ้างอิง</a:t>
            </a:r>
          </a:p>
          <a:p>
            <a:r>
              <a:rPr lang="en-US"/>
              <a:t>https://github.com/PavaritPramual/buffet-restaurant-management-system/blob/855a954a29eb0354c07851fb8da1e44f7adc2f9a/doc/testing/requirement-test-traceability.md</a:t>
            </a:r>
          </a:p>
          <a:p>
            <a:r>
              <a:rPr lang="en-US"/>
              <a:t>https://github.com/PavaritPramual/buffet-restaurant-management-system/blob/855a954a29eb0354c07851fb8da1e44f7adc2f9a/test/evidence/pr52-swagger-fix-2026-10-10/report.md</a:t>
            </a:r>
          </a:p>
          <a:p>
            <a:r>
              <a:rPr lang="en-US"/>
              <a:t>https://github.com/PavaritPramual/buffet-restaurant-management-system/blob/855a954a29eb0354c07851fb8da1e44f7adc2f9a/test/evidence/uat-buffet-2026-10-10/report.md</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pavarit_673380278-9_01</a:t>
            </a:r>
          </a:p>
          <a:p>
            <a:r>
              <a:rPr lang="en-US"/>
              <a:t>ภาคผนวกสำหรับถามตอบ</a:t>
            </a:r>
          </a:p>
          <a:p>
            <a:r>
              <a:rPr lang="en-US"/>
              <a:t/>
            </a:r>
          </a:p>
          <a:p>
            <a:r>
              <a:rPr lang="en-US"/>
              <a:t>คำอธิบายบนสไลด์</a:t>
            </a:r>
          </a:p>
          <a:p>
            <a:r>
              <a:rPr lang="en-US"/>
              <a:t>UAT แสดงผลบนเว็บจริง ส่วน CI ตรวจโค้ดในรุ่นที่ระบุ</a:t>
            </a:r>
          </a:p>
          <a:p>
            <a:r>
              <a:rPr lang="en-US"/>
              <a:t>การ merge ยืนยันว่าโค้ดรวมแล้ว ยังต้องทดสอบการแก้ Swagger บนเว็บจริง</a:t>
            </a:r>
          </a:p>
          <a:p>
            <a:r>
              <a:rPr lang="en-US"/>
              <a:t/>
            </a:r>
          </a:p>
          <a:p>
            <a:r>
              <a:rPr lang="en-US"/>
              <a:t>บทพูด</a:t>
            </a:r>
          </a:p>
          <a:p>
            <a:r>
              <a:rPr lang="en-US"/>
              <a:t>UAT publicบนaf2b45b: UI01–08ผ่านตามขอบเขต, UI09 load failureไม่เกิดจึงยังไม่ทดสอบ; API01–12ผ่านด้านruntime แต่DOC01/DOC02ไม่ผ่านด้านเอกสารเดิม Local code1823c7fแก้Swaggerและผ่าน58tests ส่วน CI25c7a40 run38030628673 Backend431ไม่มีfail/error/skip; FrontendVitest187ใน20filesและURLguard6ผ่าน lintมี5warningsเดิม buildผ่าน ล่าสุดmergePR52เป็น855a954 ไม่อ้างว่าpublicได้รับรุ่นนี้แล้ว RenderSHA/V19/JPAอ้างภาพและstartup logที่เจ้าของส่ง ไม่ใช่การqueryฐานกลาง</a:t>
            </a:r>
          </a:p>
          <a:p>
            <a:r>
              <a:rPr lang="en-US"/>
              <a:t/>
            </a:r>
          </a:p>
          <a:p>
            <a:r>
              <a:rPr lang="en-US"/>
              <a:t>แหล่งอ้างอิง</a:t>
            </a:r>
          </a:p>
          <a:p>
            <a:r>
              <a:rPr lang="en-US"/>
              <a:t>https://github.com/PavaritPramual/buffet-restaurant-management-system/blob/855a954a29eb0354c07851fb8da1e44f7adc2f9a/test/evidence/uat-buffet-2026-10-10/report.md</a:t>
            </a:r>
          </a:p>
          <a:p>
            <a:r>
              <a:rPr lang="en-US"/>
              <a:t>https://github.com/PavaritPramual/buffet-restaurant-management-system/blob/855a954a29eb0354c07851fb8da1e44f7adc2f9a/test/evidence/pr52-swagger-fix-2026-10-10/report.md</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pavarit_673380278-9_01</a:t>
            </a:r>
          </a:p>
          <a:p>
            <a:r>
              <a:rPr lang="en-US"/>
              <a:t>ภาคผนวกสำหรับถามตอบ</a:t>
            </a:r>
          </a:p>
          <a:p>
            <a:r>
              <a:rPr lang="en-US"/>
              <a:t/>
            </a:r>
          </a:p>
          <a:p>
            <a:r>
              <a:rPr lang="en-US"/>
              <a:t>คำอธิบายบนสไลด์</a:t>
            </a:r>
          </a:p>
          <a:p>
            <a:r>
              <a:rPr lang="en-US"/>
              <a:t>SOLID ช่วยแบ่งหน้าที่และจำกัดสิ่งที่แต่ละส่วนต้องรู้</a:t>
            </a:r>
          </a:p>
          <a:p>
            <a:r>
              <a:rPr lang="en-US"/>
              <a:t>จึงเพิ่มหรือทดแทนพฤติกรรมได้ โดยรักษาสัญญาที่ส่วนอื่นเรียกใช้</a:t>
            </a:r>
          </a:p>
          <a:p>
            <a:r>
              <a:rPr lang="en-US"/>
              <a:t/>
            </a:r>
          </a:p>
          <a:p>
            <a:r>
              <a:rPr lang="en-US"/>
              <a:t>บทพูด</a:t>
            </a:r>
          </a:p>
          <a:p>
            <a:r>
              <a:rPr lang="en-US"/>
              <a:t>S แยกStock consumption orchestrationออกจากState serviceและprocessor; O เพิ่มStockConsumptionProcessorผ่านhookของTemplate; L ทุกstrategyต้องคืนผลตามสัญญาBillingEngineซึ่งตรวจnonnegativeและส่วนลดไม่เกินsubtotal; I แยกStockConsumptionTransactionProcessor.consumeจากStockTransactionProcessor.processตามลูกค้าที่ใช้; D OrderStockConsumptionServiceImplรับprocessorและUserContextProviderผ่านconstructor ไม่มีการกล่าวว่ามีinterfaceแล้วทั้งระบบเป็นSOLIDอัตโนมัติ การเพิ่มOrder statusยังต้องแก้enum/API/UIและตรวจworkflow</a:t>
            </a:r>
          </a:p>
          <a:p>
            <a:r>
              <a:rPr lang="en-US"/>
              <a:t/>
            </a:r>
          </a:p>
          <a:p>
            <a:r>
              <a:rPr lang="en-US"/>
              <a:t>แหล่งอ้างอิง</a:t>
            </a:r>
          </a:p>
          <a:p>
            <a:r>
              <a:rPr lang="en-US"/>
              <a:t>https://github.com/PavaritPramual/buffet-restaurant-management-system/blob/855a954a29eb0354c07851fb8da1e44f7adc2f9a/doc/solid-analysis.md</a:t>
            </a:r>
          </a:p>
          <a:p>
            <a:r>
              <a:rPr lang="en-US"/>
              <a:t>https://github.com/PavaritPramual/buffet-restaurant-management-system/blob/855a954a29eb0354c07851fb8da1e44f7adc2f9a/code/backend/src/main/java/com/buffetrestaurant/service/StockTransactionTemplate.java</a:t>
            </a:r>
          </a:p>
          <a:p>
            <a:r>
              <a:rPr lang="en-US"/>
              <a:t>https://github.com/PavaritPramual/buffet-restaurant-management-system/blob/855a954a29eb0354c07851fb8da1e44f7adc2f9a/code/backend/src/main/java/com/buffetrestaurant/service/impl/OrderStockConsumptionServiceImpl.java</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pavarit_673380278-9_01</a:t>
            </a:r>
          </a:p>
          <a:p>
            <a:r>
              <a:rPr lang="en-US"/>
              <a:t>ภาคผนวกสำหรับถามตอบ</a:t>
            </a:r>
          </a:p>
          <a:p>
            <a:r>
              <a:rPr lang="en-US"/>
              <a:t/>
            </a:r>
          </a:p>
          <a:p>
            <a:r>
              <a:rPr lang="en-US"/>
              <a:t>คำอธิบายบนสไลด์</a:t>
            </a:r>
          </a:p>
          <a:p>
            <a:r>
              <a:rPr lang="en-US"/>
              <a:t>แต่ละชั้นรับผิดชอบงานของตนเอง และส่งข้อมูลผ่าน DTO</a:t>
            </a:r>
          </a:p>
          <a:p>
            <a:r>
              <a:rPr lang="en-US"/>
              <a:t>Service ประสาน use case ส่วน Repository ดูแลการเข้าถึงฐานข้อมูล</a:t>
            </a:r>
          </a:p>
          <a:p>
            <a:r>
              <a:rPr lang="en-US"/>
              <a:t/>
            </a:r>
          </a:p>
          <a:p>
            <a:r>
              <a:rPr lang="en-US"/>
              <a:t>บทพูด</a:t>
            </a:r>
          </a:p>
          <a:p>
            <a:r>
              <a:rPr lang="en-US"/>
              <a:t>หกรายการตามเอกสารโครงการคือ Layered Architecture, MVC, Repository, Service Layer, DTO+Mapper และDependency Injection. Reactเป็นView; ControllerรับHTTPและส่งDTO; Serviceรวมusecase/transaction; Repositoryซ่อนquery; Mapperแปลงข้อมูลออก; constructorรับdependencyและproviderinterface ภาพเป็นconceptualmapไม่อ้างว่าMVCของReactเหมือนserver-sideviewrenderingทุกอย่าง</a:t>
            </a:r>
          </a:p>
          <a:p>
            <a:r>
              <a:rPr lang="en-US"/>
              <a:t/>
            </a:r>
          </a:p>
          <a:p>
            <a:r>
              <a:rPr lang="en-US"/>
              <a:t>แหล่งอ้างอิง</a:t>
            </a:r>
          </a:p>
          <a:p>
            <a:r>
              <a:rPr lang="en-US"/>
              <a:t>https://github.com/PavaritPramual/buffet-restaurant-management-system/blob/855a954a29eb0354c07851fb8da1e44f7adc2f9a/doc/design-patterns.md</a:t>
            </a:r>
          </a:p>
          <a:p>
            <a:r>
              <a:rPr lang="en-US"/>
              <a:t>https://github.com/PavaritPramual/buffet-restaurant-management-system/blob/855a954a29eb0354c07851fb8da1e44f7adc2f9a/doc/diagrams/presentation-component.puml</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sarun_673380515-1_02</a:t>
            </a:r>
          </a:p>
          <a:p>
            <a:r>
              <a:rPr lang="en-US"/>
              <a:t>ภาคผนวกสำหรับถามตอบ</a:t>
            </a:r>
          </a:p>
          <a:p>
            <a:r>
              <a:rPr lang="en-US"/>
              <a:t/>
            </a:r>
          </a:p>
          <a:p>
            <a:r>
              <a:rPr lang="en-US"/>
              <a:t>คำอธิบายบนสไลด์</a:t>
            </a:r>
          </a:p>
          <a:p>
            <a:r>
              <a:rPr lang="en-US"/>
              <a:t>Service เลือก State จากสถานะปัจจุบันของออเดอร์</a:t>
            </a:r>
          </a:p>
          <a:p>
            <a:r>
              <a:rPr lang="en-US"/>
              <a:t>แต่ละ State กำหนดสถานะถัดไป จึงปฏิเสธการข้ามขั้นหรือทำซ้ำ</a:t>
            </a:r>
          </a:p>
          <a:p>
            <a:r>
              <a:rPr lang="en-US"/>
              <a:t/>
            </a:r>
          </a:p>
          <a:p>
            <a:r>
              <a:rPr lang="en-US"/>
              <a:t>บทพูด</a:t>
            </a:r>
          </a:p>
          <a:p>
            <a:r>
              <a:rPr lang="en-US"/>
              <a:t>ภาพย่อClass Diagram: OrderFulfillmentServiceImplเป็นcontextและใช้OrderStateResolver.resolve จากenumที่persistไว้ OrderStateมีstatus()/next(); ReceivedState,PreparingState,ReadyState,ServedState implement interface ปลายทางnextของServedปฏิเสธ transition RegistryOrderStateResolverตรวจduplicate/missingregistrationsตอนstartup ก่อนเปลี่ยนPREPARINGมีOrderStockConsumptionServiceเพิ่มจากPR49 แผนภาพเต็มเดิมในrepoยังเป็นbaselineก่อนPR49 จึงอ่านsource855ประกอบ ไม่อ้างว่าภาพเก่าแสดงdependencyใหม่ครบ</a:t>
            </a:r>
          </a:p>
          <a:p>
            <a:r>
              <a:rPr lang="en-US"/>
              <a:t/>
            </a:r>
          </a:p>
          <a:p>
            <a:r>
              <a:rPr lang="en-US"/>
              <a:t>แหล่งอ้างอิง</a:t>
            </a:r>
          </a:p>
          <a:p>
            <a:r>
              <a:rPr lang="en-US"/>
              <a:t>https://github.com/PavaritPramual/buffet-restaurant-management-system/blob/855a954a29eb0354c07851fb8da1e44f7adc2f9a/code/backend/src/main/java/com/buffetrestaurant/service/state/OrderState.java</a:t>
            </a:r>
          </a:p>
          <a:p>
            <a:r>
              <a:rPr lang="en-US"/>
              <a:t>https://github.com/PavaritPramual/buffet-restaurant-management-system/blob/855a954a29eb0354c07851fb8da1e44f7adc2f9a/code/backend/src/main/java/com/buffetrestaurant/service/impl/OrderFulfillmentServiceImpl.java</a:t>
            </a:r>
          </a:p>
          <a:p>
            <a:r>
              <a:rPr lang="en-US"/>
              <a:t>https://github.com/PavaritPramual/buffet-restaurant-management-system/blob/855a954a29eb0354c07851fb8da1e44f7adc2f9a/doc/diagrams/class-order-state.puml</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teeramet_673380273-9_02</a:t>
            </a:r>
          </a:p>
          <a:p>
            <a:r>
              <a:rPr lang="en-US"/>
              <a:t>ภาคผนวกสำหรับถามตอบ</a:t>
            </a:r>
          </a:p>
          <a:p>
            <a:r>
              <a:rPr lang="en-US"/>
              <a:t/>
            </a:r>
          </a:p>
          <a:p>
            <a:r>
              <a:rPr lang="en-US"/>
              <a:t>คำอธิบายบนสไลด์</a:t>
            </a:r>
          </a:p>
          <a:p>
            <a:r>
              <a:rPr lang="en-US"/>
              <a:t>Engine พึ่งพา Interface สำหรับราคาและส่วนลด</a:t>
            </a:r>
          </a:p>
          <a:p>
            <a:r>
              <a:rPr lang="en-US"/>
              <a:t>จึงใช้วิธีคำนวณหลายแบบได้ โดยไม่ผูกกับคลาสใดคลาสหนึ่ง</a:t>
            </a:r>
          </a:p>
          <a:p>
            <a:r>
              <a:rPr lang="en-US"/>
              <a:t/>
            </a:r>
          </a:p>
          <a:p>
            <a:r>
              <a:rPr lang="en-US"/>
              <a:t>บทพูด</a:t>
            </a:r>
          </a:p>
          <a:p>
            <a:r>
              <a:rPr lang="en-US"/>
              <a:t>BillingEngine implement BillCalculator และใช้BillCalculationStrategy.calculate(context) กับDiscountCalculationStrategy.calculateDiscount(context,subtotal) ตัวอย่างimplementationคือStandardBillCalculation,ChildRateCalculationStrategyและPromotionDiscountStrategy BillingPreviewServiceเรียกBillCalculatorและแมปBillCalculationเป็นBillSummary ภาพย่อแสดงdependencyสำคัญ รายละเอียดmethods/roundingอยู่ในsourceและClassDiagramเต็ม</a:t>
            </a:r>
          </a:p>
          <a:p>
            <a:r>
              <a:rPr lang="en-US"/>
              <a:t/>
            </a:r>
          </a:p>
          <a:p>
            <a:r>
              <a:rPr lang="en-US"/>
              <a:t>แหล่งอ้างอิง</a:t>
            </a:r>
          </a:p>
          <a:p>
            <a:r>
              <a:rPr lang="en-US"/>
              <a:t>https://github.com/PavaritPramual/buffet-restaurant-management-system/blob/855a954a29eb0354c07851fb8da1e44f7adc2f9a/doc/diagrams/class-billing-strategy.puml</a:t>
            </a:r>
          </a:p>
          <a:p>
            <a:r>
              <a:rPr lang="en-US"/>
              <a:t>https://github.com/PavaritPramual/buffet-restaurant-management-system/blob/855a954a29eb0354c07851fb8da1e44f7adc2f9a/code/backend/src/main/java/com/buffetrestaurant/service/billing/BillingEngine.java</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methus_673380300-2_01</a:t>
            </a:r>
          </a:p>
          <a:p>
            <a:r>
              <a:rPr lang="en-US"/>
              <a:t>ภาคผนวกสำหรับถามตอบ</a:t>
            </a:r>
          </a:p>
          <a:p>
            <a:r>
              <a:rPr lang="en-US"/>
              <a:t/>
            </a:r>
          </a:p>
          <a:p>
            <a:r>
              <a:rPr lang="en-US"/>
              <a:t>คำอธิบายบนสไลด์</a:t>
            </a:r>
          </a:p>
          <a:p>
            <a:r>
              <a:rPr lang="en-US"/>
              <a:t>Template วางขั้นตรวจและบันทึกไว้เป็น final</a:t>
            </a:r>
          </a:p>
          <a:p>
            <a:r>
              <a:rPr lang="en-US"/>
              <a:t>Consumption เพิ่มการหักยอดและผูกประวัติกับ orderId ผ่าน Hook</a:t>
            </a:r>
          </a:p>
          <a:p>
            <a:r>
              <a:rPr lang="en-US"/>
              <a:t/>
            </a:r>
          </a:p>
          <a:p>
            <a:r>
              <a:rPr lang="en-US"/>
              <a:t>บทพูด</a:t>
            </a:r>
          </a:p>
          <a:p>
            <a:r>
              <a:rPr lang="en-US"/>
              <a:t>ClassDiagramย่อที่ปรับตามPR49: StockTransactionTemplate implement StockTransactionProcessor. final processส่งต่อprotected final processWithOrderซึ่งตรวจactor/active/delta/nextbalanceและsaveรายการaudit. StockInProcessor,StockAdjustmentProcessor,StockConsumptionProcessor extendsTemplate. ConsumptionยังimplementStockConsumptionTransactionProcessor.consumeเพื่อรับorderId; orchestrationผ่านOrderStockConsumptionServiceImpl. เส้นextendsเชื่อมsubclassกับsuperclass ส่วนinterfaceและรายละเอียดทั้งหมดตรวจได้ที่source855 ไม่ใช้ภาพclass-stock-templateเดิมเป็นหลักฐานว่ามีConsumptionแล้ว</a:t>
            </a:r>
          </a:p>
          <a:p>
            <a:r>
              <a:rPr lang="en-US"/>
              <a:t/>
            </a:r>
          </a:p>
          <a:p>
            <a:r>
              <a:rPr lang="en-US"/>
              <a:t>แหล่งอ้างอิง</a:t>
            </a:r>
          </a:p>
          <a:p>
            <a:r>
              <a:rPr lang="en-US"/>
              <a:t>https://github.com/PavaritPramual/buffet-restaurant-management-system/blob/855a954a29eb0354c07851fb8da1e44f7adc2f9a/code/backend/src/main/java/com/buffetrestaurant/service/StockTransactionTemplate.java</a:t>
            </a:r>
          </a:p>
          <a:p>
            <a:r>
              <a:rPr lang="en-US"/>
              <a:t>https://github.com/PavaritPramual/buffet-restaurant-management-system/blob/855a954a29eb0354c07851fb8da1e44f7adc2f9a/code/backend/src/main/java/com/buffetrestaurant/service/StockConsumptionProcessor.java</a:t>
            </a:r>
          </a:p>
          <a:p>
            <a:r>
              <a:rPr lang="en-US"/>
              <a:t>https://github.com/PavaritPramual/buffet-restaurant-management-system/blob/855a954a29eb0354c07851fb8da1e44f7adc2f9a/code/backend/src/main/java/com/buffetrestaurant/service/StockConsumptionTransactionProcessor.java</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pavarit_673380278-9_01</a:t>
            </a:r>
          </a:p>
          <a:p>
            <a:r>
              <a:rPr lang="en-US"/>
              <a:t>ภาคผนวกสำหรับถามตอบ</a:t>
            </a:r>
          </a:p>
          <a:p>
            <a:r>
              <a:rPr lang="en-US"/>
              <a:t/>
            </a:r>
          </a:p>
          <a:p>
            <a:r>
              <a:rPr lang="en-US"/>
              <a:t>คำอธิบายบนสไลด์</a:t>
            </a:r>
          </a:p>
          <a:p>
            <a:r>
              <a:rPr lang="en-US"/>
              <a:t>รอบโต๊ะเชื่อมออเดอร์กับการชำระเงิน ส่วน OrderItem เก็บสูตรตอนสั่ง</a:t>
            </a:r>
          </a:p>
          <a:p>
            <a:r>
              <a:rPr lang="en-US"/>
              <a:t>ประวัติ CONSUMPTION อ้าง orderId เพื่อย้อนดูที่มาของการหักสต๊อก</a:t>
            </a:r>
          </a:p>
          <a:p>
            <a:r>
              <a:rPr lang="en-US"/>
              <a:t/>
            </a:r>
          </a:p>
          <a:p>
            <a:r>
              <a:rPr lang="en-US"/>
              <a:t>บทพูด</a:t>
            </a:r>
          </a:p>
          <a:p>
            <a:r>
              <a:rPr lang="en-US"/>
              <a:t>ภาพย่อconceptualrelationships: DiningSessionมีCustomerOrder,OrderมีOrderItemและPaymentผูกsession; MenuItemมีสูตรMenuStockUsageแบบEmbeddable value collection,OrderItemถือสำเนาสูตรตอนสั่ง StockTransactionอ้างStockItemและCONSUMPTIONมีorderId. รูปไม่ได้แทนทุกfield/cardinalityในfullDomainModel. รักษาFKและIDแม้archiveเมนูเพื่ออธิบายประวัติ ค่าPAIDของpaymentและCOMPLETEDของsessionเป็นคนละสถานะ; ไม่ควรนำชื่อOrderในconceptualmodelไปอ้างว่าเป็นชื่อclassจริงซึ่งคือCustomerOrder</a:t>
            </a:r>
          </a:p>
          <a:p>
            <a:r>
              <a:rPr lang="en-US"/>
              <a:t/>
            </a:r>
          </a:p>
          <a:p>
            <a:r>
              <a:rPr lang="en-US"/>
              <a:t>แหล่งอ้างอิง</a:t>
            </a:r>
          </a:p>
          <a:p>
            <a:r>
              <a:rPr lang="en-US"/>
              <a:t>https://github.com/PavaritPramual/buffet-restaurant-management-system/blob/855a954a29eb0354c07851fb8da1e44f7adc2f9a/doc/diagrams/domain-model.puml</a:t>
            </a:r>
          </a:p>
          <a:p>
            <a:r>
              <a:rPr lang="en-US"/>
              <a:t>https://github.com/PavaritPramual/buffet-restaurant-management-system/blob/855a954a29eb0354c07851fb8da1e44f7adc2f9a/code/backend/src/main/java/com/buffetrestaurant/domain/OrderItem.java</a:t>
            </a:r>
          </a:p>
          <a:p>
            <a:r>
              <a:rPr lang="en-US"/>
              <a:t>https://github.com/PavaritPramual/buffet-restaurant-management-system/blob/855a954a29eb0354c07851fb8da1e44f7adc2f9a/code/backend/src/main/java/com/buffetrestaurant/domain/StockTransaction.java</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methus_673380300-2_01</a:t>
            </a:r>
          </a:p>
          <a:p>
            <a:r>
              <a:rPr lang="en-US"/>
              <a:t>ภาคผนวกสำหรับถามตอบ</a:t>
            </a:r>
          </a:p>
          <a:p>
            <a:r>
              <a:rPr lang="en-US"/>
              <a:t/>
            </a:r>
          </a:p>
          <a:p>
            <a:r>
              <a:rPr lang="en-US"/>
              <a:t>คำอธิบายบนสไลด์</a:t>
            </a:r>
          </a:p>
          <a:p>
            <a:r>
              <a:rPr lang="en-US"/>
              <a:t>สูตรของเมนูปัจจุบันและสูตรตอนสั่งอยู่คนละตาราง</a:t>
            </a:r>
          </a:p>
          <a:p>
            <a:r>
              <a:rPr lang="en-US"/>
              <a:t>FK และ composite PK รักษาการอ้างอิง โดยไม่ให้การแก้เมนูเปลี่ยนออเดอร์เก่า</a:t>
            </a:r>
          </a:p>
          <a:p>
            <a:r>
              <a:rPr lang="en-US"/>
              <a:t/>
            </a:r>
          </a:p>
          <a:p>
            <a:r>
              <a:rPr lang="en-US"/>
              <a:t>บทพูด</a:t>
            </a:r>
          </a:p>
          <a:p>
            <a:r>
              <a:rPr lang="en-US"/>
              <a:t>V19มีmenu_stock_usage(menu_item_id,stock_item_id)และorder_item_stock_usage(order_item_id,stock_item_id)เป็นcompositePKพร้อมFK การลบownerใช้CASCADEลบค่าของowner แต่StockItemใช้RESTRICTเพื่อรักษาการอ้างอิง stock_transactionsเพิ่มorder_id FK และunique(order_id,stock_item_id)สำหรับConsumptionพร้อมcheckที่บังคับorderIdและdeltaติดลบ การตรวจสต๊อกและล็อกในserviceยังจำเป็น. JPA UserProfile @MapsId/@OneToOne defaultEAGER; CustomerOrder.items @OneToMany(mappedBy=order,cascade=ALL,orphanRemoval=true,fetch=LAZY); OrderItem.stockUsageเป็นLAZY ElementCollection ไม่ใช่@ManyToManyที่cascadeลบStockItem. V19ที่deployedอ้างstartup logเจ้าของ ไม่ได้applymigrationในงานสไลด์</a:t>
            </a:r>
          </a:p>
          <a:p>
            <a:r>
              <a:rPr lang="en-US"/>
              <a:t/>
            </a:r>
          </a:p>
          <a:p>
            <a:r>
              <a:rPr lang="en-US"/>
              <a:t>แหล่งอ้างอิง</a:t>
            </a:r>
          </a:p>
          <a:p>
            <a:r>
              <a:rPr lang="en-US"/>
              <a:t>https://github.com/PavaritPramual/buffet-restaurant-management-system/blob/855a954a29eb0354c07851fb8da1e44f7adc2f9a/code/backend/src/main/resources/db/migration/postgresql/V19__menu_stock_consumption.sql</a:t>
            </a:r>
          </a:p>
          <a:p>
            <a:r>
              <a:rPr lang="en-US"/>
              <a:t>https://github.com/PavaritPramual/buffet-restaurant-management-system/blob/855a954a29eb0354c07851fb8da1e44f7adc2f9a/code/backend/src/main/java/com/buffetrestaurant/domain/OrderItem.java</a:t>
            </a:r>
          </a:p>
          <a:p>
            <a:r>
              <a:rPr lang="en-US"/>
              <a:t>https://github.com/PavaritPramual/buffet-restaurant-management-system/blob/855a954a29eb0354c07851fb8da1e44f7adc2f9a/doc/architecture/jpa-entity-rationale.md</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pavarit_673380278-9_01</a:t>
            </a:r>
          </a:p>
          <a:p>
            <a:r>
              <a:rPr lang="en-US"/>
              <a:t>ภาคผนวกสำหรับถามตอบ</a:t>
            </a:r>
          </a:p>
          <a:p>
            <a:r>
              <a:rPr lang="en-US"/>
              <a:t/>
            </a:r>
          </a:p>
          <a:p>
            <a:r>
              <a:rPr lang="en-US"/>
              <a:t>คำอธิบายบนสไลด์</a:t>
            </a:r>
          </a:p>
          <a:p>
            <a:r>
              <a:rPr lang="en-US"/>
              <a:t>Service ตรวจสิทธิ์และเงื่อนไข แล้วล็อกโต๊ะก่อนสร้างรอบ</a:t>
            </a:r>
          </a:p>
          <a:p>
            <a:r>
              <a:rPr lang="en-US"/>
              <a:t>ระบบบันทึกรอบกับสถานะโต๊ะใน Transaction เดียวกัน และคืน 201 พร้อม QR</a:t>
            </a:r>
          </a:p>
          <a:p>
            <a:r>
              <a:rPr lang="en-US"/>
              <a:t/>
            </a:r>
          </a:p>
          <a:p>
            <a:r>
              <a:rPr lang="en-US"/>
              <a:t>บทพูด</a:t>
            </a:r>
          </a:p>
          <a:p>
            <a:r>
              <a:rPr lang="en-US"/>
              <a:t>Sequenceย่อ: SERVICE_STAFFส่งPOSTdining-sessionsผ่านControllerไปService; authorizeก่อนmutate; ตรวจโต๊ะAVAILABLE/count/capacity/package/soup และล็อกโต๊ะในtransactionเดียว สร้างsessionที่snapshotราคาและเปลี่ยนโต๊ะไม่ว่าง แล้วคืน201พร้อมQR การเปิดรอบและการแลกQRเป็นคนละคำขอ QRสดใช้แลกcustomer grantแล้วถูกrotate ห้ามอธิบายว่าCustomerใช้Staffcookieหรือแชร์sessionของStaff</a:t>
            </a:r>
          </a:p>
          <a:p>
            <a:r>
              <a:rPr lang="en-US"/>
              <a:t/>
            </a:r>
          </a:p>
          <a:p>
            <a:r>
              <a:rPr lang="en-US"/>
              <a:t>แหล่งอ้างอิง</a:t>
            </a:r>
          </a:p>
          <a:p>
            <a:r>
              <a:rPr lang="en-US"/>
              <a:t>https://github.com/PavaritPramual/buffet-restaurant-management-system/blob/855a954a29eb0354c07851fb8da1e44f7adc2f9a/doc/diagrams/sequence-open-session.puml</a:t>
            </a:r>
          </a:p>
          <a:p>
            <a:r>
              <a:rPr lang="en-US"/>
              <a:t>https://github.com/PavaritPramual/buffet-restaurant-management-system/blob/855a954a29eb0354c07851fb8da1e44f7adc2f9a/code/backend/src/main/java/com/buffetrestaurant/service/impl/DiningSessionServiceImpl.java</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sarun_673380515-1_02</a:t>
            </a:r>
          </a:p>
          <a:p>
            <a:r>
              <a:rPr lang="en-US"/>
              <a:t>ภาคผนวกสำหรับถามตอบ</a:t>
            </a:r>
          </a:p>
          <a:p>
            <a:r>
              <a:rPr lang="en-US"/>
              <a:t/>
            </a:r>
          </a:p>
          <a:p>
            <a:r>
              <a:rPr lang="en-US"/>
              <a:t>คำอธิบายบนสไลด์</a:t>
            </a:r>
          </a:p>
          <a:p>
            <a:r>
              <a:rPr lang="en-US"/>
              <a:t>ตอนสั่ง ระบบสร้าง RECEIVED พร้อมสูตร Snapshot</a:t>
            </a:r>
          </a:p>
          <a:p>
            <a:r>
              <a:rPr lang="en-US"/>
              <a:t>เมื่อครัวเริ่มทำ จึงตรวจทุกวัตถุดิบแล้วหักยอดพร้อมเปลี่ยนสถานะใน Transaction เดียว</a:t>
            </a:r>
          </a:p>
          <a:p>
            <a:r>
              <a:rPr lang="en-US"/>
              <a:t/>
            </a:r>
          </a:p>
          <a:p>
            <a:r>
              <a:rPr lang="en-US"/>
              <a:t>บทพูด</a:t>
            </a:r>
          </a:p>
          <a:p>
            <a:r>
              <a:rPr lang="en-US"/>
              <a:t>CustomerOrderingServiceตรวจgrant/session/menu/packageและสร้างRECEIVED พร้อมสูตรsnapshot ไม่มีการหักStockในplaceOrder. Kitchen PATCHPREPARINGเข้าOrderFulfillmentService: authorize,lockorder,resolveState,nextแล้วconsume. OrderStockConsumptionServiceรวมยอดตามstockIdในTreeMapเพื่อล็อกเรียงID ตรวจทุกวัตถุดิบก่อนเรียกprocessor การsaveยอดauditและorderstatusอยู่transactionเดียว ถ้าผิดthrow409ก่อนทำรายการและสถานะไม่เปลี่ยน ก่อนupgrade/untracked orderที่ไม่มีstockUsageไม่มีการconsumption</a:t>
            </a:r>
          </a:p>
          <a:p>
            <a:r>
              <a:rPr lang="en-US"/>
              <a:t/>
            </a:r>
          </a:p>
          <a:p>
            <a:r>
              <a:rPr lang="en-US"/>
              <a:t>แหล่งอ้างอิง</a:t>
            </a:r>
          </a:p>
          <a:p>
            <a:r>
              <a:rPr lang="en-US"/>
              <a:t>https://github.com/PavaritPramual/buffet-restaurant-management-system/blob/855a954a29eb0354c07851fb8da1e44f7adc2f9a/code/backend/src/main/java/com/buffetrestaurant/service/impl/CustomerOrderingServiceImpl.java</a:t>
            </a:r>
          </a:p>
          <a:p>
            <a:r>
              <a:rPr lang="en-US"/>
              <a:t>https://github.com/PavaritPramual/buffet-restaurant-management-system/blob/855a954a29eb0354c07851fb8da1e44f7adc2f9a/code/backend/src/main/java/com/buffetrestaurant/service/impl/OrderFulfillmentServiceImpl.java</a:t>
            </a:r>
          </a:p>
          <a:p>
            <a:r>
              <a:rPr lang="en-US"/>
              <a:t>https://github.com/PavaritPramual/buffet-restaurant-management-system/blob/855a954a29eb0354c07851fb8da1e44f7adc2f9a/code/backend/src/main/java/com/buffetrestaurant/service/impl/OrderStockConsumptionServiceImpl.java</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teeramet_673380273-9_02</a:t>
            </a:r>
          </a:p>
          <a:p>
            <a:r>
              <a:rPr lang="en-US"/>
              <a:t>ภาคผนวกสำหรับถามตอบ</a:t>
            </a:r>
          </a:p>
          <a:p>
            <a:r>
              <a:rPr lang="en-US"/>
              <a:t/>
            </a:r>
          </a:p>
          <a:p>
            <a:r>
              <a:rPr lang="en-US"/>
              <a:t>คำอธิบายบนสไลด์</a:t>
            </a:r>
          </a:p>
          <a:p>
            <a:r>
              <a:rPr lang="en-US"/>
              <a:t>PAID ยืนยันการรับชำระ ส่วนการปิดรอบเป็นอีกคำสั่งหนึ่ง</a:t>
            </a:r>
          </a:p>
          <a:p>
            <a:r>
              <a:rPr lang="en-US"/>
              <a:t>พนักงานปิดรอบหลังชำระแล้ว เพื่อคืนโต๊ะ AVAILABLE และยกเลิกสิทธิ์ลูกค้า</a:t>
            </a:r>
          </a:p>
          <a:p>
            <a:r>
              <a:rPr lang="en-US"/>
              <a:t/>
            </a:r>
          </a:p>
          <a:p>
            <a:r>
              <a:rPr lang="en-US"/>
              <a:t>บทพูด</a:t>
            </a:r>
          </a:p>
          <a:p>
            <a:r>
              <a:rPr lang="en-US"/>
              <a:t>Customerขอคิดบิลขณะที่sessionยังACTIVE ทำให้ไม่รับorderใหม่และgrantใหม่ แต่ยังอ่านorder/billได้ Staffอ่านยอดbillingจากbackendและสร้างPaymentที่PAIDจากtrustedcalculation การรับชำระไม่ปิดsessionโดยอัตโนมัติ Staffต้องส่งcloseอีกคำขอ ตรวจpaymentPAIDแล้วจึงCOMPLETED/revokegrants/releaseโต๊ะAVAILABLE. ถ้าPOSTpaymentขาดresponse ให้GETpaymentก่อนretryเพื่อไม่เสี่ยงdouble submit การสาธิตBilling/Paymentไม่ใช่ผลที่รันทดสอบซ้ำในUATStockPR52</a:t>
            </a:r>
          </a:p>
          <a:p>
            <a:r>
              <a:rPr lang="en-US"/>
              <a:t/>
            </a:r>
          </a:p>
          <a:p>
            <a:r>
              <a:rPr lang="en-US"/>
              <a:t>แหล่งอ้างอิง</a:t>
            </a:r>
          </a:p>
          <a:p>
            <a:r>
              <a:rPr lang="en-US"/>
              <a:t>https://github.com/PavaritPramual/buffet-restaurant-management-system/blob/855a954a29eb0354c07851fb8da1e44f7adc2f9a/doc/diagrams/sequence-billing-payment.puml</a:t>
            </a:r>
          </a:p>
          <a:p>
            <a:r>
              <a:rPr lang="en-US"/>
              <a:t>https://github.com/PavaritPramual/buffet-restaurant-management-system/blob/855a954a29eb0354c07851fb8da1e44f7adc2f9a/code/backend/src/main/java/com/buffetrestaurant/service/impl/PaymentServiceImpl.java</a:t>
            </a:r>
          </a:p>
          <a:p>
            <a:r>
              <a:rPr lang="en-US"/>
              <a:t>https://github.com/PavaritPramual/buffet-restaurant-management-system/blob/855a954a29eb0354c07851fb8da1e44f7adc2f9a/doc/architecture/teeramet-billing-payment-solid-jpa.md</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sirapat_673380293-3_01</a:t>
            </a:r>
          </a:p>
          <a:p>
            <a:r>
              <a:rPr lang="en-US"/>
              <a:t>ภาคผนวกสำหรับถามตอบ</a:t>
            </a:r>
          </a:p>
          <a:p>
            <a:r>
              <a:rPr lang="en-US"/>
              <a:t/>
            </a:r>
          </a:p>
          <a:p>
            <a:r>
              <a:rPr lang="en-US"/>
              <a:t>คำอธิบายบนสไลด์</a:t>
            </a:r>
          </a:p>
          <a:p>
            <a:r>
              <a:rPr lang="en-US"/>
              <a:t>เมื่อขอคิดบิล ระบบหยุดรับออเดอร์เพิ่ม และเมื่อปิดรอบ สิทธิ์ลูกค้าสิ้นสุด</a:t>
            </a:r>
          </a:p>
          <a:p>
            <a:r>
              <a:rPr lang="en-US"/>
              <a:t>หน้าเว็บแยกสิทธิ์หมดอายุออกจาก Network หรือ 5xx ที่ให้ลองใหม่ได้</a:t>
            </a:r>
          </a:p>
          <a:p>
            <a:r>
              <a:rPr lang="en-US"/>
              <a:t/>
            </a:r>
          </a:p>
          <a:p>
            <a:r>
              <a:rPr lang="en-US"/>
              <a:t>บทพูด</a:t>
            </a:r>
          </a:p>
          <a:p>
            <a:r>
              <a:rPr lang="en-US"/>
              <a:t>Activityย่อเริ่มจากแลกQRเป็นcustomergrant แล้วอ่านเมนูของpackage ตรวจสิทธิ์และรอบก่อนPOSTorder หากผ่านเป็นRECEIVEDและติดตามสถานะได้ ผู้ใช้ขอคิดบิลแล้วจึงหยุดรับorderเพิ่ม เมื่อStaffปิดรอบสิทธิ์สิ้นสุด หน้าCustomerแสดงทางเริ่มรอบใหม่แทนloopretry. terminalexpired/inactiveต่างจากnetwork/5xxที่ยังretryโดยรักษาตะกร้าได้; OrderPOST404ต้องตรวจcustomer-contextเพื่อแยกmenuถูกนำออกจากaccessหมดอายุ รายละเอียดอยู่ในtestsCustomerAccessExpiryและOrderingConcurrency</a:t>
            </a:r>
          </a:p>
          <a:p>
            <a:r>
              <a:rPr lang="en-US"/>
              <a:t/>
            </a:r>
          </a:p>
          <a:p>
            <a:r>
              <a:rPr lang="en-US"/>
              <a:t>แหล่งอ้างอิง</a:t>
            </a:r>
          </a:p>
          <a:p>
            <a:r>
              <a:rPr lang="en-US"/>
              <a:t>https://github.com/PavaritPramual/buffet-restaurant-management-system/blob/855a954a29eb0354c07851fb8da1e44f7adc2f9a/doc/diagrams/activity-customer-ordering.puml</a:t>
            </a:r>
          </a:p>
          <a:p>
            <a:r>
              <a:rPr lang="en-US"/>
              <a:t>https://github.com/PavaritPramual/buffet-restaurant-management-system/blob/855a954a29eb0354c07851fb8da1e44f7adc2f9a/doc/contracts/ordering-contract.md</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teeramet_673380273-9_02</a:t>
            </a:r>
          </a:p>
          <a:p>
            <a:r>
              <a:rPr lang="en-US"/>
              <a:t>ภาคผนวกสำหรับถามตอบ</a:t>
            </a:r>
          </a:p>
          <a:p>
            <a:r>
              <a:rPr lang="en-US"/>
              <a:t/>
            </a:r>
          </a:p>
          <a:p>
            <a:r>
              <a:rPr lang="en-US"/>
              <a:t>คำอธิบายบนสไลด์</a:t>
            </a:r>
          </a:p>
          <a:p>
            <a:r>
              <a:rPr lang="en-US"/>
              <a:t>Browser เรียก API ผ่าน HTTPS แล้ว backend จึงติดต่อฐานข้อมูลผ่าน Pooler</a:t>
            </a:r>
          </a:p>
          <a:p>
            <a:r>
              <a:rPr lang="en-US"/>
              <a:t>ภาพแสดงโครงสร้างที่ตั้งค่าไว้ ต้องยืนยันรุ่นที่ deploy ก่อนสาธิตจริง</a:t>
            </a:r>
          </a:p>
          <a:p>
            <a:r>
              <a:rPr lang="en-US"/>
              <a:t/>
            </a:r>
          </a:p>
          <a:p>
            <a:r>
              <a:rPr lang="en-US"/>
              <a:t>บทพูด</a:t>
            </a:r>
          </a:p>
          <a:p>
            <a:r>
              <a:rPr lang="en-US"/>
              <a:t>ConfiguredtopologyคือBrowserHTTPSเข้าRenderTLSproxy แล้วSpringBootเสิร์ฟReactstatic/API/OpenAPIในJARเดียว backendต่อSupabaseSessionPoolerไปPostgreSQL ไม่ใช่browserต่อฐานข้อมูลโดยตรง Swaggerอยู่/swagger-uiและ/v3/api-docs. การมีconfigไม่ยืนยันdeployedSHA/schemaล่าสุด ภาพRenderในUATอ้างaf2b45bและstartup logแสดงV19 ไม่ใช่การอ่านruntimeสดของ855a954. CIที่ตรวจมีbuild/test ไม่ควรรับคะแนนพิเศษCI/CDbuild-test-deployจนมีหลักฐานdeployอัตโนมัติครบ</a:t>
            </a:r>
          </a:p>
          <a:p>
            <a:r>
              <a:rPr lang="en-US"/>
              <a:t/>
            </a:r>
          </a:p>
          <a:p>
            <a:r>
              <a:rPr lang="en-US"/>
              <a:t>แหล่งอ้างอิง</a:t>
            </a:r>
          </a:p>
          <a:p>
            <a:r>
              <a:rPr lang="en-US"/>
              <a:t>https://github.com/PavaritPramual/buffet-restaurant-management-system/blob/855a954a29eb0354c07851fb8da1e44f7adc2f9a/doc/diagrams/deployment-production-runtime.md</a:t>
            </a:r>
          </a:p>
          <a:p>
            <a:r>
              <a:rPr lang="en-US"/>
              <a:t>https://github.com/PavaritPramual/buffet-restaurant-management-system/blob/855a954a29eb0354c07851fb8da1e44f7adc2f9a/doc/deployment/production-runbook.md</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ผู้พูด pavarit_673380278-9_01</a:t>
            </a:r>
          </a:p>
          <a:p>
            <a:r>
              <a:rPr lang="en-US"/>
              <a:t>ภาคผนวกสำหรับถามตอบ</a:t>
            </a:r>
          </a:p>
          <a:p>
            <a:r>
              <a:rPr lang="en-US"/>
              <a:t/>
            </a:r>
          </a:p>
          <a:p>
            <a:r>
              <a:rPr lang="en-US"/>
              <a:t>คำอธิบายบนสไลด์</a:t>
            </a:r>
          </a:p>
          <a:p>
            <a:r>
              <a:rPr lang="en-US"/>
              <a:t>พนักงานเปิดได้เฉพาะโต๊ะ AVAILABLE ที่ผ่านเงื่อนไข</a:t>
            </a:r>
          </a:p>
          <a:p>
            <a:r>
              <a:rPr lang="en-US"/>
              <a:t>ระบบสร้างรอบ ACTIVE พร้อม QR สำหรับให้ลูกค้าแลกสิทธิ์ของรอบนี้</a:t>
            </a:r>
          </a:p>
          <a:p>
            <a:r>
              <a:rPr lang="en-US"/>
              <a:t/>
            </a:r>
          </a:p>
          <a:p>
            <a:r>
              <a:rPr lang="en-US"/>
              <a:t>บทพูด</a:t>
            </a:r>
          </a:p>
          <a:p>
            <a:r>
              <a:rPr lang="en-US"/>
              <a:t>UseCaseDescriptionเปิดรอบ: actorSERVICE_STAFFต้องloginและมีโต๊ะAVAILABLE; รับpackage/soup/countที่ใช้งานได้และไม่เกินcapacity. Mainflowauthorize/lock/validate/snapshot/createACTIVE/issueQR/ตอบ201. Exceptions401ไม่มีlogin,403wrongrole,404ข้อมูลไม่พบ,409กฎขัดแย้งตามhandlerจริง. ส่งงานยังต้องตรวจDataDictionary/migration/tests/README,&gt;=15meaningfulcommitsต่อคนและPRreviewตามrubric ไม่รับรองจำนวนcommitที่ยังไม่audit. CLO3และใบงานต้นฉบับยังไม่ได้รับ ทีมต้องยืนยันmappingก่อนFinal</a:t>
            </a:r>
          </a:p>
          <a:p>
            <a:r>
              <a:rPr lang="en-US"/>
              <a:t/>
            </a:r>
          </a:p>
          <a:p>
            <a:r>
              <a:rPr lang="en-US"/>
              <a:t>แหล่งอ้างอิง</a:t>
            </a:r>
          </a:p>
          <a:p>
            <a:r>
              <a:rPr lang="en-US"/>
              <a:t>https://github.com/PavaritPramual/buffet-restaurant-management-system/blob/855a954a29eb0354c07851fb8da1e44f7adc2f9a/doc/diagrams/presentation-use-case.puml</a:t>
            </a:r>
          </a:p>
          <a:p>
            <a:r>
              <a:rPr lang="en-US"/>
              <a:t>https://github.com/PavaritPramual/buffet-restaurant-management-system/blob/855a954a29eb0354c07851fb8da1e44f7adc2f9a/doc/planning/step3-requirement-matrix.md</a:t>
            </a:r>
          </a:p>
          <a:p>
            <a:r>
              <a:rPr lang="en-US"/>
              <a:t>https://github.com/PavaritPramual/buffet-restaurant-management-system/blob/855a954a29eb0354c07851fb8da1e44f7adc2f9a/README.md</a:t>
            </a:r>
          </a:p>
          <a:p>
            <a:r>
              <a:rPr lang="en-US"/>
              <a:t/>
            </a:r>
          </a:p>
          <a:p>
            <a:r>
              <a:rPr lang="en-US"/>
              <a:t>สถานะเป็นร่างสำหรับทีม review. โค้ด latest develop 855a954 รวม PR49/PR52; public UAT เดิม af2b45b, local Swagger 1823c7f, CI 25c7a40 แยกกัน. ยังไม่ได้ public retest หรือซ้อมจับเวลารอบใหม่. Deployed SHA/schema ต้องเจ้าของยืนยัน. CLO3และใบงานต้นฉบับยังไม่พร้อมตรวจ. ไม่ export PPTX/PDF และไม่ปรับฐานกลางในงานนี้.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TextBox 3" id="3"/>
          <p:cNvSpPr txBox="true"/>
          <p:nvPr/>
        </p:nvSpPr>
        <p:spPr>
          <a:xfrm rot="0">
            <a:off x="2017395" y="1971294"/>
            <a:ext cx="6957060" cy="2197989"/>
          </a:xfrm>
          <a:prstGeom prst="rect">
            <a:avLst/>
          </a:prstGeom>
        </p:spPr>
        <p:txBody>
          <a:bodyPr anchor="t" rtlCol="false" tIns="0" lIns="0" bIns="0" rIns="0">
            <a:spAutoFit/>
          </a:bodyPr>
          <a:lstStyle/>
          <a:p>
            <a:pPr algn="l">
              <a:lnSpc>
                <a:spcPts val="8313"/>
              </a:lnSpc>
            </a:pPr>
            <a:r>
              <a:rPr lang="en-US" b="true" sz="6204">
                <a:solidFill>
                  <a:srgbClr val="173A45"/>
                </a:solidFill>
                <a:latin typeface="Sarabun Bold"/>
                <a:ea typeface="Sarabun Bold"/>
                <a:cs typeface="Sarabun Bold"/>
                <a:sym typeface="Sarabun Bold"/>
              </a:rPr>
              <a:t>ระบบจัดการ ร้านบุฟเฟต์</a:t>
            </a:r>
          </a:p>
        </p:txBody>
      </p:sp>
      <p:sp>
        <p:nvSpPr>
          <p:cNvPr name="TextBox 4" id="4"/>
          <p:cNvSpPr txBox="true"/>
          <p:nvPr/>
        </p:nvSpPr>
        <p:spPr>
          <a:xfrm rot="0">
            <a:off x="2059305" y="4374833"/>
            <a:ext cx="5532120" cy="584073"/>
          </a:xfrm>
          <a:prstGeom prst="rect">
            <a:avLst/>
          </a:prstGeom>
        </p:spPr>
        <p:txBody>
          <a:bodyPr anchor="t" rtlCol="false" tIns="0" lIns="0" bIns="0" rIns="0">
            <a:spAutoFit/>
          </a:bodyPr>
          <a:lstStyle/>
          <a:p>
            <a:pPr algn="l">
              <a:lnSpc>
                <a:spcPts val="4245"/>
              </a:lnSpc>
            </a:pPr>
            <a:r>
              <a:rPr lang="en-US" b="true" sz="3168">
                <a:solidFill>
                  <a:srgbClr val="AC4D31"/>
                </a:solidFill>
                <a:latin typeface="Sarabun Semi-Bold"/>
                <a:ea typeface="Sarabun Semi-Bold"/>
                <a:cs typeface="Sarabun Semi-Bold"/>
                <a:sym typeface="Sarabun Semi-Bold"/>
              </a:rPr>
              <a:t>CP353002</a:t>
            </a:r>
          </a:p>
        </p:txBody>
      </p:sp>
      <p:sp>
        <p:nvSpPr>
          <p:cNvPr name="TextBox 5" id="5"/>
          <p:cNvSpPr txBox="true"/>
          <p:nvPr/>
        </p:nvSpPr>
        <p:spPr>
          <a:xfrm rot="0">
            <a:off x="2059305" y="5105971"/>
            <a:ext cx="5532120" cy="430911"/>
          </a:xfrm>
          <a:prstGeom prst="rect">
            <a:avLst/>
          </a:prstGeom>
        </p:spPr>
        <p:txBody>
          <a:bodyPr anchor="t" rtlCol="false" tIns="0" lIns="0" bIns="0" rIns="0">
            <a:spAutoFit/>
          </a:bodyPr>
          <a:lstStyle/>
          <a:p>
            <a:pPr algn="l">
              <a:lnSpc>
                <a:spcPts val="3183"/>
              </a:lnSpc>
            </a:pPr>
            <a:r>
              <a:rPr lang="en-US" sz="2376">
                <a:solidFill>
                  <a:srgbClr val="647477"/>
                </a:solidFill>
                <a:latin typeface="Sarabun"/>
                <a:ea typeface="Sarabun"/>
                <a:cs typeface="Sarabun"/>
                <a:sym typeface="Sarabun"/>
              </a:rPr>
              <a:t>ทีม 5 คน · 9 นาที</a:t>
            </a:r>
          </a:p>
        </p:txBody>
      </p:sp>
      <p:sp>
        <p:nvSpPr>
          <p:cNvPr name="AutoShape 6" id="6"/>
          <p:cNvSpPr/>
          <p:nvPr/>
        </p:nvSpPr>
        <p:spPr>
          <a:xfrm rot="0">
            <a:off x="9728835" y="5955030"/>
            <a:ext cx="5448300" cy="201168"/>
          </a:xfrm>
          <a:prstGeom prst="rect">
            <a:avLst/>
          </a:prstGeom>
          <a:solidFill>
            <a:srgbClr val="173A45"/>
          </a:solidFill>
        </p:spPr>
      </p:sp>
      <p:sp>
        <p:nvSpPr>
          <p:cNvPr name="AutoShape 7" id="7"/>
          <p:cNvSpPr/>
          <p:nvPr/>
        </p:nvSpPr>
        <p:spPr>
          <a:xfrm rot="0">
            <a:off x="10315575" y="6156198"/>
            <a:ext cx="167640" cy="1173480"/>
          </a:xfrm>
          <a:prstGeom prst="rect">
            <a:avLst/>
          </a:prstGeom>
          <a:solidFill>
            <a:srgbClr val="173A45"/>
          </a:solidFill>
        </p:spPr>
      </p:sp>
      <p:sp>
        <p:nvSpPr>
          <p:cNvPr name="AutoShape 8" id="8"/>
          <p:cNvSpPr/>
          <p:nvPr/>
        </p:nvSpPr>
        <p:spPr>
          <a:xfrm rot="0">
            <a:off x="14380845" y="6156198"/>
            <a:ext cx="167640" cy="1173480"/>
          </a:xfrm>
          <a:prstGeom prst="rect">
            <a:avLst/>
          </a:prstGeom>
          <a:solidFill>
            <a:srgbClr val="173A45"/>
          </a:solidFill>
        </p:spPr>
      </p:sp>
      <p:grpSp>
        <p:nvGrpSpPr>
          <p:cNvPr name="Group 9" id="9"/>
          <p:cNvGrpSpPr/>
          <p:nvPr/>
        </p:nvGrpSpPr>
        <p:grpSpPr>
          <a:xfrm rot="0">
            <a:off x="11237595" y="3582924"/>
            <a:ext cx="1844040" cy="1844040"/>
            <a:chOff x="0" y="0"/>
            <a:chExt cx="2458720" cy="2458720"/>
          </a:xfrm>
        </p:grpSpPr>
        <p:sp>
          <p:nvSpPr>
            <p:cNvPr name="Freeform 10" id="10"/>
            <p:cNvSpPr/>
            <p:nvPr/>
          </p:nvSpPr>
          <p:spPr>
            <a:xfrm flipH="false" flipV="false" rot="0">
              <a:off x="0" y="0"/>
              <a:ext cx="2458720" cy="2458720"/>
            </a:xfrm>
            <a:custGeom>
              <a:avLst/>
              <a:gdLst/>
              <a:ahLst/>
              <a:cxnLst/>
              <a:rect r="r" b="b" t="t" l="l"/>
              <a:pathLst>
                <a:path h="2458720" w="2458720">
                  <a:moveTo>
                    <a:pt x="1229360" y="0"/>
                  </a:moveTo>
                  <a:cubicBezTo>
                    <a:pt x="1908302" y="0"/>
                    <a:pt x="2458720" y="550418"/>
                    <a:pt x="2458720" y="1229360"/>
                  </a:cubicBezTo>
                  <a:cubicBezTo>
                    <a:pt x="2458720" y="1908302"/>
                    <a:pt x="1908302" y="2458720"/>
                    <a:pt x="1229360" y="2458720"/>
                  </a:cubicBezTo>
                  <a:cubicBezTo>
                    <a:pt x="550418" y="2458720"/>
                    <a:pt x="0" y="1908302"/>
                    <a:pt x="0" y="1229360"/>
                  </a:cubicBezTo>
                  <a:cubicBezTo>
                    <a:pt x="0" y="550418"/>
                    <a:pt x="550418" y="0"/>
                    <a:pt x="1229360" y="0"/>
                  </a:cubicBezTo>
                  <a:close/>
                </a:path>
              </a:pathLst>
            </a:custGeom>
            <a:solidFill>
              <a:srgbClr val="FFFFFF"/>
            </a:solidFill>
          </p:spPr>
        </p:sp>
        <p:sp>
          <p:nvSpPr>
            <p:cNvPr name="Freeform 11" id="11"/>
            <p:cNvSpPr/>
            <p:nvPr/>
          </p:nvSpPr>
          <p:spPr>
            <a:xfrm flipH="false" flipV="false" rot="0">
              <a:off x="0" y="0"/>
              <a:ext cx="2458720" cy="2458720"/>
            </a:xfrm>
            <a:custGeom>
              <a:avLst/>
              <a:gdLst/>
              <a:ahLst/>
              <a:cxnLst/>
              <a:rect r="r" b="b" t="t" l="l"/>
              <a:pathLst>
                <a:path h="2458720" w="2458720">
                  <a:moveTo>
                    <a:pt x="1229360" y="0"/>
                  </a:moveTo>
                  <a:cubicBezTo>
                    <a:pt x="1908302" y="0"/>
                    <a:pt x="2458720" y="550418"/>
                    <a:pt x="2458720" y="1229360"/>
                  </a:cubicBezTo>
                  <a:cubicBezTo>
                    <a:pt x="2458720" y="1908302"/>
                    <a:pt x="1908302" y="2458720"/>
                    <a:pt x="1229360" y="2458720"/>
                  </a:cubicBezTo>
                  <a:cubicBezTo>
                    <a:pt x="550418" y="2458720"/>
                    <a:pt x="0" y="1908302"/>
                    <a:pt x="0" y="1229360"/>
                  </a:cubicBezTo>
                  <a:cubicBezTo>
                    <a:pt x="0" y="550418"/>
                    <a:pt x="550418" y="0"/>
                    <a:pt x="1229360" y="0"/>
                  </a:cubicBezTo>
                  <a:close/>
                </a:path>
              </a:pathLst>
            </a:custGeom>
            <a:solidFill>
              <a:srgbClr val="000000">
                <a:alpha val="0"/>
              </a:srgbClr>
            </a:solidFill>
            <a:ln w="28575" cap="sq">
              <a:solidFill>
                <a:srgbClr val="173A45"/>
              </a:solidFill>
              <a:prstDash val="solid"/>
              <a:miter/>
            </a:ln>
          </p:spPr>
        </p:sp>
      </p:grpSp>
      <p:grpSp>
        <p:nvGrpSpPr>
          <p:cNvPr name="Group 12" id="12"/>
          <p:cNvGrpSpPr/>
          <p:nvPr/>
        </p:nvGrpSpPr>
        <p:grpSpPr>
          <a:xfrm rot="0">
            <a:off x="11514201" y="3859530"/>
            <a:ext cx="1290828" cy="1290828"/>
            <a:chOff x="0" y="0"/>
            <a:chExt cx="1721104" cy="1721104"/>
          </a:xfrm>
        </p:grpSpPr>
        <p:sp>
          <p:nvSpPr>
            <p:cNvPr name="Freeform 13" id="13"/>
            <p:cNvSpPr/>
            <p:nvPr/>
          </p:nvSpPr>
          <p:spPr>
            <a:xfrm flipH="false" flipV="false" rot="0">
              <a:off x="0" y="0"/>
              <a:ext cx="1721104" cy="1721104"/>
            </a:xfrm>
            <a:custGeom>
              <a:avLst/>
              <a:gdLst/>
              <a:ahLst/>
              <a:cxnLst/>
              <a:rect r="r" b="b" t="t" l="l"/>
              <a:pathLst>
                <a:path h="1721104" w="1721104">
                  <a:moveTo>
                    <a:pt x="860552" y="0"/>
                  </a:moveTo>
                  <a:cubicBezTo>
                    <a:pt x="1335786" y="0"/>
                    <a:pt x="1721104" y="385318"/>
                    <a:pt x="1721104" y="860552"/>
                  </a:cubicBezTo>
                  <a:cubicBezTo>
                    <a:pt x="1721104" y="1335786"/>
                    <a:pt x="1335786" y="1721104"/>
                    <a:pt x="860552" y="1721104"/>
                  </a:cubicBezTo>
                  <a:cubicBezTo>
                    <a:pt x="385318" y="1721104"/>
                    <a:pt x="0" y="1335786"/>
                    <a:pt x="0" y="860552"/>
                  </a:cubicBezTo>
                  <a:cubicBezTo>
                    <a:pt x="0" y="385318"/>
                    <a:pt x="385318" y="0"/>
                    <a:pt x="860552" y="0"/>
                  </a:cubicBezTo>
                  <a:close/>
                </a:path>
              </a:pathLst>
            </a:custGeom>
            <a:solidFill>
              <a:srgbClr val="F1E3CB"/>
            </a:solidFill>
          </p:spPr>
        </p:sp>
        <p:sp>
          <p:nvSpPr>
            <p:cNvPr name="Freeform 14" id="14"/>
            <p:cNvSpPr/>
            <p:nvPr/>
          </p:nvSpPr>
          <p:spPr>
            <a:xfrm flipH="false" flipV="false" rot="0">
              <a:off x="0" y="0"/>
              <a:ext cx="1721104" cy="1721104"/>
            </a:xfrm>
            <a:custGeom>
              <a:avLst/>
              <a:gdLst/>
              <a:ahLst/>
              <a:cxnLst/>
              <a:rect r="r" b="b" t="t" l="l"/>
              <a:pathLst>
                <a:path h="1721104" w="1721104">
                  <a:moveTo>
                    <a:pt x="860552" y="0"/>
                  </a:moveTo>
                  <a:cubicBezTo>
                    <a:pt x="1335786" y="0"/>
                    <a:pt x="1721104" y="385318"/>
                    <a:pt x="1721104" y="860552"/>
                  </a:cubicBezTo>
                  <a:cubicBezTo>
                    <a:pt x="1721104" y="1335786"/>
                    <a:pt x="1335786" y="1721104"/>
                    <a:pt x="860552" y="1721104"/>
                  </a:cubicBezTo>
                  <a:cubicBezTo>
                    <a:pt x="385318" y="1721104"/>
                    <a:pt x="0" y="1335786"/>
                    <a:pt x="0" y="860552"/>
                  </a:cubicBezTo>
                  <a:cubicBezTo>
                    <a:pt x="0" y="385318"/>
                    <a:pt x="385318" y="0"/>
                    <a:pt x="860552" y="0"/>
                  </a:cubicBezTo>
                  <a:close/>
                </a:path>
              </a:pathLst>
            </a:custGeom>
            <a:solidFill>
              <a:srgbClr val="000000">
                <a:alpha val="0"/>
              </a:srgbClr>
            </a:solidFill>
            <a:ln w="28575" cap="sq">
              <a:solidFill>
                <a:srgbClr val="173A45"/>
              </a:solidFill>
              <a:prstDash val="solid"/>
              <a:miter/>
            </a:ln>
          </p:spPr>
        </p:sp>
      </p:grpSp>
      <p:sp>
        <p:nvSpPr>
          <p:cNvPr name="AutoShape 15" id="15"/>
          <p:cNvSpPr/>
          <p:nvPr/>
        </p:nvSpPr>
        <p:spPr>
          <a:xfrm rot="0">
            <a:off x="10933176" y="3629025"/>
            <a:ext cx="33528" cy="1751838"/>
          </a:xfrm>
          <a:prstGeom prst="rect">
            <a:avLst/>
          </a:prstGeom>
          <a:solidFill>
            <a:srgbClr val="173A45"/>
          </a:solidFill>
        </p:spPr>
      </p:sp>
      <p:sp>
        <p:nvSpPr>
          <p:cNvPr name="AutoShape 16" id="16"/>
          <p:cNvSpPr/>
          <p:nvPr/>
        </p:nvSpPr>
        <p:spPr>
          <a:xfrm rot="0">
            <a:off x="13339762" y="3629025"/>
            <a:ext cx="33528" cy="1751838"/>
          </a:xfrm>
          <a:prstGeom prst="rect">
            <a:avLst/>
          </a:prstGeom>
          <a:solidFill>
            <a:srgbClr val="173A45"/>
          </a:solidFill>
        </p:spPr>
      </p:sp>
      <p:grpSp>
        <p:nvGrpSpPr>
          <p:cNvPr name="Group 17" id="17"/>
          <p:cNvGrpSpPr/>
          <p:nvPr/>
        </p:nvGrpSpPr>
        <p:grpSpPr>
          <a:xfrm rot="0">
            <a:off x="10842688" y="3580828"/>
            <a:ext cx="217932" cy="511302"/>
            <a:chOff x="0" y="0"/>
            <a:chExt cx="290576" cy="681736"/>
          </a:xfrm>
        </p:grpSpPr>
        <p:sp>
          <p:nvSpPr>
            <p:cNvPr name="Freeform 18" id="18"/>
            <p:cNvSpPr/>
            <p:nvPr/>
          </p:nvSpPr>
          <p:spPr>
            <a:xfrm flipH="false" flipV="false" rot="0">
              <a:off x="0" y="0"/>
              <a:ext cx="290576" cy="681736"/>
            </a:xfrm>
            <a:custGeom>
              <a:avLst/>
              <a:gdLst/>
              <a:ahLst/>
              <a:cxnLst/>
              <a:rect r="r" b="b" t="t" l="l"/>
              <a:pathLst>
                <a:path h="681736" w="290576">
                  <a:moveTo>
                    <a:pt x="97790" y="0"/>
                  </a:moveTo>
                  <a:lnTo>
                    <a:pt x="192786" y="0"/>
                  </a:lnTo>
                  <a:cubicBezTo>
                    <a:pt x="246761" y="0"/>
                    <a:pt x="290576" y="43815"/>
                    <a:pt x="290576" y="97790"/>
                  </a:cubicBezTo>
                  <a:lnTo>
                    <a:pt x="290576" y="583946"/>
                  </a:lnTo>
                  <a:cubicBezTo>
                    <a:pt x="290576" y="637921"/>
                    <a:pt x="246761" y="681736"/>
                    <a:pt x="192786" y="681736"/>
                  </a:cubicBezTo>
                  <a:lnTo>
                    <a:pt x="97790" y="681736"/>
                  </a:lnTo>
                  <a:cubicBezTo>
                    <a:pt x="43815" y="681736"/>
                    <a:pt x="0" y="637921"/>
                    <a:pt x="0" y="583946"/>
                  </a:cubicBezTo>
                  <a:lnTo>
                    <a:pt x="0" y="97790"/>
                  </a:lnTo>
                  <a:cubicBezTo>
                    <a:pt x="0" y="43815"/>
                    <a:pt x="43815" y="0"/>
                    <a:pt x="97790" y="0"/>
                  </a:cubicBezTo>
                  <a:close/>
                </a:path>
              </a:pathLst>
            </a:custGeom>
            <a:solidFill>
              <a:srgbClr val="173A45"/>
            </a:solidFill>
          </p:spPr>
        </p:sp>
      </p:grpSp>
      <p:grpSp>
        <p:nvGrpSpPr>
          <p:cNvPr name="Group 19" id="19"/>
          <p:cNvGrpSpPr/>
          <p:nvPr/>
        </p:nvGrpSpPr>
        <p:grpSpPr>
          <a:xfrm rot="0">
            <a:off x="13274326" y="3580828"/>
            <a:ext cx="167640" cy="787908"/>
            <a:chOff x="0" y="0"/>
            <a:chExt cx="223520" cy="1050544"/>
          </a:xfrm>
        </p:grpSpPr>
        <p:sp>
          <p:nvSpPr>
            <p:cNvPr name="Freeform 20" id="20"/>
            <p:cNvSpPr/>
            <p:nvPr/>
          </p:nvSpPr>
          <p:spPr>
            <a:xfrm flipH="false" flipV="false" rot="0">
              <a:off x="0" y="0"/>
              <a:ext cx="223520" cy="1050544"/>
            </a:xfrm>
            <a:custGeom>
              <a:avLst/>
              <a:gdLst/>
              <a:ahLst/>
              <a:cxnLst/>
              <a:rect r="r" b="b" t="t" l="l"/>
              <a:pathLst>
                <a:path h="1050544" w="223520">
                  <a:moveTo>
                    <a:pt x="97790" y="0"/>
                  </a:moveTo>
                  <a:lnTo>
                    <a:pt x="125730" y="0"/>
                  </a:lnTo>
                  <a:cubicBezTo>
                    <a:pt x="179705" y="0"/>
                    <a:pt x="223520" y="43815"/>
                    <a:pt x="223520" y="97790"/>
                  </a:cubicBezTo>
                  <a:lnTo>
                    <a:pt x="223520" y="952754"/>
                  </a:lnTo>
                  <a:cubicBezTo>
                    <a:pt x="223520" y="1006729"/>
                    <a:pt x="179705" y="1050544"/>
                    <a:pt x="125730" y="1050544"/>
                  </a:cubicBezTo>
                  <a:lnTo>
                    <a:pt x="97790" y="1050544"/>
                  </a:lnTo>
                  <a:cubicBezTo>
                    <a:pt x="43815" y="1050544"/>
                    <a:pt x="0" y="1006729"/>
                    <a:pt x="0" y="952754"/>
                  </a:cubicBezTo>
                  <a:lnTo>
                    <a:pt x="0" y="97790"/>
                  </a:lnTo>
                  <a:cubicBezTo>
                    <a:pt x="0" y="43815"/>
                    <a:pt x="43815" y="0"/>
                    <a:pt x="97790" y="0"/>
                  </a:cubicBezTo>
                  <a:close/>
                </a:path>
              </a:pathLst>
            </a:custGeom>
            <a:solidFill>
              <a:srgbClr val="173A45"/>
            </a:solidFill>
          </p:spPr>
        </p:sp>
      </p:grpSp>
      <p:grpSp>
        <p:nvGrpSpPr>
          <p:cNvPr name="Group 21" id="21"/>
          <p:cNvGrpSpPr/>
          <p:nvPr/>
        </p:nvGrpSpPr>
        <p:grpSpPr>
          <a:xfrm rot="0">
            <a:off x="9393555" y="3105150"/>
            <a:ext cx="1139952" cy="1911096"/>
            <a:chOff x="0" y="0"/>
            <a:chExt cx="1519936" cy="2548128"/>
          </a:xfrm>
        </p:grpSpPr>
        <p:sp>
          <p:nvSpPr>
            <p:cNvPr name="Freeform 22" id="22"/>
            <p:cNvSpPr/>
            <p:nvPr/>
          </p:nvSpPr>
          <p:spPr>
            <a:xfrm flipH="false" flipV="false" rot="0">
              <a:off x="0" y="0"/>
              <a:ext cx="1519936" cy="2548128"/>
            </a:xfrm>
            <a:custGeom>
              <a:avLst/>
              <a:gdLst/>
              <a:ahLst/>
              <a:cxnLst/>
              <a:rect r="r" b="b" t="t" l="l"/>
              <a:pathLst>
                <a:path h="2548128" w="1519936">
                  <a:moveTo>
                    <a:pt x="243840" y="0"/>
                  </a:moveTo>
                  <a:lnTo>
                    <a:pt x="1276096" y="0"/>
                  </a:lnTo>
                  <a:cubicBezTo>
                    <a:pt x="1410716" y="0"/>
                    <a:pt x="1519936" y="109220"/>
                    <a:pt x="1519936" y="243840"/>
                  </a:cubicBezTo>
                  <a:lnTo>
                    <a:pt x="1519936" y="2304288"/>
                  </a:lnTo>
                  <a:cubicBezTo>
                    <a:pt x="1519936" y="2438908"/>
                    <a:pt x="1410716" y="2548128"/>
                    <a:pt x="1276096" y="2548128"/>
                  </a:cubicBezTo>
                  <a:lnTo>
                    <a:pt x="243840" y="2548128"/>
                  </a:lnTo>
                  <a:cubicBezTo>
                    <a:pt x="109220" y="2548128"/>
                    <a:pt x="0" y="2438908"/>
                    <a:pt x="0" y="2304288"/>
                  </a:cubicBezTo>
                  <a:lnTo>
                    <a:pt x="0" y="243840"/>
                  </a:lnTo>
                  <a:cubicBezTo>
                    <a:pt x="0" y="109220"/>
                    <a:pt x="109220" y="0"/>
                    <a:pt x="243840" y="0"/>
                  </a:cubicBezTo>
                  <a:close/>
                </a:path>
              </a:pathLst>
            </a:custGeom>
            <a:solidFill>
              <a:srgbClr val="173A45"/>
            </a:solidFill>
          </p:spPr>
        </p:sp>
      </p:grpSp>
      <p:grpSp>
        <p:nvGrpSpPr>
          <p:cNvPr name="Group 23" id="23"/>
          <p:cNvGrpSpPr/>
          <p:nvPr/>
        </p:nvGrpSpPr>
        <p:grpSpPr>
          <a:xfrm rot="0">
            <a:off x="9481471" y="3272790"/>
            <a:ext cx="963930" cy="1542288"/>
            <a:chOff x="0" y="0"/>
            <a:chExt cx="1285240" cy="2056384"/>
          </a:xfrm>
        </p:grpSpPr>
        <p:sp>
          <p:nvSpPr>
            <p:cNvPr name="Freeform 24" id="24"/>
            <p:cNvSpPr/>
            <p:nvPr/>
          </p:nvSpPr>
          <p:spPr>
            <a:xfrm flipH="false" flipV="false" rot="0">
              <a:off x="0" y="0"/>
              <a:ext cx="1285240" cy="2056384"/>
            </a:xfrm>
            <a:custGeom>
              <a:avLst/>
              <a:gdLst/>
              <a:ahLst/>
              <a:cxnLst/>
              <a:rect r="r" b="b" t="t" l="l"/>
              <a:pathLst>
                <a:path h="2056384" w="1285240">
                  <a:moveTo>
                    <a:pt x="81280" y="0"/>
                  </a:moveTo>
                  <a:lnTo>
                    <a:pt x="1203960" y="0"/>
                  </a:lnTo>
                  <a:cubicBezTo>
                    <a:pt x="1248791" y="0"/>
                    <a:pt x="1285240" y="36449"/>
                    <a:pt x="1285240" y="81280"/>
                  </a:cubicBezTo>
                  <a:lnTo>
                    <a:pt x="1285240" y="1975104"/>
                  </a:lnTo>
                  <a:cubicBezTo>
                    <a:pt x="1285240" y="2019935"/>
                    <a:pt x="1248791" y="2056384"/>
                    <a:pt x="1203960" y="2056384"/>
                  </a:cubicBezTo>
                  <a:lnTo>
                    <a:pt x="81280" y="2056384"/>
                  </a:lnTo>
                  <a:cubicBezTo>
                    <a:pt x="36449" y="2056384"/>
                    <a:pt x="0" y="2019935"/>
                    <a:pt x="0" y="1975104"/>
                  </a:cubicBezTo>
                  <a:lnTo>
                    <a:pt x="0" y="81280"/>
                  </a:lnTo>
                  <a:cubicBezTo>
                    <a:pt x="0" y="36449"/>
                    <a:pt x="36449" y="0"/>
                    <a:pt x="81280" y="0"/>
                  </a:cubicBezTo>
                  <a:close/>
                </a:path>
              </a:pathLst>
            </a:custGeom>
            <a:solidFill>
              <a:srgbClr val="FFFFFF"/>
            </a:solidFill>
          </p:spPr>
        </p:sp>
      </p:grpSp>
      <p:grpSp>
        <p:nvGrpSpPr>
          <p:cNvPr name="Group 25" id="25"/>
          <p:cNvGrpSpPr/>
          <p:nvPr/>
        </p:nvGrpSpPr>
        <p:grpSpPr>
          <a:xfrm rot="0">
            <a:off x="9820942" y="3172206"/>
            <a:ext cx="284988" cy="33528"/>
            <a:chOff x="0" y="0"/>
            <a:chExt cx="379984" cy="44704"/>
          </a:xfrm>
        </p:grpSpPr>
        <p:sp>
          <p:nvSpPr>
            <p:cNvPr name="Freeform 26" id="26"/>
            <p:cNvSpPr/>
            <p:nvPr/>
          </p:nvSpPr>
          <p:spPr>
            <a:xfrm flipH="false" flipV="false" rot="0">
              <a:off x="0" y="0"/>
              <a:ext cx="379984" cy="44704"/>
            </a:xfrm>
            <a:custGeom>
              <a:avLst/>
              <a:gdLst/>
              <a:ahLst/>
              <a:cxnLst/>
              <a:rect r="r" b="b" t="t" l="l"/>
              <a:pathLst>
                <a:path h="44704" w="379984">
                  <a:moveTo>
                    <a:pt x="20320" y="0"/>
                  </a:moveTo>
                  <a:lnTo>
                    <a:pt x="359664" y="0"/>
                  </a:lnTo>
                  <a:cubicBezTo>
                    <a:pt x="370840" y="0"/>
                    <a:pt x="379984" y="9144"/>
                    <a:pt x="379984" y="20320"/>
                  </a:cubicBezTo>
                  <a:lnTo>
                    <a:pt x="379984" y="24384"/>
                  </a:lnTo>
                  <a:cubicBezTo>
                    <a:pt x="379984" y="35560"/>
                    <a:pt x="370840" y="44704"/>
                    <a:pt x="359664" y="44704"/>
                  </a:cubicBezTo>
                  <a:lnTo>
                    <a:pt x="20320" y="44704"/>
                  </a:lnTo>
                  <a:cubicBezTo>
                    <a:pt x="9144" y="44704"/>
                    <a:pt x="0" y="35560"/>
                    <a:pt x="0" y="24384"/>
                  </a:cubicBezTo>
                  <a:lnTo>
                    <a:pt x="0" y="20320"/>
                  </a:lnTo>
                  <a:cubicBezTo>
                    <a:pt x="0" y="9144"/>
                    <a:pt x="9144" y="0"/>
                    <a:pt x="20320" y="0"/>
                  </a:cubicBezTo>
                  <a:close/>
                </a:path>
              </a:pathLst>
            </a:custGeom>
            <a:solidFill>
              <a:srgbClr val="FFFFFF"/>
            </a:solidFill>
          </p:spPr>
        </p:sp>
      </p:grpSp>
      <p:grpSp>
        <p:nvGrpSpPr>
          <p:cNvPr name="Group 27" id="27"/>
          <p:cNvGrpSpPr/>
          <p:nvPr/>
        </p:nvGrpSpPr>
        <p:grpSpPr>
          <a:xfrm rot="0">
            <a:off x="9908953" y="4874514"/>
            <a:ext cx="108966" cy="108966"/>
            <a:chOff x="0" y="0"/>
            <a:chExt cx="145288" cy="145288"/>
          </a:xfrm>
        </p:grpSpPr>
        <p:sp>
          <p:nvSpPr>
            <p:cNvPr name="Freeform 28" id="28"/>
            <p:cNvSpPr/>
            <p:nvPr/>
          </p:nvSpPr>
          <p:spPr>
            <a:xfrm flipH="false" flipV="false" rot="0">
              <a:off x="0" y="0"/>
              <a:ext cx="145288" cy="145288"/>
            </a:xfrm>
            <a:custGeom>
              <a:avLst/>
              <a:gdLst/>
              <a:ahLst/>
              <a:cxnLst/>
              <a:rect r="r" b="b" t="t" l="l"/>
              <a:pathLst>
                <a:path h="145288" w="145288">
                  <a:moveTo>
                    <a:pt x="72644" y="0"/>
                  </a:moveTo>
                  <a:cubicBezTo>
                    <a:pt x="112776" y="0"/>
                    <a:pt x="145288" y="32512"/>
                    <a:pt x="145288" y="72644"/>
                  </a:cubicBezTo>
                  <a:cubicBezTo>
                    <a:pt x="145288" y="112776"/>
                    <a:pt x="112776" y="145288"/>
                    <a:pt x="72644" y="145288"/>
                  </a:cubicBezTo>
                  <a:cubicBezTo>
                    <a:pt x="32512" y="145288"/>
                    <a:pt x="0" y="112776"/>
                    <a:pt x="0" y="72644"/>
                  </a:cubicBezTo>
                  <a:cubicBezTo>
                    <a:pt x="0" y="32512"/>
                    <a:pt x="32512" y="0"/>
                    <a:pt x="72644" y="0"/>
                  </a:cubicBezTo>
                  <a:close/>
                </a:path>
              </a:pathLst>
            </a:custGeom>
            <a:solidFill>
              <a:srgbClr val="FFFFFF"/>
            </a:solidFill>
          </p:spPr>
        </p:sp>
      </p:grpSp>
      <p:sp>
        <p:nvSpPr>
          <p:cNvPr name="AutoShape 29" id="29"/>
          <p:cNvSpPr/>
          <p:nvPr/>
        </p:nvSpPr>
        <p:spPr>
          <a:xfrm rot="0">
            <a:off x="9628251" y="3587877"/>
            <a:ext cx="234696" cy="234696"/>
          </a:xfrm>
          <a:prstGeom prst="rect">
            <a:avLst/>
          </a:prstGeom>
          <a:solidFill>
            <a:srgbClr val="173A45"/>
          </a:solidFill>
        </p:spPr>
      </p:sp>
      <p:sp>
        <p:nvSpPr>
          <p:cNvPr name="AutoShape 30" id="30"/>
          <p:cNvSpPr/>
          <p:nvPr/>
        </p:nvSpPr>
        <p:spPr>
          <a:xfrm rot="0">
            <a:off x="10030587" y="3587877"/>
            <a:ext cx="234696" cy="234696"/>
          </a:xfrm>
          <a:prstGeom prst="rect">
            <a:avLst/>
          </a:prstGeom>
          <a:solidFill>
            <a:srgbClr val="173A45"/>
          </a:solidFill>
        </p:spPr>
      </p:sp>
      <p:sp>
        <p:nvSpPr>
          <p:cNvPr name="AutoShape 31" id="31"/>
          <p:cNvSpPr/>
          <p:nvPr/>
        </p:nvSpPr>
        <p:spPr>
          <a:xfrm rot="0">
            <a:off x="9628251" y="3990213"/>
            <a:ext cx="234696" cy="234696"/>
          </a:xfrm>
          <a:prstGeom prst="rect">
            <a:avLst/>
          </a:prstGeom>
          <a:solidFill>
            <a:srgbClr val="173A45"/>
          </a:solidFill>
        </p:spPr>
      </p:sp>
      <p:sp>
        <p:nvSpPr>
          <p:cNvPr name="AutoShape 32" id="32"/>
          <p:cNvSpPr/>
          <p:nvPr/>
        </p:nvSpPr>
        <p:spPr>
          <a:xfrm rot="0">
            <a:off x="10029730" y="3989356"/>
            <a:ext cx="108966" cy="108966"/>
          </a:xfrm>
          <a:prstGeom prst="rect">
            <a:avLst/>
          </a:prstGeom>
          <a:solidFill>
            <a:srgbClr val="173A45"/>
          </a:solidFill>
        </p:spPr>
      </p:sp>
      <p:sp>
        <p:nvSpPr>
          <p:cNvPr name="AutoShape 33" id="33"/>
          <p:cNvSpPr/>
          <p:nvPr/>
        </p:nvSpPr>
        <p:spPr>
          <a:xfrm rot="0">
            <a:off x="10149554" y="4115943"/>
            <a:ext cx="117348" cy="117348"/>
          </a:xfrm>
          <a:prstGeom prst="rect">
            <a:avLst/>
          </a:prstGeom>
          <a:solidFill>
            <a:srgbClr val="173A45"/>
          </a:solidFill>
        </p:spPr>
      </p:sp>
      <p:sp>
        <p:nvSpPr>
          <p:cNvPr name="AutoShape 34" id="34"/>
          <p:cNvSpPr/>
          <p:nvPr/>
        </p:nvSpPr>
        <p:spPr>
          <a:xfrm rot="0">
            <a:off x="9910667" y="3863626"/>
            <a:ext cx="92202" cy="92202"/>
          </a:xfrm>
          <a:prstGeom prst="rect">
            <a:avLst/>
          </a:prstGeom>
          <a:solidFill>
            <a:srgbClr val="173A45"/>
          </a:solidFill>
        </p:spPr>
      </p:sp>
      <p:grpSp>
        <p:nvGrpSpPr>
          <p:cNvPr name="Group 35" id="35"/>
          <p:cNvGrpSpPr/>
          <p:nvPr/>
        </p:nvGrpSpPr>
        <p:grpSpPr>
          <a:xfrm rot="0">
            <a:off x="13685139" y="4253484"/>
            <a:ext cx="1408176" cy="838200"/>
            <a:chOff x="0" y="0"/>
            <a:chExt cx="1877568" cy="1117600"/>
          </a:xfrm>
        </p:grpSpPr>
        <p:sp>
          <p:nvSpPr>
            <p:cNvPr name="Freeform 36" id="36"/>
            <p:cNvSpPr/>
            <p:nvPr/>
          </p:nvSpPr>
          <p:spPr>
            <a:xfrm flipH="false" flipV="false" rot="0">
              <a:off x="0" y="0"/>
              <a:ext cx="1877568" cy="1117600"/>
            </a:xfrm>
            <a:custGeom>
              <a:avLst/>
              <a:gdLst/>
              <a:ahLst/>
              <a:cxnLst/>
              <a:rect r="r" b="b" t="t" l="l"/>
              <a:pathLst>
                <a:path h="1117600" w="1877568">
                  <a:moveTo>
                    <a:pt x="254000" y="0"/>
                  </a:moveTo>
                  <a:lnTo>
                    <a:pt x="1623568" y="0"/>
                  </a:lnTo>
                  <a:cubicBezTo>
                    <a:pt x="1763903" y="0"/>
                    <a:pt x="1877568" y="113665"/>
                    <a:pt x="1877568" y="254000"/>
                  </a:cubicBezTo>
                  <a:lnTo>
                    <a:pt x="1877568" y="863600"/>
                  </a:lnTo>
                  <a:cubicBezTo>
                    <a:pt x="1877568" y="1003935"/>
                    <a:pt x="1763903" y="1117600"/>
                    <a:pt x="1623568" y="1117600"/>
                  </a:cubicBezTo>
                  <a:lnTo>
                    <a:pt x="254000" y="1117600"/>
                  </a:lnTo>
                  <a:cubicBezTo>
                    <a:pt x="113665" y="1117600"/>
                    <a:pt x="0" y="1003935"/>
                    <a:pt x="0" y="863600"/>
                  </a:cubicBezTo>
                  <a:lnTo>
                    <a:pt x="0" y="254000"/>
                  </a:lnTo>
                  <a:cubicBezTo>
                    <a:pt x="0" y="113665"/>
                    <a:pt x="113665" y="0"/>
                    <a:pt x="254000" y="0"/>
                  </a:cubicBezTo>
                  <a:close/>
                </a:path>
              </a:pathLst>
            </a:custGeom>
            <a:solidFill>
              <a:srgbClr val="28766D"/>
            </a:solidFill>
          </p:spPr>
        </p:sp>
      </p:grpSp>
      <p:grpSp>
        <p:nvGrpSpPr>
          <p:cNvPr name="Group 37" id="37"/>
          <p:cNvGrpSpPr/>
          <p:nvPr/>
        </p:nvGrpSpPr>
        <p:grpSpPr>
          <a:xfrm rot="0">
            <a:off x="13584555" y="4421124"/>
            <a:ext cx="201168" cy="134112"/>
            <a:chOff x="0" y="0"/>
            <a:chExt cx="268224" cy="178816"/>
          </a:xfrm>
        </p:grpSpPr>
        <p:sp>
          <p:nvSpPr>
            <p:cNvPr name="Freeform 38" id="38"/>
            <p:cNvSpPr/>
            <p:nvPr/>
          </p:nvSpPr>
          <p:spPr>
            <a:xfrm flipH="false" flipV="false" rot="0">
              <a:off x="0" y="0"/>
              <a:ext cx="268224" cy="178816"/>
            </a:xfrm>
            <a:custGeom>
              <a:avLst/>
              <a:gdLst/>
              <a:ahLst/>
              <a:cxnLst/>
              <a:rect r="r" b="b" t="t" l="l"/>
              <a:pathLst>
                <a:path h="178816" w="268224">
                  <a:moveTo>
                    <a:pt x="81280" y="0"/>
                  </a:moveTo>
                  <a:lnTo>
                    <a:pt x="186944" y="0"/>
                  </a:lnTo>
                  <a:cubicBezTo>
                    <a:pt x="231775" y="0"/>
                    <a:pt x="268224" y="36449"/>
                    <a:pt x="268224" y="81280"/>
                  </a:cubicBezTo>
                  <a:lnTo>
                    <a:pt x="268224" y="97536"/>
                  </a:lnTo>
                  <a:cubicBezTo>
                    <a:pt x="268224" y="142367"/>
                    <a:pt x="231775" y="178816"/>
                    <a:pt x="186944" y="178816"/>
                  </a:cubicBezTo>
                  <a:lnTo>
                    <a:pt x="81280" y="178816"/>
                  </a:lnTo>
                  <a:cubicBezTo>
                    <a:pt x="36449" y="178816"/>
                    <a:pt x="0" y="142367"/>
                    <a:pt x="0" y="97536"/>
                  </a:cubicBezTo>
                  <a:lnTo>
                    <a:pt x="0" y="81280"/>
                  </a:lnTo>
                  <a:cubicBezTo>
                    <a:pt x="0" y="36449"/>
                    <a:pt x="36449" y="0"/>
                    <a:pt x="81280" y="0"/>
                  </a:cubicBezTo>
                  <a:close/>
                </a:path>
              </a:pathLst>
            </a:custGeom>
            <a:solidFill>
              <a:srgbClr val="28766D"/>
            </a:solidFill>
          </p:spPr>
        </p:sp>
      </p:grpSp>
      <p:grpSp>
        <p:nvGrpSpPr>
          <p:cNvPr name="Group 39" id="39"/>
          <p:cNvGrpSpPr/>
          <p:nvPr/>
        </p:nvGrpSpPr>
        <p:grpSpPr>
          <a:xfrm rot="0">
            <a:off x="15026259" y="4421124"/>
            <a:ext cx="201168" cy="134112"/>
            <a:chOff x="0" y="0"/>
            <a:chExt cx="268224" cy="178816"/>
          </a:xfrm>
        </p:grpSpPr>
        <p:sp>
          <p:nvSpPr>
            <p:cNvPr name="Freeform 40" id="40"/>
            <p:cNvSpPr/>
            <p:nvPr/>
          </p:nvSpPr>
          <p:spPr>
            <a:xfrm flipH="false" flipV="false" rot="0">
              <a:off x="0" y="0"/>
              <a:ext cx="268224" cy="178816"/>
            </a:xfrm>
            <a:custGeom>
              <a:avLst/>
              <a:gdLst/>
              <a:ahLst/>
              <a:cxnLst/>
              <a:rect r="r" b="b" t="t" l="l"/>
              <a:pathLst>
                <a:path h="178816" w="268224">
                  <a:moveTo>
                    <a:pt x="81280" y="0"/>
                  </a:moveTo>
                  <a:lnTo>
                    <a:pt x="186944" y="0"/>
                  </a:lnTo>
                  <a:cubicBezTo>
                    <a:pt x="231775" y="0"/>
                    <a:pt x="268224" y="36449"/>
                    <a:pt x="268224" y="81280"/>
                  </a:cubicBezTo>
                  <a:lnTo>
                    <a:pt x="268224" y="97536"/>
                  </a:lnTo>
                  <a:cubicBezTo>
                    <a:pt x="268224" y="142367"/>
                    <a:pt x="231775" y="178816"/>
                    <a:pt x="186944" y="178816"/>
                  </a:cubicBezTo>
                  <a:lnTo>
                    <a:pt x="81280" y="178816"/>
                  </a:lnTo>
                  <a:cubicBezTo>
                    <a:pt x="36449" y="178816"/>
                    <a:pt x="0" y="142367"/>
                    <a:pt x="0" y="97536"/>
                  </a:cubicBezTo>
                  <a:lnTo>
                    <a:pt x="0" y="81280"/>
                  </a:lnTo>
                  <a:cubicBezTo>
                    <a:pt x="0" y="36449"/>
                    <a:pt x="36449" y="0"/>
                    <a:pt x="81280" y="0"/>
                  </a:cubicBezTo>
                  <a:close/>
                </a:path>
              </a:pathLst>
            </a:custGeom>
            <a:solidFill>
              <a:srgbClr val="28766D"/>
            </a:solidFill>
          </p:spPr>
        </p:sp>
      </p:grpSp>
      <p:grpSp>
        <p:nvGrpSpPr>
          <p:cNvPr name="Group 41" id="41"/>
          <p:cNvGrpSpPr/>
          <p:nvPr/>
        </p:nvGrpSpPr>
        <p:grpSpPr>
          <a:xfrm rot="0">
            <a:off x="13618083" y="4166997"/>
            <a:ext cx="1542288" cy="92202"/>
            <a:chOff x="0" y="0"/>
            <a:chExt cx="2056384" cy="122936"/>
          </a:xfrm>
        </p:grpSpPr>
        <p:sp>
          <p:nvSpPr>
            <p:cNvPr name="Freeform 42" id="42"/>
            <p:cNvSpPr/>
            <p:nvPr/>
          </p:nvSpPr>
          <p:spPr>
            <a:xfrm flipH="false" flipV="false" rot="0">
              <a:off x="0" y="0"/>
              <a:ext cx="2056384" cy="122936"/>
            </a:xfrm>
            <a:custGeom>
              <a:avLst/>
              <a:gdLst/>
              <a:ahLst/>
              <a:cxnLst/>
              <a:rect r="r" b="b" t="t" l="l"/>
              <a:pathLst>
                <a:path h="122936" w="2056384">
                  <a:moveTo>
                    <a:pt x="61468" y="0"/>
                  </a:moveTo>
                  <a:lnTo>
                    <a:pt x="1994916" y="0"/>
                  </a:lnTo>
                  <a:cubicBezTo>
                    <a:pt x="2028825" y="0"/>
                    <a:pt x="2056384" y="27559"/>
                    <a:pt x="2056384" y="61468"/>
                  </a:cubicBezTo>
                  <a:cubicBezTo>
                    <a:pt x="2056384" y="95377"/>
                    <a:pt x="2028825" y="122936"/>
                    <a:pt x="1994916" y="122936"/>
                  </a:cubicBezTo>
                  <a:lnTo>
                    <a:pt x="61468" y="122936"/>
                  </a:lnTo>
                  <a:cubicBezTo>
                    <a:pt x="27559" y="122936"/>
                    <a:pt x="0" y="95377"/>
                    <a:pt x="0" y="61468"/>
                  </a:cubicBezTo>
                  <a:cubicBezTo>
                    <a:pt x="0" y="27559"/>
                    <a:pt x="27559" y="0"/>
                    <a:pt x="61468" y="0"/>
                  </a:cubicBezTo>
                  <a:close/>
                </a:path>
              </a:pathLst>
            </a:custGeom>
            <a:solidFill>
              <a:srgbClr val="173A45"/>
            </a:solidFill>
          </p:spPr>
        </p:sp>
      </p:grpSp>
      <p:grpSp>
        <p:nvGrpSpPr>
          <p:cNvPr name="Group 43" id="43"/>
          <p:cNvGrpSpPr/>
          <p:nvPr/>
        </p:nvGrpSpPr>
        <p:grpSpPr>
          <a:xfrm rot="0">
            <a:off x="14221587" y="4038790"/>
            <a:ext cx="368808" cy="134112"/>
            <a:chOff x="0" y="0"/>
            <a:chExt cx="491744" cy="178816"/>
          </a:xfrm>
        </p:grpSpPr>
        <p:sp>
          <p:nvSpPr>
            <p:cNvPr name="Freeform 44" id="44"/>
            <p:cNvSpPr/>
            <p:nvPr/>
          </p:nvSpPr>
          <p:spPr>
            <a:xfrm flipH="false" flipV="false" rot="0">
              <a:off x="0" y="0"/>
              <a:ext cx="491744" cy="178816"/>
            </a:xfrm>
            <a:custGeom>
              <a:avLst/>
              <a:gdLst/>
              <a:ahLst/>
              <a:cxnLst/>
              <a:rect r="r" b="b" t="t" l="l"/>
              <a:pathLst>
                <a:path h="178816" w="491744">
                  <a:moveTo>
                    <a:pt x="89408" y="0"/>
                  </a:moveTo>
                  <a:lnTo>
                    <a:pt x="402336" y="0"/>
                  </a:lnTo>
                  <a:cubicBezTo>
                    <a:pt x="451739" y="0"/>
                    <a:pt x="491744" y="40005"/>
                    <a:pt x="491744" y="89408"/>
                  </a:cubicBezTo>
                  <a:cubicBezTo>
                    <a:pt x="491744" y="138811"/>
                    <a:pt x="451739" y="178816"/>
                    <a:pt x="402336" y="178816"/>
                  </a:cubicBezTo>
                  <a:lnTo>
                    <a:pt x="89408" y="178816"/>
                  </a:lnTo>
                  <a:cubicBezTo>
                    <a:pt x="40005" y="178816"/>
                    <a:pt x="0" y="138811"/>
                    <a:pt x="0" y="89408"/>
                  </a:cubicBezTo>
                  <a:cubicBezTo>
                    <a:pt x="0" y="40005"/>
                    <a:pt x="40005" y="0"/>
                    <a:pt x="89408" y="0"/>
                  </a:cubicBezTo>
                  <a:close/>
                </a:path>
              </a:pathLst>
            </a:custGeom>
            <a:solidFill>
              <a:srgbClr val="173A45"/>
            </a:solidFill>
          </p:spPr>
        </p:sp>
      </p:grpSp>
      <p:grpSp>
        <p:nvGrpSpPr>
          <p:cNvPr name="Group 45" id="45"/>
          <p:cNvGrpSpPr/>
          <p:nvPr/>
        </p:nvGrpSpPr>
        <p:grpSpPr>
          <a:xfrm rot="0">
            <a:off x="14022038" y="3817620"/>
            <a:ext cx="50292" cy="167640"/>
            <a:chOff x="0" y="0"/>
            <a:chExt cx="67056" cy="223520"/>
          </a:xfrm>
        </p:grpSpPr>
        <p:sp>
          <p:nvSpPr>
            <p:cNvPr name="Freeform 46" id="46"/>
            <p:cNvSpPr/>
            <p:nvPr/>
          </p:nvSpPr>
          <p:spPr>
            <a:xfrm flipH="false" flipV="false" rot="0">
              <a:off x="0" y="0"/>
              <a:ext cx="67056" cy="223520"/>
            </a:xfrm>
            <a:custGeom>
              <a:avLst/>
              <a:gdLst/>
              <a:ahLst/>
              <a:cxnLst/>
              <a:rect r="r" b="b" t="t" l="l"/>
              <a:pathLst>
                <a:path h="223520" w="67056">
                  <a:moveTo>
                    <a:pt x="33528" y="0"/>
                  </a:moveTo>
                  <a:cubicBezTo>
                    <a:pt x="52070" y="0"/>
                    <a:pt x="67056" y="14986"/>
                    <a:pt x="67056" y="33528"/>
                  </a:cubicBezTo>
                  <a:lnTo>
                    <a:pt x="67056" y="189992"/>
                  </a:lnTo>
                  <a:cubicBezTo>
                    <a:pt x="67056" y="208534"/>
                    <a:pt x="52070" y="223520"/>
                    <a:pt x="33528" y="223520"/>
                  </a:cubicBezTo>
                  <a:cubicBezTo>
                    <a:pt x="14986" y="223520"/>
                    <a:pt x="0" y="208534"/>
                    <a:pt x="0" y="189992"/>
                  </a:cubicBezTo>
                  <a:lnTo>
                    <a:pt x="0" y="33528"/>
                  </a:lnTo>
                  <a:cubicBezTo>
                    <a:pt x="0" y="14986"/>
                    <a:pt x="14986" y="0"/>
                    <a:pt x="33528" y="0"/>
                  </a:cubicBezTo>
                  <a:close/>
                </a:path>
              </a:pathLst>
            </a:custGeom>
            <a:solidFill>
              <a:srgbClr val="AC4D31"/>
            </a:solidFill>
          </p:spPr>
        </p:sp>
      </p:grpSp>
      <p:grpSp>
        <p:nvGrpSpPr>
          <p:cNvPr name="Group 47" id="47"/>
          <p:cNvGrpSpPr/>
          <p:nvPr/>
        </p:nvGrpSpPr>
        <p:grpSpPr>
          <a:xfrm rot="0">
            <a:off x="14357318" y="3750564"/>
            <a:ext cx="50292" cy="234696"/>
            <a:chOff x="0" y="0"/>
            <a:chExt cx="67056" cy="312928"/>
          </a:xfrm>
        </p:grpSpPr>
        <p:sp>
          <p:nvSpPr>
            <p:cNvPr name="Freeform 48" id="48"/>
            <p:cNvSpPr/>
            <p:nvPr/>
          </p:nvSpPr>
          <p:spPr>
            <a:xfrm flipH="false" flipV="false" rot="0">
              <a:off x="0" y="0"/>
              <a:ext cx="67056" cy="312928"/>
            </a:xfrm>
            <a:custGeom>
              <a:avLst/>
              <a:gdLst/>
              <a:ahLst/>
              <a:cxnLst/>
              <a:rect r="r" b="b" t="t" l="l"/>
              <a:pathLst>
                <a:path h="312928" w="67056">
                  <a:moveTo>
                    <a:pt x="33528" y="0"/>
                  </a:moveTo>
                  <a:cubicBezTo>
                    <a:pt x="52070" y="0"/>
                    <a:pt x="67056" y="14986"/>
                    <a:pt x="67056" y="33528"/>
                  </a:cubicBezTo>
                  <a:lnTo>
                    <a:pt x="67056" y="279400"/>
                  </a:lnTo>
                  <a:cubicBezTo>
                    <a:pt x="67056" y="297942"/>
                    <a:pt x="52070" y="312928"/>
                    <a:pt x="33528" y="312928"/>
                  </a:cubicBezTo>
                  <a:cubicBezTo>
                    <a:pt x="14986" y="312928"/>
                    <a:pt x="0" y="297942"/>
                    <a:pt x="0" y="279400"/>
                  </a:cubicBezTo>
                  <a:lnTo>
                    <a:pt x="0" y="33528"/>
                  </a:lnTo>
                  <a:cubicBezTo>
                    <a:pt x="0" y="14986"/>
                    <a:pt x="14986" y="0"/>
                    <a:pt x="33528" y="0"/>
                  </a:cubicBezTo>
                  <a:close/>
                </a:path>
              </a:pathLst>
            </a:custGeom>
            <a:solidFill>
              <a:srgbClr val="AC4D31"/>
            </a:solidFill>
          </p:spPr>
        </p:sp>
      </p:grpSp>
      <p:grpSp>
        <p:nvGrpSpPr>
          <p:cNvPr name="Group 49" id="49"/>
          <p:cNvGrpSpPr/>
          <p:nvPr/>
        </p:nvGrpSpPr>
        <p:grpSpPr>
          <a:xfrm rot="0">
            <a:off x="14692598" y="3817620"/>
            <a:ext cx="50292" cy="167640"/>
            <a:chOff x="0" y="0"/>
            <a:chExt cx="67056" cy="223520"/>
          </a:xfrm>
        </p:grpSpPr>
        <p:sp>
          <p:nvSpPr>
            <p:cNvPr name="Freeform 50" id="50"/>
            <p:cNvSpPr/>
            <p:nvPr/>
          </p:nvSpPr>
          <p:spPr>
            <a:xfrm flipH="false" flipV="false" rot="0">
              <a:off x="0" y="0"/>
              <a:ext cx="67056" cy="223520"/>
            </a:xfrm>
            <a:custGeom>
              <a:avLst/>
              <a:gdLst/>
              <a:ahLst/>
              <a:cxnLst/>
              <a:rect r="r" b="b" t="t" l="l"/>
              <a:pathLst>
                <a:path h="223520" w="67056">
                  <a:moveTo>
                    <a:pt x="33528" y="0"/>
                  </a:moveTo>
                  <a:cubicBezTo>
                    <a:pt x="52070" y="0"/>
                    <a:pt x="67056" y="14986"/>
                    <a:pt x="67056" y="33528"/>
                  </a:cubicBezTo>
                  <a:lnTo>
                    <a:pt x="67056" y="189992"/>
                  </a:lnTo>
                  <a:cubicBezTo>
                    <a:pt x="67056" y="208534"/>
                    <a:pt x="52070" y="223520"/>
                    <a:pt x="33528" y="223520"/>
                  </a:cubicBezTo>
                  <a:cubicBezTo>
                    <a:pt x="14986" y="223520"/>
                    <a:pt x="0" y="208534"/>
                    <a:pt x="0" y="189992"/>
                  </a:cubicBezTo>
                  <a:lnTo>
                    <a:pt x="0" y="33528"/>
                  </a:lnTo>
                  <a:cubicBezTo>
                    <a:pt x="0" y="14986"/>
                    <a:pt x="14986" y="0"/>
                    <a:pt x="33528" y="0"/>
                  </a:cubicBezTo>
                  <a:close/>
                </a:path>
              </a:pathLst>
            </a:custGeom>
            <a:solidFill>
              <a:srgbClr val="AC4D31"/>
            </a:solidFill>
          </p:spPr>
        </p:sp>
      </p:grpSp>
      <p:grpSp>
        <p:nvGrpSpPr>
          <p:cNvPr name="Group 51" id="51"/>
          <p:cNvGrpSpPr/>
          <p:nvPr/>
        </p:nvGrpSpPr>
        <p:grpSpPr>
          <a:xfrm rot="0">
            <a:off x="12997815" y="6499860"/>
            <a:ext cx="637032" cy="821436"/>
            <a:chOff x="0" y="0"/>
            <a:chExt cx="849376" cy="1095248"/>
          </a:xfrm>
        </p:grpSpPr>
        <p:sp>
          <p:nvSpPr>
            <p:cNvPr name="Freeform 52" id="52"/>
            <p:cNvSpPr/>
            <p:nvPr/>
          </p:nvSpPr>
          <p:spPr>
            <a:xfrm flipH="false" flipV="false" rot="0">
              <a:off x="0" y="0"/>
              <a:ext cx="849376" cy="1095248"/>
            </a:xfrm>
            <a:custGeom>
              <a:avLst/>
              <a:gdLst/>
              <a:ahLst/>
              <a:cxnLst/>
              <a:rect r="r" b="b" t="t" l="l"/>
              <a:pathLst>
                <a:path h="1095248" w="849376">
                  <a:moveTo>
                    <a:pt x="71120" y="0"/>
                  </a:moveTo>
                  <a:lnTo>
                    <a:pt x="778256" y="0"/>
                  </a:lnTo>
                  <a:cubicBezTo>
                    <a:pt x="817499" y="0"/>
                    <a:pt x="849376" y="31877"/>
                    <a:pt x="849376" y="71120"/>
                  </a:cubicBezTo>
                  <a:lnTo>
                    <a:pt x="849376" y="1024128"/>
                  </a:lnTo>
                  <a:cubicBezTo>
                    <a:pt x="849376" y="1063371"/>
                    <a:pt x="817499" y="1095248"/>
                    <a:pt x="778256" y="1095248"/>
                  </a:cubicBezTo>
                  <a:lnTo>
                    <a:pt x="71120" y="1095248"/>
                  </a:lnTo>
                  <a:cubicBezTo>
                    <a:pt x="31877" y="1095248"/>
                    <a:pt x="0" y="1063371"/>
                    <a:pt x="0" y="1024128"/>
                  </a:cubicBezTo>
                  <a:lnTo>
                    <a:pt x="0" y="71120"/>
                  </a:lnTo>
                  <a:cubicBezTo>
                    <a:pt x="0" y="31877"/>
                    <a:pt x="31877" y="0"/>
                    <a:pt x="71120" y="0"/>
                  </a:cubicBezTo>
                  <a:close/>
                </a:path>
              </a:pathLst>
            </a:custGeom>
            <a:solidFill>
              <a:srgbClr val="FFFFFF"/>
            </a:solidFill>
          </p:spPr>
        </p:sp>
        <p:sp>
          <p:nvSpPr>
            <p:cNvPr name="Freeform 53" id="53"/>
            <p:cNvSpPr/>
            <p:nvPr/>
          </p:nvSpPr>
          <p:spPr>
            <a:xfrm flipH="false" flipV="false" rot="0">
              <a:off x="0" y="0"/>
              <a:ext cx="849376" cy="1095248"/>
            </a:xfrm>
            <a:custGeom>
              <a:avLst/>
              <a:gdLst/>
              <a:ahLst/>
              <a:cxnLst/>
              <a:rect r="r" b="b" t="t" l="l"/>
              <a:pathLst>
                <a:path h="1095248" w="849376">
                  <a:moveTo>
                    <a:pt x="71120" y="0"/>
                  </a:moveTo>
                  <a:lnTo>
                    <a:pt x="778256" y="0"/>
                  </a:lnTo>
                  <a:cubicBezTo>
                    <a:pt x="817499" y="0"/>
                    <a:pt x="849376" y="31877"/>
                    <a:pt x="849376" y="71120"/>
                  </a:cubicBezTo>
                  <a:lnTo>
                    <a:pt x="849376" y="1024128"/>
                  </a:lnTo>
                  <a:cubicBezTo>
                    <a:pt x="849376" y="1063371"/>
                    <a:pt x="817499" y="1095248"/>
                    <a:pt x="778256" y="1095248"/>
                  </a:cubicBezTo>
                  <a:lnTo>
                    <a:pt x="71120" y="1095248"/>
                  </a:lnTo>
                  <a:cubicBezTo>
                    <a:pt x="31877" y="1095248"/>
                    <a:pt x="0" y="1063371"/>
                    <a:pt x="0" y="1024128"/>
                  </a:cubicBezTo>
                  <a:lnTo>
                    <a:pt x="0" y="71120"/>
                  </a:lnTo>
                  <a:cubicBezTo>
                    <a:pt x="0" y="31877"/>
                    <a:pt x="31877" y="0"/>
                    <a:pt x="71120" y="0"/>
                  </a:cubicBezTo>
                  <a:close/>
                </a:path>
              </a:pathLst>
            </a:custGeom>
            <a:solidFill>
              <a:srgbClr val="000000">
                <a:alpha val="0"/>
              </a:srgbClr>
            </a:solidFill>
            <a:ln w="28575" cap="sq">
              <a:solidFill>
                <a:srgbClr val="173A45"/>
              </a:solidFill>
              <a:prstDash val="solid"/>
              <a:miter/>
            </a:ln>
          </p:spPr>
        </p:sp>
      </p:grpSp>
      <p:grpSp>
        <p:nvGrpSpPr>
          <p:cNvPr name="Group 54" id="54"/>
          <p:cNvGrpSpPr/>
          <p:nvPr/>
        </p:nvGrpSpPr>
        <p:grpSpPr>
          <a:xfrm rot="0">
            <a:off x="13031343" y="6808184"/>
            <a:ext cx="569976" cy="477774"/>
            <a:chOff x="0" y="0"/>
            <a:chExt cx="759968" cy="637032"/>
          </a:xfrm>
        </p:grpSpPr>
        <p:sp>
          <p:nvSpPr>
            <p:cNvPr name="Freeform 55" id="55"/>
            <p:cNvSpPr/>
            <p:nvPr/>
          </p:nvSpPr>
          <p:spPr>
            <a:xfrm flipH="false" flipV="false" rot="0">
              <a:off x="0" y="0"/>
              <a:ext cx="759968" cy="637032"/>
            </a:xfrm>
            <a:custGeom>
              <a:avLst/>
              <a:gdLst/>
              <a:ahLst/>
              <a:cxnLst/>
              <a:rect r="r" b="b" t="t" l="l"/>
              <a:pathLst>
                <a:path h="637032" w="759968">
                  <a:moveTo>
                    <a:pt x="20320" y="0"/>
                  </a:moveTo>
                  <a:lnTo>
                    <a:pt x="739648" y="0"/>
                  </a:lnTo>
                  <a:cubicBezTo>
                    <a:pt x="750824" y="0"/>
                    <a:pt x="759968" y="9144"/>
                    <a:pt x="759968" y="20320"/>
                  </a:cubicBezTo>
                  <a:lnTo>
                    <a:pt x="759968" y="616712"/>
                  </a:lnTo>
                  <a:cubicBezTo>
                    <a:pt x="759968" y="627888"/>
                    <a:pt x="750824" y="637032"/>
                    <a:pt x="739648" y="637032"/>
                  </a:cubicBezTo>
                  <a:lnTo>
                    <a:pt x="20320" y="637032"/>
                  </a:lnTo>
                  <a:cubicBezTo>
                    <a:pt x="9144" y="637032"/>
                    <a:pt x="0" y="627888"/>
                    <a:pt x="0" y="616712"/>
                  </a:cubicBezTo>
                  <a:lnTo>
                    <a:pt x="0" y="20320"/>
                  </a:lnTo>
                  <a:cubicBezTo>
                    <a:pt x="0" y="9144"/>
                    <a:pt x="9144" y="0"/>
                    <a:pt x="20320" y="0"/>
                  </a:cubicBezTo>
                  <a:close/>
                </a:path>
              </a:pathLst>
            </a:custGeom>
            <a:solidFill>
              <a:srgbClr val="28766D"/>
            </a:solidFill>
          </p:spPr>
        </p:sp>
      </p:grpSp>
      <p:grpSp>
        <p:nvGrpSpPr>
          <p:cNvPr name="Group 56" id="56"/>
          <p:cNvGrpSpPr/>
          <p:nvPr/>
        </p:nvGrpSpPr>
        <p:grpSpPr>
          <a:xfrm rot="0">
            <a:off x="12972574" y="6450330"/>
            <a:ext cx="687324" cy="92202"/>
            <a:chOff x="0" y="0"/>
            <a:chExt cx="916432" cy="122936"/>
          </a:xfrm>
        </p:grpSpPr>
        <p:sp>
          <p:nvSpPr>
            <p:cNvPr name="Freeform 57" id="57"/>
            <p:cNvSpPr/>
            <p:nvPr/>
          </p:nvSpPr>
          <p:spPr>
            <a:xfrm flipH="false" flipV="false" rot="0">
              <a:off x="0" y="0"/>
              <a:ext cx="916432" cy="122936"/>
            </a:xfrm>
            <a:custGeom>
              <a:avLst/>
              <a:gdLst/>
              <a:ahLst/>
              <a:cxnLst/>
              <a:rect r="r" b="b" t="t" l="l"/>
              <a:pathLst>
                <a:path h="122936" w="916432">
                  <a:moveTo>
                    <a:pt x="25400" y="0"/>
                  </a:moveTo>
                  <a:lnTo>
                    <a:pt x="891032" y="0"/>
                  </a:lnTo>
                  <a:cubicBezTo>
                    <a:pt x="905002" y="0"/>
                    <a:pt x="916432" y="11430"/>
                    <a:pt x="916432" y="25400"/>
                  </a:cubicBezTo>
                  <a:lnTo>
                    <a:pt x="916432" y="97536"/>
                  </a:lnTo>
                  <a:cubicBezTo>
                    <a:pt x="916432" y="111506"/>
                    <a:pt x="905002" y="122936"/>
                    <a:pt x="891032" y="122936"/>
                  </a:cubicBezTo>
                  <a:lnTo>
                    <a:pt x="25400" y="122936"/>
                  </a:lnTo>
                  <a:cubicBezTo>
                    <a:pt x="11430" y="122936"/>
                    <a:pt x="0" y="111506"/>
                    <a:pt x="0" y="97536"/>
                  </a:cubicBezTo>
                  <a:lnTo>
                    <a:pt x="0" y="25400"/>
                  </a:lnTo>
                  <a:cubicBezTo>
                    <a:pt x="0" y="11430"/>
                    <a:pt x="11430" y="0"/>
                    <a:pt x="25400" y="0"/>
                  </a:cubicBezTo>
                  <a:close/>
                </a:path>
              </a:pathLst>
            </a:custGeom>
            <a:solidFill>
              <a:srgbClr val="173A45"/>
            </a:solidFill>
          </p:spPr>
        </p:sp>
      </p:grpSp>
      <p:sp>
        <p:nvSpPr>
          <p:cNvPr name="TextBox 58" id="58"/>
          <p:cNvSpPr txBox="true"/>
          <p:nvPr/>
        </p:nvSpPr>
        <p:spPr>
          <a:xfrm rot="0">
            <a:off x="9309735" y="2270188"/>
            <a:ext cx="6705600" cy="398526"/>
          </a:xfrm>
          <a:prstGeom prst="rect">
            <a:avLst/>
          </a:prstGeom>
        </p:spPr>
        <p:txBody>
          <a:bodyPr anchor="t" rtlCol="false" tIns="0" lIns="0" bIns="0" rIns="0">
            <a:spAutoFit/>
          </a:bodyPr>
          <a:lstStyle/>
          <a:p>
            <a:pPr algn="ctr">
              <a:lnSpc>
                <a:spcPts val="2830"/>
              </a:lnSpc>
            </a:pPr>
            <a:r>
              <a:rPr lang="en-US" b="true" sz="2112">
                <a:solidFill>
                  <a:srgbClr val="28766D"/>
                </a:solidFill>
                <a:latin typeface="Sarabun Semi-Bold"/>
                <a:ea typeface="Sarabun Semi-Bold"/>
                <a:cs typeface="Sarabun Semi-Bold"/>
                <a:sym typeface="Sarabun Semi-Bold"/>
              </a:rPr>
              <a:t>โต๊ะ → ออเดอร์ → ครัว → สต๊อก → บิล</a:t>
            </a:r>
          </a:p>
        </p:txBody>
      </p:sp>
      <p:sp>
        <p:nvSpPr>
          <p:cNvPr name="TextBox 59" id="59"/>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เชื่อมการเปิดโต๊ะและการสั่งอาหารเข้ากับรอบเดียวกัน ติดตามงานครัว การใช้วัตถุดิบ และการชำระเงินจนปิดรอบ</a:t>
            </a:r>
          </a:p>
        </p:txBody>
      </p:sp>
      <p:sp>
        <p:nvSpPr>
          <p:cNvPr name="TextBox 60" id="60"/>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pavarit_673380278-9_01</a:t>
            </a:r>
          </a:p>
        </p:txBody>
      </p:sp>
      <p:sp>
        <p:nvSpPr>
          <p:cNvPr name="TextBox 61" id="61"/>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20 วินาที · 1/10</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หนึ่งรอบโต๊ะ เชื่อมทุกบทบาท</a:t>
            </a:r>
          </a:p>
        </p:txBody>
      </p:sp>
      <p:grpSp>
        <p:nvGrpSpPr>
          <p:cNvPr name="Group 5" id="5"/>
          <p:cNvGrpSpPr/>
          <p:nvPr/>
        </p:nvGrpSpPr>
        <p:grpSpPr>
          <a:xfrm rot="0">
            <a:off x="2939415" y="2642044"/>
            <a:ext cx="1282446" cy="2154174"/>
            <a:chOff x="0" y="0"/>
            <a:chExt cx="1709928" cy="2872232"/>
          </a:xfrm>
        </p:grpSpPr>
        <p:sp>
          <p:nvSpPr>
            <p:cNvPr name="Freeform 6" id="6"/>
            <p:cNvSpPr/>
            <p:nvPr/>
          </p:nvSpPr>
          <p:spPr>
            <a:xfrm flipH="false" flipV="false" rot="0">
              <a:off x="0" y="0"/>
              <a:ext cx="1709928" cy="2872232"/>
            </a:xfrm>
            <a:custGeom>
              <a:avLst/>
              <a:gdLst/>
              <a:ahLst/>
              <a:cxnLst/>
              <a:rect r="r" b="b" t="t" l="l"/>
              <a:pathLst>
                <a:path h="2872232" w="1709928">
                  <a:moveTo>
                    <a:pt x="274320" y="0"/>
                  </a:moveTo>
                  <a:lnTo>
                    <a:pt x="1435608" y="0"/>
                  </a:lnTo>
                  <a:cubicBezTo>
                    <a:pt x="1587119" y="0"/>
                    <a:pt x="1709928" y="122809"/>
                    <a:pt x="1709928" y="274320"/>
                  </a:cubicBezTo>
                  <a:lnTo>
                    <a:pt x="1709928" y="2597912"/>
                  </a:lnTo>
                  <a:cubicBezTo>
                    <a:pt x="1709928" y="2749423"/>
                    <a:pt x="1587119" y="2872232"/>
                    <a:pt x="1435608" y="2872232"/>
                  </a:cubicBezTo>
                  <a:lnTo>
                    <a:pt x="274320" y="2872232"/>
                  </a:lnTo>
                  <a:cubicBezTo>
                    <a:pt x="122809" y="2872232"/>
                    <a:pt x="0" y="2749423"/>
                    <a:pt x="0" y="2597912"/>
                  </a:cubicBezTo>
                  <a:lnTo>
                    <a:pt x="0" y="274320"/>
                  </a:lnTo>
                  <a:cubicBezTo>
                    <a:pt x="0" y="122809"/>
                    <a:pt x="122809" y="0"/>
                    <a:pt x="274320" y="0"/>
                  </a:cubicBezTo>
                  <a:close/>
                </a:path>
              </a:pathLst>
            </a:custGeom>
            <a:solidFill>
              <a:srgbClr val="173A45"/>
            </a:solidFill>
          </p:spPr>
        </p:sp>
      </p:grpSp>
      <p:grpSp>
        <p:nvGrpSpPr>
          <p:cNvPr name="Group 7" id="7"/>
          <p:cNvGrpSpPr/>
          <p:nvPr/>
        </p:nvGrpSpPr>
        <p:grpSpPr>
          <a:xfrm rot="0">
            <a:off x="3035713" y="2832735"/>
            <a:ext cx="1089660" cy="1735074"/>
            <a:chOff x="0" y="0"/>
            <a:chExt cx="1452880" cy="2313432"/>
          </a:xfrm>
        </p:grpSpPr>
        <p:sp>
          <p:nvSpPr>
            <p:cNvPr name="Freeform 8" id="8"/>
            <p:cNvSpPr/>
            <p:nvPr/>
          </p:nvSpPr>
          <p:spPr>
            <a:xfrm flipH="false" flipV="false" rot="0">
              <a:off x="0" y="0"/>
              <a:ext cx="1452880" cy="2313432"/>
            </a:xfrm>
            <a:custGeom>
              <a:avLst/>
              <a:gdLst/>
              <a:ahLst/>
              <a:cxnLst/>
              <a:rect r="r" b="b" t="t" l="l"/>
              <a:pathLst>
                <a:path h="2313432" w="1452880">
                  <a:moveTo>
                    <a:pt x="91440" y="0"/>
                  </a:moveTo>
                  <a:lnTo>
                    <a:pt x="1361440" y="0"/>
                  </a:lnTo>
                  <a:cubicBezTo>
                    <a:pt x="1411986" y="0"/>
                    <a:pt x="1452880" y="40894"/>
                    <a:pt x="1452880" y="91440"/>
                  </a:cubicBezTo>
                  <a:lnTo>
                    <a:pt x="1452880" y="2221992"/>
                  </a:lnTo>
                  <a:cubicBezTo>
                    <a:pt x="1452880" y="2272538"/>
                    <a:pt x="1411986" y="2313432"/>
                    <a:pt x="1361440" y="2313432"/>
                  </a:cubicBezTo>
                  <a:lnTo>
                    <a:pt x="91440" y="2313432"/>
                  </a:lnTo>
                  <a:cubicBezTo>
                    <a:pt x="40894" y="2313432"/>
                    <a:pt x="0" y="2272538"/>
                    <a:pt x="0" y="2221992"/>
                  </a:cubicBezTo>
                  <a:lnTo>
                    <a:pt x="0" y="91440"/>
                  </a:lnTo>
                  <a:cubicBezTo>
                    <a:pt x="0" y="40894"/>
                    <a:pt x="40894" y="0"/>
                    <a:pt x="91440" y="0"/>
                  </a:cubicBezTo>
                  <a:close/>
                </a:path>
              </a:pathLst>
            </a:custGeom>
            <a:solidFill>
              <a:srgbClr val="FFFFFF"/>
            </a:solidFill>
          </p:spPr>
        </p:sp>
      </p:grpSp>
      <p:grpSp>
        <p:nvGrpSpPr>
          <p:cNvPr name="Group 9" id="9"/>
          <p:cNvGrpSpPr/>
          <p:nvPr/>
        </p:nvGrpSpPr>
        <p:grpSpPr>
          <a:xfrm rot="0">
            <a:off x="3421285" y="2717483"/>
            <a:ext cx="318516" cy="41910"/>
            <a:chOff x="0" y="0"/>
            <a:chExt cx="424688" cy="55880"/>
          </a:xfrm>
        </p:grpSpPr>
        <p:sp>
          <p:nvSpPr>
            <p:cNvPr name="Freeform 10" id="10"/>
            <p:cNvSpPr/>
            <p:nvPr/>
          </p:nvSpPr>
          <p:spPr>
            <a:xfrm flipH="false" flipV="false" rot="0">
              <a:off x="0" y="0"/>
              <a:ext cx="424688" cy="55880"/>
            </a:xfrm>
            <a:custGeom>
              <a:avLst/>
              <a:gdLst/>
              <a:ahLst/>
              <a:cxnLst/>
              <a:rect r="r" b="b" t="t" l="l"/>
              <a:pathLst>
                <a:path h="55880" w="424688">
                  <a:moveTo>
                    <a:pt x="22860" y="0"/>
                  </a:moveTo>
                  <a:lnTo>
                    <a:pt x="401828" y="0"/>
                  </a:lnTo>
                  <a:cubicBezTo>
                    <a:pt x="414401" y="0"/>
                    <a:pt x="424688" y="10287"/>
                    <a:pt x="424688" y="22860"/>
                  </a:cubicBezTo>
                  <a:lnTo>
                    <a:pt x="424688" y="33020"/>
                  </a:lnTo>
                  <a:cubicBezTo>
                    <a:pt x="424688" y="45593"/>
                    <a:pt x="414401" y="55880"/>
                    <a:pt x="401828" y="55880"/>
                  </a:cubicBezTo>
                  <a:lnTo>
                    <a:pt x="22860" y="55880"/>
                  </a:lnTo>
                  <a:cubicBezTo>
                    <a:pt x="10287" y="55880"/>
                    <a:pt x="0" y="45593"/>
                    <a:pt x="0" y="33020"/>
                  </a:cubicBezTo>
                  <a:lnTo>
                    <a:pt x="0" y="22860"/>
                  </a:lnTo>
                  <a:cubicBezTo>
                    <a:pt x="0" y="10287"/>
                    <a:pt x="10287" y="0"/>
                    <a:pt x="22860" y="0"/>
                  </a:cubicBezTo>
                  <a:close/>
                </a:path>
              </a:pathLst>
            </a:custGeom>
            <a:solidFill>
              <a:srgbClr val="FFFFFF"/>
            </a:solidFill>
          </p:spPr>
        </p:sp>
      </p:grpSp>
      <p:grpSp>
        <p:nvGrpSpPr>
          <p:cNvPr name="Group 11" id="11"/>
          <p:cNvGrpSpPr/>
          <p:nvPr/>
        </p:nvGrpSpPr>
        <p:grpSpPr>
          <a:xfrm rot="0">
            <a:off x="3521869" y="4637246"/>
            <a:ext cx="117348" cy="117348"/>
            <a:chOff x="0" y="0"/>
            <a:chExt cx="156464" cy="156464"/>
          </a:xfrm>
        </p:grpSpPr>
        <p:sp>
          <p:nvSpPr>
            <p:cNvPr name="Freeform 12" id="12"/>
            <p:cNvSpPr/>
            <p:nvPr/>
          </p:nvSpPr>
          <p:spPr>
            <a:xfrm flipH="false" flipV="false" rot="0">
              <a:off x="0" y="0"/>
              <a:ext cx="156464" cy="156464"/>
            </a:xfrm>
            <a:custGeom>
              <a:avLst/>
              <a:gdLst/>
              <a:ahLst/>
              <a:cxnLst/>
              <a:rect r="r" b="b" t="t" l="l"/>
              <a:pathLst>
                <a:path h="156464" w="156464">
                  <a:moveTo>
                    <a:pt x="78232" y="0"/>
                  </a:moveTo>
                  <a:cubicBezTo>
                    <a:pt x="121412" y="0"/>
                    <a:pt x="156464" y="35052"/>
                    <a:pt x="156464" y="78232"/>
                  </a:cubicBezTo>
                  <a:cubicBezTo>
                    <a:pt x="156464" y="121412"/>
                    <a:pt x="121412" y="156464"/>
                    <a:pt x="78232" y="156464"/>
                  </a:cubicBezTo>
                  <a:cubicBezTo>
                    <a:pt x="35052" y="156464"/>
                    <a:pt x="0" y="121412"/>
                    <a:pt x="0" y="78232"/>
                  </a:cubicBezTo>
                  <a:cubicBezTo>
                    <a:pt x="0" y="35052"/>
                    <a:pt x="35052" y="0"/>
                    <a:pt x="78232" y="0"/>
                  </a:cubicBezTo>
                  <a:close/>
                </a:path>
              </a:pathLst>
            </a:custGeom>
            <a:solidFill>
              <a:srgbClr val="FFFFFF"/>
            </a:solidFill>
          </p:spPr>
        </p:sp>
      </p:grpSp>
      <p:sp>
        <p:nvSpPr>
          <p:cNvPr name="AutoShape 13" id="13"/>
          <p:cNvSpPr/>
          <p:nvPr/>
        </p:nvSpPr>
        <p:spPr>
          <a:xfrm rot="0">
            <a:off x="3201352" y="3185160"/>
            <a:ext cx="268224" cy="268224"/>
          </a:xfrm>
          <a:prstGeom prst="rect">
            <a:avLst/>
          </a:prstGeom>
          <a:solidFill>
            <a:srgbClr val="173A45"/>
          </a:solidFill>
        </p:spPr>
      </p:sp>
      <p:sp>
        <p:nvSpPr>
          <p:cNvPr name="AutoShape 14" id="14"/>
          <p:cNvSpPr/>
          <p:nvPr/>
        </p:nvSpPr>
        <p:spPr>
          <a:xfrm rot="0">
            <a:off x="3653981" y="3185160"/>
            <a:ext cx="268224" cy="268224"/>
          </a:xfrm>
          <a:prstGeom prst="rect">
            <a:avLst/>
          </a:prstGeom>
          <a:solidFill>
            <a:srgbClr val="173A45"/>
          </a:solidFill>
        </p:spPr>
      </p:sp>
      <p:sp>
        <p:nvSpPr>
          <p:cNvPr name="AutoShape 15" id="15"/>
          <p:cNvSpPr/>
          <p:nvPr/>
        </p:nvSpPr>
        <p:spPr>
          <a:xfrm rot="0">
            <a:off x="3201352" y="3637788"/>
            <a:ext cx="268224" cy="268224"/>
          </a:xfrm>
          <a:prstGeom prst="rect">
            <a:avLst/>
          </a:prstGeom>
          <a:solidFill>
            <a:srgbClr val="173A45"/>
          </a:solidFill>
        </p:spPr>
      </p:sp>
      <p:sp>
        <p:nvSpPr>
          <p:cNvPr name="AutoShape 16" id="16"/>
          <p:cNvSpPr/>
          <p:nvPr/>
        </p:nvSpPr>
        <p:spPr>
          <a:xfrm rot="0">
            <a:off x="3657695" y="3641503"/>
            <a:ext cx="117348" cy="117348"/>
          </a:xfrm>
          <a:prstGeom prst="rect">
            <a:avLst/>
          </a:prstGeom>
          <a:solidFill>
            <a:srgbClr val="173A45"/>
          </a:solidFill>
        </p:spPr>
      </p:sp>
      <p:sp>
        <p:nvSpPr>
          <p:cNvPr name="AutoShape 17" id="17"/>
          <p:cNvSpPr/>
          <p:nvPr/>
        </p:nvSpPr>
        <p:spPr>
          <a:xfrm rot="0">
            <a:off x="3793046" y="3784378"/>
            <a:ext cx="125730" cy="125730"/>
          </a:xfrm>
          <a:prstGeom prst="rect">
            <a:avLst/>
          </a:prstGeom>
          <a:solidFill>
            <a:srgbClr val="173A45"/>
          </a:solidFill>
        </p:spPr>
      </p:sp>
      <p:sp>
        <p:nvSpPr>
          <p:cNvPr name="AutoShape 18" id="18"/>
          <p:cNvSpPr/>
          <p:nvPr/>
        </p:nvSpPr>
        <p:spPr>
          <a:xfrm rot="0">
            <a:off x="3518535" y="3494818"/>
            <a:ext cx="108966" cy="108966"/>
          </a:xfrm>
          <a:prstGeom prst="rect">
            <a:avLst/>
          </a:prstGeom>
          <a:solidFill>
            <a:srgbClr val="173A45"/>
          </a:solidFill>
        </p:spPr>
      </p:sp>
      <p:grpSp>
        <p:nvGrpSpPr>
          <p:cNvPr name="Group 19" id="19"/>
          <p:cNvGrpSpPr/>
          <p:nvPr/>
        </p:nvGrpSpPr>
        <p:grpSpPr>
          <a:xfrm rot="0">
            <a:off x="8303895" y="3566160"/>
            <a:ext cx="1760220" cy="1047750"/>
            <a:chOff x="0" y="0"/>
            <a:chExt cx="2346960" cy="1397000"/>
          </a:xfrm>
        </p:grpSpPr>
        <p:sp>
          <p:nvSpPr>
            <p:cNvPr name="Freeform 20" id="20"/>
            <p:cNvSpPr/>
            <p:nvPr/>
          </p:nvSpPr>
          <p:spPr>
            <a:xfrm flipH="false" flipV="false" rot="0">
              <a:off x="0" y="0"/>
              <a:ext cx="2346960" cy="1397000"/>
            </a:xfrm>
            <a:custGeom>
              <a:avLst/>
              <a:gdLst/>
              <a:ahLst/>
              <a:cxnLst/>
              <a:rect r="r" b="b" t="t" l="l"/>
              <a:pathLst>
                <a:path h="1397000" w="2346960">
                  <a:moveTo>
                    <a:pt x="317500" y="0"/>
                  </a:moveTo>
                  <a:lnTo>
                    <a:pt x="2029460" y="0"/>
                  </a:lnTo>
                  <a:cubicBezTo>
                    <a:pt x="2204847" y="0"/>
                    <a:pt x="2346960" y="142113"/>
                    <a:pt x="2346960" y="317500"/>
                  </a:cubicBezTo>
                  <a:lnTo>
                    <a:pt x="2346960" y="1079500"/>
                  </a:lnTo>
                  <a:cubicBezTo>
                    <a:pt x="2346960" y="1254887"/>
                    <a:pt x="2204847" y="1397000"/>
                    <a:pt x="2029460" y="1397000"/>
                  </a:cubicBezTo>
                  <a:lnTo>
                    <a:pt x="317500" y="1397000"/>
                  </a:lnTo>
                  <a:cubicBezTo>
                    <a:pt x="142113" y="1397000"/>
                    <a:pt x="0" y="1254887"/>
                    <a:pt x="0" y="1079500"/>
                  </a:cubicBezTo>
                  <a:lnTo>
                    <a:pt x="0" y="317500"/>
                  </a:lnTo>
                  <a:cubicBezTo>
                    <a:pt x="0" y="142113"/>
                    <a:pt x="142113" y="0"/>
                    <a:pt x="317500" y="0"/>
                  </a:cubicBezTo>
                  <a:close/>
                </a:path>
              </a:pathLst>
            </a:custGeom>
            <a:solidFill>
              <a:srgbClr val="28766D"/>
            </a:solidFill>
          </p:spPr>
        </p:sp>
      </p:grpSp>
      <p:grpSp>
        <p:nvGrpSpPr>
          <p:cNvPr name="Group 21" id="21"/>
          <p:cNvGrpSpPr/>
          <p:nvPr/>
        </p:nvGrpSpPr>
        <p:grpSpPr>
          <a:xfrm rot="0">
            <a:off x="8178165" y="3775710"/>
            <a:ext cx="251460" cy="167640"/>
            <a:chOff x="0" y="0"/>
            <a:chExt cx="335280" cy="223520"/>
          </a:xfrm>
        </p:grpSpPr>
        <p:sp>
          <p:nvSpPr>
            <p:cNvPr name="Freeform 22" id="22"/>
            <p:cNvSpPr/>
            <p:nvPr/>
          </p:nvSpPr>
          <p:spPr>
            <a:xfrm flipH="false" flipV="false" rot="0">
              <a:off x="0" y="0"/>
              <a:ext cx="335280" cy="223520"/>
            </a:xfrm>
            <a:custGeom>
              <a:avLst/>
              <a:gdLst/>
              <a:ahLst/>
              <a:cxnLst/>
              <a:rect r="r" b="b" t="t" l="l"/>
              <a:pathLst>
                <a:path h="223520" w="335280">
                  <a:moveTo>
                    <a:pt x="101600" y="0"/>
                  </a:moveTo>
                  <a:lnTo>
                    <a:pt x="233680" y="0"/>
                  </a:lnTo>
                  <a:cubicBezTo>
                    <a:pt x="289814" y="0"/>
                    <a:pt x="335280" y="45466"/>
                    <a:pt x="335280" y="101600"/>
                  </a:cubicBezTo>
                  <a:lnTo>
                    <a:pt x="335280" y="121920"/>
                  </a:lnTo>
                  <a:cubicBezTo>
                    <a:pt x="335280" y="178054"/>
                    <a:pt x="289814" y="223520"/>
                    <a:pt x="233680" y="223520"/>
                  </a:cubicBezTo>
                  <a:lnTo>
                    <a:pt x="101600" y="223520"/>
                  </a:lnTo>
                  <a:cubicBezTo>
                    <a:pt x="45466" y="223520"/>
                    <a:pt x="0" y="178054"/>
                    <a:pt x="0" y="121920"/>
                  </a:cubicBezTo>
                  <a:lnTo>
                    <a:pt x="0" y="101600"/>
                  </a:lnTo>
                  <a:cubicBezTo>
                    <a:pt x="0" y="45466"/>
                    <a:pt x="45466" y="0"/>
                    <a:pt x="101600" y="0"/>
                  </a:cubicBezTo>
                  <a:close/>
                </a:path>
              </a:pathLst>
            </a:custGeom>
            <a:solidFill>
              <a:srgbClr val="28766D"/>
            </a:solidFill>
          </p:spPr>
        </p:sp>
      </p:grpSp>
      <p:grpSp>
        <p:nvGrpSpPr>
          <p:cNvPr name="Group 23" id="23"/>
          <p:cNvGrpSpPr/>
          <p:nvPr/>
        </p:nvGrpSpPr>
        <p:grpSpPr>
          <a:xfrm rot="0">
            <a:off x="9980295" y="3775710"/>
            <a:ext cx="251460" cy="167640"/>
            <a:chOff x="0" y="0"/>
            <a:chExt cx="335280" cy="223520"/>
          </a:xfrm>
        </p:grpSpPr>
        <p:sp>
          <p:nvSpPr>
            <p:cNvPr name="Freeform 24" id="24"/>
            <p:cNvSpPr/>
            <p:nvPr/>
          </p:nvSpPr>
          <p:spPr>
            <a:xfrm flipH="false" flipV="false" rot="0">
              <a:off x="0" y="0"/>
              <a:ext cx="335280" cy="223520"/>
            </a:xfrm>
            <a:custGeom>
              <a:avLst/>
              <a:gdLst/>
              <a:ahLst/>
              <a:cxnLst/>
              <a:rect r="r" b="b" t="t" l="l"/>
              <a:pathLst>
                <a:path h="223520" w="335280">
                  <a:moveTo>
                    <a:pt x="101600" y="0"/>
                  </a:moveTo>
                  <a:lnTo>
                    <a:pt x="233680" y="0"/>
                  </a:lnTo>
                  <a:cubicBezTo>
                    <a:pt x="289814" y="0"/>
                    <a:pt x="335280" y="45466"/>
                    <a:pt x="335280" y="101600"/>
                  </a:cubicBezTo>
                  <a:lnTo>
                    <a:pt x="335280" y="121920"/>
                  </a:lnTo>
                  <a:cubicBezTo>
                    <a:pt x="335280" y="178054"/>
                    <a:pt x="289814" y="223520"/>
                    <a:pt x="233680" y="223520"/>
                  </a:cubicBezTo>
                  <a:lnTo>
                    <a:pt x="101600" y="223520"/>
                  </a:lnTo>
                  <a:cubicBezTo>
                    <a:pt x="45466" y="223520"/>
                    <a:pt x="0" y="178054"/>
                    <a:pt x="0" y="121920"/>
                  </a:cubicBezTo>
                  <a:lnTo>
                    <a:pt x="0" y="101600"/>
                  </a:lnTo>
                  <a:cubicBezTo>
                    <a:pt x="0" y="45466"/>
                    <a:pt x="45466" y="0"/>
                    <a:pt x="101600" y="0"/>
                  </a:cubicBezTo>
                  <a:close/>
                </a:path>
              </a:pathLst>
            </a:custGeom>
            <a:solidFill>
              <a:srgbClr val="28766D"/>
            </a:solidFill>
          </p:spPr>
        </p:sp>
      </p:grpSp>
      <p:grpSp>
        <p:nvGrpSpPr>
          <p:cNvPr name="Group 25" id="25"/>
          <p:cNvGrpSpPr/>
          <p:nvPr/>
        </p:nvGrpSpPr>
        <p:grpSpPr>
          <a:xfrm rot="0">
            <a:off x="8220075" y="3457194"/>
            <a:ext cx="1927860" cy="117348"/>
            <a:chOff x="0" y="0"/>
            <a:chExt cx="2570480" cy="156464"/>
          </a:xfrm>
        </p:grpSpPr>
        <p:sp>
          <p:nvSpPr>
            <p:cNvPr name="Freeform 26" id="26"/>
            <p:cNvSpPr/>
            <p:nvPr/>
          </p:nvSpPr>
          <p:spPr>
            <a:xfrm flipH="false" flipV="false" rot="0">
              <a:off x="0" y="0"/>
              <a:ext cx="2570480" cy="156464"/>
            </a:xfrm>
            <a:custGeom>
              <a:avLst/>
              <a:gdLst/>
              <a:ahLst/>
              <a:cxnLst/>
              <a:rect r="r" b="b" t="t" l="l"/>
              <a:pathLst>
                <a:path h="156464" w="2570480">
                  <a:moveTo>
                    <a:pt x="78232" y="0"/>
                  </a:moveTo>
                  <a:lnTo>
                    <a:pt x="2492248" y="0"/>
                  </a:lnTo>
                  <a:cubicBezTo>
                    <a:pt x="2535428" y="0"/>
                    <a:pt x="2570480" y="35052"/>
                    <a:pt x="2570480" y="78232"/>
                  </a:cubicBezTo>
                  <a:cubicBezTo>
                    <a:pt x="2570480" y="121412"/>
                    <a:pt x="2535428" y="156464"/>
                    <a:pt x="2492248" y="156464"/>
                  </a:cubicBezTo>
                  <a:lnTo>
                    <a:pt x="78232" y="156464"/>
                  </a:lnTo>
                  <a:cubicBezTo>
                    <a:pt x="35052" y="156464"/>
                    <a:pt x="0" y="121412"/>
                    <a:pt x="0" y="78232"/>
                  </a:cubicBezTo>
                  <a:cubicBezTo>
                    <a:pt x="0" y="35052"/>
                    <a:pt x="35052" y="0"/>
                    <a:pt x="78232" y="0"/>
                  </a:cubicBezTo>
                  <a:close/>
                </a:path>
              </a:pathLst>
            </a:custGeom>
            <a:solidFill>
              <a:srgbClr val="173A45"/>
            </a:solidFill>
          </p:spPr>
        </p:sp>
      </p:grpSp>
      <p:grpSp>
        <p:nvGrpSpPr>
          <p:cNvPr name="Group 27" id="27"/>
          <p:cNvGrpSpPr/>
          <p:nvPr/>
        </p:nvGrpSpPr>
        <p:grpSpPr>
          <a:xfrm rot="0">
            <a:off x="8974455" y="3297936"/>
            <a:ext cx="461010" cy="167640"/>
            <a:chOff x="0" y="0"/>
            <a:chExt cx="614680" cy="223520"/>
          </a:xfrm>
        </p:grpSpPr>
        <p:sp>
          <p:nvSpPr>
            <p:cNvPr name="Freeform 28" id="28"/>
            <p:cNvSpPr/>
            <p:nvPr/>
          </p:nvSpPr>
          <p:spPr>
            <a:xfrm flipH="false" flipV="false" rot="0">
              <a:off x="0" y="0"/>
              <a:ext cx="614680" cy="223520"/>
            </a:xfrm>
            <a:custGeom>
              <a:avLst/>
              <a:gdLst/>
              <a:ahLst/>
              <a:cxnLst/>
              <a:rect r="r" b="b" t="t" l="l"/>
              <a:pathLst>
                <a:path h="223520" w="614680">
                  <a:moveTo>
                    <a:pt x="111760" y="0"/>
                  </a:moveTo>
                  <a:lnTo>
                    <a:pt x="502920" y="0"/>
                  </a:lnTo>
                  <a:cubicBezTo>
                    <a:pt x="564642" y="0"/>
                    <a:pt x="614680" y="50038"/>
                    <a:pt x="614680" y="111760"/>
                  </a:cubicBezTo>
                  <a:cubicBezTo>
                    <a:pt x="614680" y="173482"/>
                    <a:pt x="564642" y="223520"/>
                    <a:pt x="502920" y="223520"/>
                  </a:cubicBezTo>
                  <a:lnTo>
                    <a:pt x="111760" y="223520"/>
                  </a:lnTo>
                  <a:cubicBezTo>
                    <a:pt x="50038" y="223520"/>
                    <a:pt x="0" y="173482"/>
                    <a:pt x="0" y="111760"/>
                  </a:cubicBezTo>
                  <a:cubicBezTo>
                    <a:pt x="0" y="50038"/>
                    <a:pt x="50038" y="0"/>
                    <a:pt x="111760" y="0"/>
                  </a:cubicBezTo>
                  <a:close/>
                </a:path>
              </a:pathLst>
            </a:custGeom>
            <a:solidFill>
              <a:srgbClr val="173A45"/>
            </a:solidFill>
          </p:spPr>
        </p:sp>
      </p:grpSp>
      <p:grpSp>
        <p:nvGrpSpPr>
          <p:cNvPr name="Group 29" id="29"/>
          <p:cNvGrpSpPr/>
          <p:nvPr/>
        </p:nvGrpSpPr>
        <p:grpSpPr>
          <a:xfrm rot="0">
            <a:off x="8722995" y="3021330"/>
            <a:ext cx="67056" cy="209550"/>
            <a:chOff x="0" y="0"/>
            <a:chExt cx="89408" cy="279400"/>
          </a:xfrm>
        </p:grpSpPr>
        <p:sp>
          <p:nvSpPr>
            <p:cNvPr name="Freeform 30" id="30"/>
            <p:cNvSpPr/>
            <p:nvPr/>
          </p:nvSpPr>
          <p:spPr>
            <a:xfrm flipH="false" flipV="false" rot="0">
              <a:off x="0" y="0"/>
              <a:ext cx="89408" cy="279400"/>
            </a:xfrm>
            <a:custGeom>
              <a:avLst/>
              <a:gdLst/>
              <a:ahLst/>
              <a:cxnLst/>
              <a:rect r="r" b="b" t="t" l="l"/>
              <a:pathLst>
                <a:path h="279400" w="89408">
                  <a:moveTo>
                    <a:pt x="44704" y="0"/>
                  </a:moveTo>
                  <a:cubicBezTo>
                    <a:pt x="69342" y="0"/>
                    <a:pt x="89408" y="20066"/>
                    <a:pt x="89408" y="44704"/>
                  </a:cubicBezTo>
                  <a:lnTo>
                    <a:pt x="89408" y="234696"/>
                  </a:lnTo>
                  <a:cubicBezTo>
                    <a:pt x="89408" y="259334"/>
                    <a:pt x="69342" y="279400"/>
                    <a:pt x="44704" y="279400"/>
                  </a:cubicBezTo>
                  <a:cubicBezTo>
                    <a:pt x="20066" y="279400"/>
                    <a:pt x="0" y="259334"/>
                    <a:pt x="0" y="234696"/>
                  </a:cubicBezTo>
                  <a:lnTo>
                    <a:pt x="0" y="44704"/>
                  </a:lnTo>
                  <a:cubicBezTo>
                    <a:pt x="0" y="20066"/>
                    <a:pt x="20066" y="0"/>
                    <a:pt x="44704" y="0"/>
                  </a:cubicBezTo>
                  <a:close/>
                </a:path>
              </a:pathLst>
            </a:custGeom>
            <a:solidFill>
              <a:srgbClr val="AC4D31"/>
            </a:solidFill>
          </p:spPr>
        </p:sp>
      </p:grpSp>
      <p:grpSp>
        <p:nvGrpSpPr>
          <p:cNvPr name="Group 31" id="31"/>
          <p:cNvGrpSpPr/>
          <p:nvPr/>
        </p:nvGrpSpPr>
        <p:grpSpPr>
          <a:xfrm rot="0">
            <a:off x="9142095" y="2937510"/>
            <a:ext cx="67056" cy="293370"/>
            <a:chOff x="0" y="0"/>
            <a:chExt cx="89408" cy="391160"/>
          </a:xfrm>
        </p:grpSpPr>
        <p:sp>
          <p:nvSpPr>
            <p:cNvPr name="Freeform 32" id="32"/>
            <p:cNvSpPr/>
            <p:nvPr/>
          </p:nvSpPr>
          <p:spPr>
            <a:xfrm flipH="false" flipV="false" rot="0">
              <a:off x="0" y="0"/>
              <a:ext cx="89408" cy="391160"/>
            </a:xfrm>
            <a:custGeom>
              <a:avLst/>
              <a:gdLst/>
              <a:ahLst/>
              <a:cxnLst/>
              <a:rect r="r" b="b" t="t" l="l"/>
              <a:pathLst>
                <a:path h="391160" w="89408">
                  <a:moveTo>
                    <a:pt x="44704" y="0"/>
                  </a:moveTo>
                  <a:cubicBezTo>
                    <a:pt x="69342" y="0"/>
                    <a:pt x="89408" y="20066"/>
                    <a:pt x="89408" y="44704"/>
                  </a:cubicBezTo>
                  <a:lnTo>
                    <a:pt x="89408" y="346456"/>
                  </a:lnTo>
                  <a:cubicBezTo>
                    <a:pt x="89408" y="371094"/>
                    <a:pt x="69342" y="391160"/>
                    <a:pt x="44704" y="391160"/>
                  </a:cubicBezTo>
                  <a:cubicBezTo>
                    <a:pt x="20066" y="391160"/>
                    <a:pt x="0" y="371094"/>
                    <a:pt x="0" y="346456"/>
                  </a:cubicBezTo>
                  <a:lnTo>
                    <a:pt x="0" y="44704"/>
                  </a:lnTo>
                  <a:cubicBezTo>
                    <a:pt x="0" y="20066"/>
                    <a:pt x="20066" y="0"/>
                    <a:pt x="44704" y="0"/>
                  </a:cubicBezTo>
                  <a:close/>
                </a:path>
              </a:pathLst>
            </a:custGeom>
            <a:solidFill>
              <a:srgbClr val="AC4D31"/>
            </a:solidFill>
          </p:spPr>
        </p:sp>
      </p:grpSp>
      <p:grpSp>
        <p:nvGrpSpPr>
          <p:cNvPr name="Group 33" id="33"/>
          <p:cNvGrpSpPr/>
          <p:nvPr/>
        </p:nvGrpSpPr>
        <p:grpSpPr>
          <a:xfrm rot="0">
            <a:off x="9561195" y="3021330"/>
            <a:ext cx="67056" cy="209550"/>
            <a:chOff x="0" y="0"/>
            <a:chExt cx="89408" cy="279400"/>
          </a:xfrm>
        </p:grpSpPr>
        <p:sp>
          <p:nvSpPr>
            <p:cNvPr name="Freeform 34" id="34"/>
            <p:cNvSpPr/>
            <p:nvPr/>
          </p:nvSpPr>
          <p:spPr>
            <a:xfrm flipH="false" flipV="false" rot="0">
              <a:off x="0" y="0"/>
              <a:ext cx="89408" cy="279400"/>
            </a:xfrm>
            <a:custGeom>
              <a:avLst/>
              <a:gdLst/>
              <a:ahLst/>
              <a:cxnLst/>
              <a:rect r="r" b="b" t="t" l="l"/>
              <a:pathLst>
                <a:path h="279400" w="89408">
                  <a:moveTo>
                    <a:pt x="44704" y="0"/>
                  </a:moveTo>
                  <a:cubicBezTo>
                    <a:pt x="69342" y="0"/>
                    <a:pt x="89408" y="20066"/>
                    <a:pt x="89408" y="44704"/>
                  </a:cubicBezTo>
                  <a:lnTo>
                    <a:pt x="89408" y="234696"/>
                  </a:lnTo>
                  <a:cubicBezTo>
                    <a:pt x="89408" y="259334"/>
                    <a:pt x="69342" y="279400"/>
                    <a:pt x="44704" y="279400"/>
                  </a:cubicBezTo>
                  <a:cubicBezTo>
                    <a:pt x="20066" y="279400"/>
                    <a:pt x="0" y="259334"/>
                    <a:pt x="0" y="234696"/>
                  </a:cubicBezTo>
                  <a:lnTo>
                    <a:pt x="0" y="44704"/>
                  </a:lnTo>
                  <a:cubicBezTo>
                    <a:pt x="0" y="20066"/>
                    <a:pt x="20066" y="0"/>
                    <a:pt x="44704" y="0"/>
                  </a:cubicBezTo>
                  <a:close/>
                </a:path>
              </a:pathLst>
            </a:custGeom>
            <a:solidFill>
              <a:srgbClr val="AC4D31"/>
            </a:solidFill>
          </p:spPr>
        </p:sp>
      </p:grpSp>
      <p:grpSp>
        <p:nvGrpSpPr>
          <p:cNvPr name="Group 35" id="35"/>
          <p:cNvGrpSpPr/>
          <p:nvPr/>
        </p:nvGrpSpPr>
        <p:grpSpPr>
          <a:xfrm rot="0">
            <a:off x="13249275" y="2685002"/>
            <a:ext cx="1592580" cy="2112264"/>
            <a:chOff x="0" y="0"/>
            <a:chExt cx="2123440" cy="2816352"/>
          </a:xfrm>
        </p:grpSpPr>
        <p:sp>
          <p:nvSpPr>
            <p:cNvPr name="Freeform 36" id="36"/>
            <p:cNvSpPr/>
            <p:nvPr/>
          </p:nvSpPr>
          <p:spPr>
            <a:xfrm flipH="false" flipV="false" rot="0">
              <a:off x="0" y="0"/>
              <a:ext cx="2123440" cy="2816352"/>
            </a:xfrm>
            <a:custGeom>
              <a:avLst/>
              <a:gdLst/>
              <a:ahLst/>
              <a:cxnLst/>
              <a:rect r="r" b="b" t="t" l="l"/>
              <a:pathLst>
                <a:path h="2816352" w="2123440">
                  <a:moveTo>
                    <a:pt x="48260" y="0"/>
                  </a:moveTo>
                  <a:lnTo>
                    <a:pt x="2075180" y="0"/>
                  </a:lnTo>
                  <a:cubicBezTo>
                    <a:pt x="2101850" y="0"/>
                    <a:pt x="2123440" y="21590"/>
                    <a:pt x="2123440" y="48260"/>
                  </a:cubicBezTo>
                  <a:lnTo>
                    <a:pt x="2123440" y="2768092"/>
                  </a:lnTo>
                  <a:cubicBezTo>
                    <a:pt x="2123440" y="2794762"/>
                    <a:pt x="2101850" y="2816352"/>
                    <a:pt x="2075180" y="2816352"/>
                  </a:cubicBezTo>
                  <a:lnTo>
                    <a:pt x="48260" y="2816352"/>
                  </a:lnTo>
                  <a:cubicBezTo>
                    <a:pt x="21590" y="2816352"/>
                    <a:pt x="0" y="2794762"/>
                    <a:pt x="0" y="2768092"/>
                  </a:cubicBezTo>
                  <a:lnTo>
                    <a:pt x="0" y="48260"/>
                  </a:lnTo>
                  <a:cubicBezTo>
                    <a:pt x="0" y="21590"/>
                    <a:pt x="21590" y="0"/>
                    <a:pt x="48260" y="0"/>
                  </a:cubicBezTo>
                  <a:close/>
                </a:path>
              </a:pathLst>
            </a:custGeom>
            <a:solidFill>
              <a:srgbClr val="FFFFFF"/>
            </a:solidFill>
          </p:spPr>
        </p:sp>
        <p:sp>
          <p:nvSpPr>
            <p:cNvPr name="Freeform 37" id="37"/>
            <p:cNvSpPr/>
            <p:nvPr/>
          </p:nvSpPr>
          <p:spPr>
            <a:xfrm flipH="false" flipV="false" rot="0">
              <a:off x="0" y="0"/>
              <a:ext cx="2123440" cy="2816352"/>
            </a:xfrm>
            <a:custGeom>
              <a:avLst/>
              <a:gdLst/>
              <a:ahLst/>
              <a:cxnLst/>
              <a:rect r="r" b="b" t="t" l="l"/>
              <a:pathLst>
                <a:path h="2816352" w="2123440">
                  <a:moveTo>
                    <a:pt x="48260" y="0"/>
                  </a:moveTo>
                  <a:lnTo>
                    <a:pt x="2075180" y="0"/>
                  </a:lnTo>
                  <a:cubicBezTo>
                    <a:pt x="2101850" y="0"/>
                    <a:pt x="2123440" y="21590"/>
                    <a:pt x="2123440" y="48260"/>
                  </a:cubicBezTo>
                  <a:lnTo>
                    <a:pt x="2123440" y="2768092"/>
                  </a:lnTo>
                  <a:cubicBezTo>
                    <a:pt x="2123440" y="2794762"/>
                    <a:pt x="2101850" y="2816352"/>
                    <a:pt x="2075180" y="2816352"/>
                  </a:cubicBezTo>
                  <a:lnTo>
                    <a:pt x="48260" y="2816352"/>
                  </a:lnTo>
                  <a:cubicBezTo>
                    <a:pt x="21590" y="2816352"/>
                    <a:pt x="0" y="2794762"/>
                    <a:pt x="0" y="2768092"/>
                  </a:cubicBezTo>
                  <a:lnTo>
                    <a:pt x="0" y="48260"/>
                  </a:lnTo>
                  <a:cubicBezTo>
                    <a:pt x="0" y="21590"/>
                    <a:pt x="21590" y="0"/>
                    <a:pt x="48260" y="0"/>
                  </a:cubicBezTo>
                  <a:close/>
                </a:path>
              </a:pathLst>
            </a:custGeom>
            <a:solidFill>
              <a:srgbClr val="000000">
                <a:alpha val="0"/>
              </a:srgbClr>
            </a:solidFill>
            <a:ln w="28575" cap="sq">
              <a:solidFill>
                <a:srgbClr val="173A45"/>
              </a:solidFill>
              <a:prstDash val="solid"/>
              <a:miter/>
            </a:ln>
          </p:spPr>
        </p:sp>
      </p:grpSp>
      <p:sp>
        <p:nvSpPr>
          <p:cNvPr name="TextBox 38" id="38"/>
          <p:cNvSpPr txBox="true"/>
          <p:nvPr/>
        </p:nvSpPr>
        <p:spPr>
          <a:xfrm rot="0">
            <a:off x="13647420" y="2704624"/>
            <a:ext cx="796290" cy="931164"/>
          </a:xfrm>
          <a:prstGeom prst="rect">
            <a:avLst/>
          </a:prstGeom>
        </p:spPr>
        <p:txBody>
          <a:bodyPr anchor="t" rtlCol="false" tIns="0" lIns="0" bIns="0" rIns="0">
            <a:spAutoFit/>
          </a:bodyPr>
          <a:lstStyle/>
          <a:p>
            <a:pPr algn="ctr">
              <a:lnSpc>
                <a:spcPts val="6721"/>
              </a:lnSpc>
            </a:pPr>
            <a:r>
              <a:rPr lang="en-US" b="true" sz="5016">
                <a:solidFill>
                  <a:srgbClr val="AC4D31"/>
                </a:solidFill>
                <a:latin typeface="Sarabun Semi-Bold"/>
                <a:ea typeface="Sarabun Semi-Bold"/>
                <a:cs typeface="Sarabun Semi-Bold"/>
                <a:sym typeface="Sarabun Semi-Bold"/>
              </a:rPr>
              <a:t>฿</a:t>
            </a:r>
          </a:p>
        </p:txBody>
      </p:sp>
      <p:sp>
        <p:nvSpPr>
          <p:cNvPr name="AutoShape 39" id="39"/>
          <p:cNvSpPr/>
          <p:nvPr/>
        </p:nvSpPr>
        <p:spPr>
          <a:xfrm rot="0">
            <a:off x="13488162" y="3761042"/>
            <a:ext cx="1114806" cy="33528"/>
          </a:xfrm>
          <a:prstGeom prst="rect">
            <a:avLst/>
          </a:prstGeom>
          <a:solidFill>
            <a:srgbClr val="173A45"/>
          </a:solidFill>
        </p:spPr>
      </p:sp>
      <p:sp>
        <p:nvSpPr>
          <p:cNvPr name="AutoShape 40" id="40"/>
          <p:cNvSpPr/>
          <p:nvPr/>
        </p:nvSpPr>
        <p:spPr>
          <a:xfrm rot="0">
            <a:off x="13488162" y="4039743"/>
            <a:ext cx="1114806" cy="33528"/>
          </a:xfrm>
          <a:prstGeom prst="rect">
            <a:avLst/>
          </a:prstGeom>
          <a:solidFill>
            <a:srgbClr val="173A45"/>
          </a:solidFill>
        </p:spPr>
      </p:sp>
      <p:sp>
        <p:nvSpPr>
          <p:cNvPr name="AutoShape 41" id="41"/>
          <p:cNvSpPr/>
          <p:nvPr/>
        </p:nvSpPr>
        <p:spPr>
          <a:xfrm rot="0">
            <a:off x="13489210" y="4318444"/>
            <a:ext cx="754380" cy="33528"/>
          </a:xfrm>
          <a:prstGeom prst="rect">
            <a:avLst/>
          </a:prstGeom>
          <a:solidFill>
            <a:srgbClr val="173A45"/>
          </a:solidFill>
        </p:spPr>
      </p:sp>
      <p:sp>
        <p:nvSpPr>
          <p:cNvPr name="TextBox 42" id="42"/>
          <p:cNvSpPr txBox="true"/>
          <p:nvPr/>
        </p:nvSpPr>
        <p:spPr>
          <a:xfrm rot="0">
            <a:off x="5579745" y="3507962"/>
            <a:ext cx="142494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TextBox 43" id="43"/>
          <p:cNvSpPr txBox="true"/>
          <p:nvPr/>
        </p:nvSpPr>
        <p:spPr>
          <a:xfrm rot="0">
            <a:off x="10650855" y="3507962"/>
            <a:ext cx="142494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TextBox 44" id="44"/>
          <p:cNvSpPr txBox="true"/>
          <p:nvPr/>
        </p:nvSpPr>
        <p:spPr>
          <a:xfrm rot="0">
            <a:off x="2478405" y="5379911"/>
            <a:ext cx="2849880" cy="481203"/>
          </a:xfrm>
          <a:prstGeom prst="rect">
            <a:avLst/>
          </a:prstGeom>
        </p:spPr>
        <p:txBody>
          <a:bodyPr anchor="t" rtlCol="false" tIns="0" lIns="0" bIns="0" rIns="0">
            <a:spAutoFit/>
          </a:bodyPr>
          <a:lstStyle/>
          <a:p>
            <a:pPr algn="ctr">
              <a:lnSpc>
                <a:spcPts val="3537"/>
              </a:lnSpc>
            </a:pPr>
            <a:r>
              <a:rPr lang="en-US" sz="2640">
                <a:solidFill>
                  <a:srgbClr val="647477"/>
                </a:solidFill>
                <a:latin typeface="Sarabun"/>
                <a:ea typeface="Sarabun"/>
                <a:cs typeface="Sarabun"/>
                <a:sym typeface="Sarabun"/>
              </a:rPr>
              <a:t>Customer</a:t>
            </a:r>
          </a:p>
        </p:txBody>
      </p:sp>
      <p:sp>
        <p:nvSpPr>
          <p:cNvPr name="TextBox 45" id="45"/>
          <p:cNvSpPr txBox="true"/>
          <p:nvPr/>
        </p:nvSpPr>
        <p:spPr>
          <a:xfrm rot="0">
            <a:off x="7800975" y="5379911"/>
            <a:ext cx="2849880" cy="481203"/>
          </a:xfrm>
          <a:prstGeom prst="rect">
            <a:avLst/>
          </a:prstGeom>
        </p:spPr>
        <p:txBody>
          <a:bodyPr anchor="t" rtlCol="false" tIns="0" lIns="0" bIns="0" rIns="0">
            <a:spAutoFit/>
          </a:bodyPr>
          <a:lstStyle/>
          <a:p>
            <a:pPr algn="ctr">
              <a:lnSpc>
                <a:spcPts val="3537"/>
              </a:lnSpc>
            </a:pPr>
            <a:r>
              <a:rPr lang="en-US" sz="2640">
                <a:solidFill>
                  <a:srgbClr val="647477"/>
                </a:solidFill>
                <a:latin typeface="Sarabun"/>
                <a:ea typeface="Sarabun"/>
                <a:cs typeface="Sarabun"/>
                <a:sym typeface="Sarabun"/>
              </a:rPr>
              <a:t>Kitchen</a:t>
            </a:r>
          </a:p>
        </p:txBody>
      </p:sp>
      <p:sp>
        <p:nvSpPr>
          <p:cNvPr name="TextBox 46" id="46"/>
          <p:cNvSpPr txBox="true"/>
          <p:nvPr/>
        </p:nvSpPr>
        <p:spPr>
          <a:xfrm rot="0">
            <a:off x="12662535" y="5379911"/>
            <a:ext cx="2849880" cy="481203"/>
          </a:xfrm>
          <a:prstGeom prst="rect">
            <a:avLst/>
          </a:prstGeom>
        </p:spPr>
        <p:txBody>
          <a:bodyPr anchor="t" rtlCol="false" tIns="0" lIns="0" bIns="0" rIns="0">
            <a:spAutoFit/>
          </a:bodyPr>
          <a:lstStyle/>
          <a:p>
            <a:pPr algn="ctr">
              <a:lnSpc>
                <a:spcPts val="3537"/>
              </a:lnSpc>
            </a:pPr>
            <a:r>
              <a:rPr lang="en-US" sz="2640">
                <a:solidFill>
                  <a:srgbClr val="647477"/>
                </a:solidFill>
                <a:latin typeface="Sarabun"/>
                <a:ea typeface="Sarabun"/>
                <a:cs typeface="Sarabun"/>
                <a:sym typeface="Sarabun"/>
              </a:rPr>
              <a:t>Service Staff</a:t>
            </a:r>
          </a:p>
        </p:txBody>
      </p:sp>
      <p:sp>
        <p:nvSpPr>
          <p:cNvPr name="AutoShape 47" id="47"/>
          <p:cNvSpPr/>
          <p:nvPr/>
        </p:nvSpPr>
        <p:spPr>
          <a:xfrm rot="0">
            <a:off x="2855595" y="6918960"/>
            <a:ext cx="12573000" cy="33528"/>
          </a:xfrm>
          <a:prstGeom prst="rect">
            <a:avLst/>
          </a:prstGeom>
          <a:solidFill>
            <a:srgbClr val="173A45"/>
          </a:solidFill>
        </p:spPr>
      </p:sp>
      <p:grpSp>
        <p:nvGrpSpPr>
          <p:cNvPr name="Group 48" id="48"/>
          <p:cNvGrpSpPr/>
          <p:nvPr/>
        </p:nvGrpSpPr>
        <p:grpSpPr>
          <a:xfrm rot="0">
            <a:off x="4381119" y="6281928"/>
            <a:ext cx="637032" cy="637032"/>
            <a:chOff x="0" y="0"/>
            <a:chExt cx="849376" cy="849376"/>
          </a:xfrm>
        </p:grpSpPr>
        <p:sp>
          <p:nvSpPr>
            <p:cNvPr name="Freeform 49" id="49"/>
            <p:cNvSpPr/>
            <p:nvPr/>
          </p:nvSpPr>
          <p:spPr>
            <a:xfrm flipH="false" flipV="false" rot="0">
              <a:off x="0" y="0"/>
              <a:ext cx="849376" cy="849376"/>
            </a:xfrm>
            <a:custGeom>
              <a:avLst/>
              <a:gdLst/>
              <a:ahLst/>
              <a:cxnLst/>
              <a:rect r="r" b="b" t="t" l="l"/>
              <a:pathLst>
                <a:path h="849376" w="849376">
                  <a:moveTo>
                    <a:pt x="424688" y="0"/>
                  </a:moveTo>
                  <a:cubicBezTo>
                    <a:pt x="659257" y="0"/>
                    <a:pt x="849376" y="190119"/>
                    <a:pt x="849376" y="424688"/>
                  </a:cubicBezTo>
                  <a:cubicBezTo>
                    <a:pt x="849376" y="659257"/>
                    <a:pt x="659257" y="849376"/>
                    <a:pt x="424688" y="849376"/>
                  </a:cubicBezTo>
                  <a:cubicBezTo>
                    <a:pt x="190119" y="849376"/>
                    <a:pt x="0" y="659257"/>
                    <a:pt x="0" y="424688"/>
                  </a:cubicBezTo>
                  <a:cubicBezTo>
                    <a:pt x="0" y="190119"/>
                    <a:pt x="190119" y="0"/>
                    <a:pt x="424688" y="0"/>
                  </a:cubicBezTo>
                  <a:close/>
                </a:path>
              </a:pathLst>
            </a:custGeom>
            <a:solidFill>
              <a:srgbClr val="AC4D31"/>
            </a:solidFill>
          </p:spPr>
        </p:sp>
      </p:grpSp>
      <p:grpSp>
        <p:nvGrpSpPr>
          <p:cNvPr name="Group 50" id="50"/>
          <p:cNvGrpSpPr/>
          <p:nvPr/>
        </p:nvGrpSpPr>
        <p:grpSpPr>
          <a:xfrm rot="0">
            <a:off x="4146423" y="7036308"/>
            <a:ext cx="1106424" cy="1047750"/>
            <a:chOff x="0" y="0"/>
            <a:chExt cx="1475232" cy="1397000"/>
          </a:xfrm>
        </p:grpSpPr>
        <p:sp>
          <p:nvSpPr>
            <p:cNvPr name="Freeform 51" id="51"/>
            <p:cNvSpPr/>
            <p:nvPr/>
          </p:nvSpPr>
          <p:spPr>
            <a:xfrm flipH="false" flipV="false" rot="0">
              <a:off x="0" y="0"/>
              <a:ext cx="1475232" cy="1397000"/>
            </a:xfrm>
            <a:custGeom>
              <a:avLst/>
              <a:gdLst/>
              <a:ahLst/>
              <a:cxnLst/>
              <a:rect r="r" b="b" t="t" l="l"/>
              <a:pathLst>
                <a:path h="1397000" w="1475232">
                  <a:moveTo>
                    <a:pt x="698500" y="0"/>
                  </a:moveTo>
                  <a:lnTo>
                    <a:pt x="776732" y="0"/>
                  </a:lnTo>
                  <a:cubicBezTo>
                    <a:pt x="1162558" y="0"/>
                    <a:pt x="1475232" y="312674"/>
                    <a:pt x="1475232" y="698500"/>
                  </a:cubicBezTo>
                  <a:cubicBezTo>
                    <a:pt x="1475232" y="1084326"/>
                    <a:pt x="1162558" y="1397000"/>
                    <a:pt x="776732" y="1397000"/>
                  </a:cubicBezTo>
                  <a:lnTo>
                    <a:pt x="698500" y="1397000"/>
                  </a:lnTo>
                  <a:cubicBezTo>
                    <a:pt x="312674" y="1397000"/>
                    <a:pt x="0" y="1084326"/>
                    <a:pt x="0" y="698500"/>
                  </a:cubicBezTo>
                  <a:cubicBezTo>
                    <a:pt x="0" y="312674"/>
                    <a:pt x="312674" y="0"/>
                    <a:pt x="698500" y="0"/>
                  </a:cubicBezTo>
                  <a:close/>
                </a:path>
              </a:pathLst>
            </a:custGeom>
            <a:solidFill>
              <a:srgbClr val="AC4D31"/>
            </a:solidFill>
          </p:spPr>
        </p:sp>
      </p:grpSp>
      <p:grpSp>
        <p:nvGrpSpPr>
          <p:cNvPr name="Group 52" id="52"/>
          <p:cNvGrpSpPr/>
          <p:nvPr/>
        </p:nvGrpSpPr>
        <p:grpSpPr>
          <a:xfrm rot="0">
            <a:off x="4029075" y="7287768"/>
            <a:ext cx="234696" cy="796290"/>
            <a:chOff x="0" y="0"/>
            <a:chExt cx="312928" cy="1061720"/>
          </a:xfrm>
        </p:grpSpPr>
        <p:sp>
          <p:nvSpPr>
            <p:cNvPr name="Freeform 53" id="53"/>
            <p:cNvSpPr/>
            <p:nvPr/>
          </p:nvSpPr>
          <p:spPr>
            <a:xfrm flipH="false" flipV="false" rot="0">
              <a:off x="0" y="0"/>
              <a:ext cx="312928" cy="1061720"/>
            </a:xfrm>
            <a:custGeom>
              <a:avLst/>
              <a:gdLst/>
              <a:ahLst/>
              <a:cxnLst/>
              <a:rect r="r" b="b" t="t" l="l"/>
              <a:pathLst>
                <a:path h="1061720" w="312928">
                  <a:moveTo>
                    <a:pt x="156464" y="0"/>
                  </a:moveTo>
                  <a:cubicBezTo>
                    <a:pt x="242824" y="0"/>
                    <a:pt x="312928" y="70104"/>
                    <a:pt x="312928" y="156464"/>
                  </a:cubicBezTo>
                  <a:lnTo>
                    <a:pt x="312928" y="905256"/>
                  </a:lnTo>
                  <a:cubicBezTo>
                    <a:pt x="312928" y="991616"/>
                    <a:pt x="242824" y="1061720"/>
                    <a:pt x="156464" y="1061720"/>
                  </a:cubicBezTo>
                  <a:cubicBezTo>
                    <a:pt x="70104" y="1061720"/>
                    <a:pt x="0" y="991616"/>
                    <a:pt x="0" y="905256"/>
                  </a:cubicBezTo>
                  <a:lnTo>
                    <a:pt x="0" y="156464"/>
                  </a:lnTo>
                  <a:cubicBezTo>
                    <a:pt x="0" y="70104"/>
                    <a:pt x="70104" y="0"/>
                    <a:pt x="156464" y="0"/>
                  </a:cubicBezTo>
                  <a:close/>
                </a:path>
              </a:pathLst>
            </a:custGeom>
            <a:solidFill>
              <a:srgbClr val="AC4D31"/>
            </a:solidFill>
          </p:spPr>
        </p:sp>
      </p:grpSp>
      <p:grpSp>
        <p:nvGrpSpPr>
          <p:cNvPr name="Group 54" id="54"/>
          <p:cNvGrpSpPr/>
          <p:nvPr/>
        </p:nvGrpSpPr>
        <p:grpSpPr>
          <a:xfrm rot="0">
            <a:off x="5135499" y="7287768"/>
            <a:ext cx="234696" cy="796290"/>
            <a:chOff x="0" y="0"/>
            <a:chExt cx="312928" cy="1061720"/>
          </a:xfrm>
        </p:grpSpPr>
        <p:sp>
          <p:nvSpPr>
            <p:cNvPr name="Freeform 55" id="55"/>
            <p:cNvSpPr/>
            <p:nvPr/>
          </p:nvSpPr>
          <p:spPr>
            <a:xfrm flipH="false" flipV="false" rot="0">
              <a:off x="0" y="0"/>
              <a:ext cx="312928" cy="1061720"/>
            </a:xfrm>
            <a:custGeom>
              <a:avLst/>
              <a:gdLst/>
              <a:ahLst/>
              <a:cxnLst/>
              <a:rect r="r" b="b" t="t" l="l"/>
              <a:pathLst>
                <a:path h="1061720" w="312928">
                  <a:moveTo>
                    <a:pt x="156464" y="0"/>
                  </a:moveTo>
                  <a:cubicBezTo>
                    <a:pt x="242824" y="0"/>
                    <a:pt x="312928" y="70104"/>
                    <a:pt x="312928" y="156464"/>
                  </a:cubicBezTo>
                  <a:lnTo>
                    <a:pt x="312928" y="905256"/>
                  </a:lnTo>
                  <a:cubicBezTo>
                    <a:pt x="312928" y="991616"/>
                    <a:pt x="242824" y="1061720"/>
                    <a:pt x="156464" y="1061720"/>
                  </a:cubicBezTo>
                  <a:cubicBezTo>
                    <a:pt x="70104" y="1061720"/>
                    <a:pt x="0" y="991616"/>
                    <a:pt x="0" y="905256"/>
                  </a:cubicBezTo>
                  <a:lnTo>
                    <a:pt x="0" y="156464"/>
                  </a:lnTo>
                  <a:cubicBezTo>
                    <a:pt x="0" y="70104"/>
                    <a:pt x="70104" y="0"/>
                    <a:pt x="156464" y="0"/>
                  </a:cubicBezTo>
                  <a:close/>
                </a:path>
              </a:pathLst>
            </a:custGeom>
            <a:solidFill>
              <a:srgbClr val="AC4D31"/>
            </a:solidFill>
          </p:spPr>
        </p:sp>
      </p:grpSp>
      <p:grpSp>
        <p:nvGrpSpPr>
          <p:cNvPr name="Group 56" id="56"/>
          <p:cNvGrpSpPr/>
          <p:nvPr/>
        </p:nvGrpSpPr>
        <p:grpSpPr>
          <a:xfrm rot="0">
            <a:off x="13307949" y="6281928"/>
            <a:ext cx="637032" cy="637032"/>
            <a:chOff x="0" y="0"/>
            <a:chExt cx="849376" cy="849376"/>
          </a:xfrm>
        </p:grpSpPr>
        <p:sp>
          <p:nvSpPr>
            <p:cNvPr name="Freeform 57" id="57"/>
            <p:cNvSpPr/>
            <p:nvPr/>
          </p:nvSpPr>
          <p:spPr>
            <a:xfrm flipH="false" flipV="false" rot="0">
              <a:off x="0" y="0"/>
              <a:ext cx="849376" cy="849376"/>
            </a:xfrm>
            <a:custGeom>
              <a:avLst/>
              <a:gdLst/>
              <a:ahLst/>
              <a:cxnLst/>
              <a:rect r="r" b="b" t="t" l="l"/>
              <a:pathLst>
                <a:path h="849376" w="849376">
                  <a:moveTo>
                    <a:pt x="424688" y="0"/>
                  </a:moveTo>
                  <a:cubicBezTo>
                    <a:pt x="659257" y="0"/>
                    <a:pt x="849376" y="190119"/>
                    <a:pt x="849376" y="424688"/>
                  </a:cubicBezTo>
                  <a:cubicBezTo>
                    <a:pt x="849376" y="659257"/>
                    <a:pt x="659257" y="849376"/>
                    <a:pt x="424688" y="849376"/>
                  </a:cubicBezTo>
                  <a:cubicBezTo>
                    <a:pt x="190119" y="849376"/>
                    <a:pt x="0" y="659257"/>
                    <a:pt x="0" y="424688"/>
                  </a:cubicBezTo>
                  <a:cubicBezTo>
                    <a:pt x="0" y="190119"/>
                    <a:pt x="190119" y="0"/>
                    <a:pt x="424688" y="0"/>
                  </a:cubicBezTo>
                  <a:close/>
                </a:path>
              </a:pathLst>
            </a:custGeom>
            <a:solidFill>
              <a:srgbClr val="28766D"/>
            </a:solidFill>
          </p:spPr>
        </p:sp>
      </p:grpSp>
      <p:grpSp>
        <p:nvGrpSpPr>
          <p:cNvPr name="Group 58" id="58"/>
          <p:cNvGrpSpPr/>
          <p:nvPr/>
        </p:nvGrpSpPr>
        <p:grpSpPr>
          <a:xfrm rot="0">
            <a:off x="13073253" y="7036308"/>
            <a:ext cx="1106424" cy="1047750"/>
            <a:chOff x="0" y="0"/>
            <a:chExt cx="1475232" cy="1397000"/>
          </a:xfrm>
        </p:grpSpPr>
        <p:sp>
          <p:nvSpPr>
            <p:cNvPr name="Freeform 59" id="59"/>
            <p:cNvSpPr/>
            <p:nvPr/>
          </p:nvSpPr>
          <p:spPr>
            <a:xfrm flipH="false" flipV="false" rot="0">
              <a:off x="0" y="0"/>
              <a:ext cx="1475232" cy="1397000"/>
            </a:xfrm>
            <a:custGeom>
              <a:avLst/>
              <a:gdLst/>
              <a:ahLst/>
              <a:cxnLst/>
              <a:rect r="r" b="b" t="t" l="l"/>
              <a:pathLst>
                <a:path h="1397000" w="1475232">
                  <a:moveTo>
                    <a:pt x="698500" y="0"/>
                  </a:moveTo>
                  <a:lnTo>
                    <a:pt x="776732" y="0"/>
                  </a:lnTo>
                  <a:cubicBezTo>
                    <a:pt x="1162558" y="0"/>
                    <a:pt x="1475232" y="312674"/>
                    <a:pt x="1475232" y="698500"/>
                  </a:cubicBezTo>
                  <a:cubicBezTo>
                    <a:pt x="1475232" y="1084326"/>
                    <a:pt x="1162558" y="1397000"/>
                    <a:pt x="776732" y="1397000"/>
                  </a:cubicBezTo>
                  <a:lnTo>
                    <a:pt x="698500" y="1397000"/>
                  </a:lnTo>
                  <a:cubicBezTo>
                    <a:pt x="312674" y="1397000"/>
                    <a:pt x="0" y="1084326"/>
                    <a:pt x="0" y="698500"/>
                  </a:cubicBezTo>
                  <a:cubicBezTo>
                    <a:pt x="0" y="312674"/>
                    <a:pt x="312674" y="0"/>
                    <a:pt x="698500" y="0"/>
                  </a:cubicBezTo>
                  <a:close/>
                </a:path>
              </a:pathLst>
            </a:custGeom>
            <a:solidFill>
              <a:srgbClr val="28766D"/>
            </a:solidFill>
          </p:spPr>
        </p:sp>
      </p:grpSp>
      <p:grpSp>
        <p:nvGrpSpPr>
          <p:cNvPr name="Group 60" id="60"/>
          <p:cNvGrpSpPr/>
          <p:nvPr/>
        </p:nvGrpSpPr>
        <p:grpSpPr>
          <a:xfrm rot="0">
            <a:off x="12955905" y="7287768"/>
            <a:ext cx="234696" cy="796290"/>
            <a:chOff x="0" y="0"/>
            <a:chExt cx="312928" cy="1061720"/>
          </a:xfrm>
        </p:grpSpPr>
        <p:sp>
          <p:nvSpPr>
            <p:cNvPr name="Freeform 61" id="61"/>
            <p:cNvSpPr/>
            <p:nvPr/>
          </p:nvSpPr>
          <p:spPr>
            <a:xfrm flipH="false" flipV="false" rot="0">
              <a:off x="0" y="0"/>
              <a:ext cx="312928" cy="1061720"/>
            </a:xfrm>
            <a:custGeom>
              <a:avLst/>
              <a:gdLst/>
              <a:ahLst/>
              <a:cxnLst/>
              <a:rect r="r" b="b" t="t" l="l"/>
              <a:pathLst>
                <a:path h="1061720" w="312928">
                  <a:moveTo>
                    <a:pt x="156464" y="0"/>
                  </a:moveTo>
                  <a:cubicBezTo>
                    <a:pt x="242824" y="0"/>
                    <a:pt x="312928" y="70104"/>
                    <a:pt x="312928" y="156464"/>
                  </a:cubicBezTo>
                  <a:lnTo>
                    <a:pt x="312928" y="905256"/>
                  </a:lnTo>
                  <a:cubicBezTo>
                    <a:pt x="312928" y="991616"/>
                    <a:pt x="242824" y="1061720"/>
                    <a:pt x="156464" y="1061720"/>
                  </a:cubicBezTo>
                  <a:cubicBezTo>
                    <a:pt x="70104" y="1061720"/>
                    <a:pt x="0" y="991616"/>
                    <a:pt x="0" y="905256"/>
                  </a:cubicBezTo>
                  <a:lnTo>
                    <a:pt x="0" y="156464"/>
                  </a:lnTo>
                  <a:cubicBezTo>
                    <a:pt x="0" y="70104"/>
                    <a:pt x="70104" y="0"/>
                    <a:pt x="156464" y="0"/>
                  </a:cubicBezTo>
                  <a:close/>
                </a:path>
              </a:pathLst>
            </a:custGeom>
            <a:solidFill>
              <a:srgbClr val="28766D"/>
            </a:solidFill>
          </p:spPr>
        </p:sp>
      </p:grpSp>
      <p:grpSp>
        <p:nvGrpSpPr>
          <p:cNvPr name="Group 62" id="62"/>
          <p:cNvGrpSpPr/>
          <p:nvPr/>
        </p:nvGrpSpPr>
        <p:grpSpPr>
          <a:xfrm rot="0">
            <a:off x="14062329" y="7287768"/>
            <a:ext cx="234696" cy="796290"/>
            <a:chOff x="0" y="0"/>
            <a:chExt cx="312928" cy="1061720"/>
          </a:xfrm>
        </p:grpSpPr>
        <p:sp>
          <p:nvSpPr>
            <p:cNvPr name="Freeform 63" id="63"/>
            <p:cNvSpPr/>
            <p:nvPr/>
          </p:nvSpPr>
          <p:spPr>
            <a:xfrm flipH="false" flipV="false" rot="0">
              <a:off x="0" y="0"/>
              <a:ext cx="312928" cy="1061720"/>
            </a:xfrm>
            <a:custGeom>
              <a:avLst/>
              <a:gdLst/>
              <a:ahLst/>
              <a:cxnLst/>
              <a:rect r="r" b="b" t="t" l="l"/>
              <a:pathLst>
                <a:path h="1061720" w="312928">
                  <a:moveTo>
                    <a:pt x="156464" y="0"/>
                  </a:moveTo>
                  <a:cubicBezTo>
                    <a:pt x="242824" y="0"/>
                    <a:pt x="312928" y="70104"/>
                    <a:pt x="312928" y="156464"/>
                  </a:cubicBezTo>
                  <a:lnTo>
                    <a:pt x="312928" y="905256"/>
                  </a:lnTo>
                  <a:cubicBezTo>
                    <a:pt x="312928" y="991616"/>
                    <a:pt x="242824" y="1061720"/>
                    <a:pt x="156464" y="1061720"/>
                  </a:cubicBezTo>
                  <a:cubicBezTo>
                    <a:pt x="70104" y="1061720"/>
                    <a:pt x="0" y="991616"/>
                    <a:pt x="0" y="905256"/>
                  </a:cubicBezTo>
                  <a:lnTo>
                    <a:pt x="0" y="156464"/>
                  </a:lnTo>
                  <a:cubicBezTo>
                    <a:pt x="0" y="70104"/>
                    <a:pt x="70104" y="0"/>
                    <a:pt x="156464" y="0"/>
                  </a:cubicBezTo>
                  <a:close/>
                </a:path>
              </a:pathLst>
            </a:custGeom>
            <a:solidFill>
              <a:srgbClr val="28766D"/>
            </a:solidFill>
          </p:spPr>
        </p:sp>
      </p:grpSp>
      <p:sp>
        <p:nvSpPr>
          <p:cNvPr name="TextBox 64" id="64"/>
          <p:cNvSpPr txBox="true"/>
          <p:nvPr/>
        </p:nvSpPr>
        <p:spPr>
          <a:xfrm rot="0">
            <a:off x="5537835" y="7046595"/>
            <a:ext cx="4610100" cy="423672"/>
          </a:xfrm>
          <a:prstGeom prst="rect">
            <a:avLst/>
          </a:prstGeom>
        </p:spPr>
        <p:txBody>
          <a:bodyPr anchor="t" rtlCol="false" tIns="0" lIns="0" bIns="0" rIns="0">
            <a:spAutoFit/>
          </a:bodyPr>
          <a:lstStyle/>
          <a:p>
            <a:pPr algn="l">
              <a:lnSpc>
                <a:spcPts val="3006"/>
              </a:lnSpc>
            </a:pPr>
            <a:r>
              <a:rPr lang="en-US" sz="2244">
                <a:solidFill>
                  <a:srgbClr val="173A45"/>
                </a:solidFill>
                <a:latin typeface="Sarabun"/>
                <a:ea typeface="Sarabun"/>
                <a:cs typeface="Sarabun"/>
                <a:sym typeface="Sarabun"/>
              </a:rPr>
              <a:t>Manager · ข้อมูลร้าน</a:t>
            </a:r>
          </a:p>
        </p:txBody>
      </p:sp>
      <p:sp>
        <p:nvSpPr>
          <p:cNvPr name="TextBox 65" id="65"/>
          <p:cNvSpPr txBox="true"/>
          <p:nvPr/>
        </p:nvSpPr>
        <p:spPr>
          <a:xfrm rot="0">
            <a:off x="10315575" y="7046595"/>
            <a:ext cx="4610100" cy="423672"/>
          </a:xfrm>
          <a:prstGeom prst="rect">
            <a:avLst/>
          </a:prstGeom>
        </p:spPr>
        <p:txBody>
          <a:bodyPr anchor="t" rtlCol="false" tIns="0" lIns="0" bIns="0" rIns="0">
            <a:spAutoFit/>
          </a:bodyPr>
          <a:lstStyle/>
          <a:p>
            <a:pPr algn="l">
              <a:lnSpc>
                <a:spcPts val="3006"/>
              </a:lnSpc>
            </a:pPr>
            <a:r>
              <a:rPr lang="en-US" sz="2244">
                <a:solidFill>
                  <a:srgbClr val="173A45"/>
                </a:solidFill>
                <a:latin typeface="Sarabun"/>
                <a:ea typeface="Sarabun"/>
                <a:cs typeface="Sarabun"/>
                <a:sym typeface="Sarabun"/>
              </a:rPr>
              <a:t>Supervisor · สต๊อก</a:t>
            </a:r>
          </a:p>
        </p:txBody>
      </p:sp>
      <p:sp>
        <p:nvSpPr>
          <p:cNvPr name="TextBox 66" id="66"/>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ลูกค้าสั่งอาหาร ครัวเริ่มทำ และพนักงานดูแลการชำระเงิน แต่ละบทบาทใช้ข้อมูลรอบโต๊ะเดียวกัน โดย backend ตรวจสิทธิ์ทุกคำขอ</a:t>
            </a:r>
          </a:p>
        </p:txBody>
      </p:sp>
      <p:sp>
        <p:nvSpPr>
          <p:cNvPr name="TextBox 67" id="67"/>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pavarit_673380278-9_01</a:t>
            </a:r>
          </a:p>
        </p:txBody>
      </p:sp>
      <p:sp>
        <p:nvSpPr>
          <p:cNvPr name="TextBox 68" id="68"/>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35 วินาที · 2/10</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แยกหน้าจอ กฎธุรกิจ และข้อมูล</a:t>
            </a:r>
          </a:p>
        </p:txBody>
      </p:sp>
      <p:grpSp>
        <p:nvGrpSpPr>
          <p:cNvPr name="Group 5" id="5"/>
          <p:cNvGrpSpPr/>
          <p:nvPr/>
        </p:nvGrpSpPr>
        <p:grpSpPr>
          <a:xfrm rot="0">
            <a:off x="2604135" y="3312604"/>
            <a:ext cx="997458" cy="1676400"/>
            <a:chOff x="0" y="0"/>
            <a:chExt cx="1329944" cy="2235200"/>
          </a:xfrm>
        </p:grpSpPr>
        <p:sp>
          <p:nvSpPr>
            <p:cNvPr name="Freeform 6" id="6"/>
            <p:cNvSpPr/>
            <p:nvPr/>
          </p:nvSpPr>
          <p:spPr>
            <a:xfrm flipH="false" flipV="false" rot="0">
              <a:off x="0" y="0"/>
              <a:ext cx="1329944" cy="2235200"/>
            </a:xfrm>
            <a:custGeom>
              <a:avLst/>
              <a:gdLst/>
              <a:ahLst/>
              <a:cxnLst/>
              <a:rect r="r" b="b" t="t" l="l"/>
              <a:pathLst>
                <a:path h="2235200" w="1329944">
                  <a:moveTo>
                    <a:pt x="213360" y="0"/>
                  </a:moveTo>
                  <a:lnTo>
                    <a:pt x="1116584" y="0"/>
                  </a:lnTo>
                  <a:cubicBezTo>
                    <a:pt x="1234440" y="0"/>
                    <a:pt x="1329944" y="95504"/>
                    <a:pt x="1329944" y="213360"/>
                  </a:cubicBezTo>
                  <a:lnTo>
                    <a:pt x="1329944" y="2021840"/>
                  </a:lnTo>
                  <a:cubicBezTo>
                    <a:pt x="1329944" y="2139696"/>
                    <a:pt x="1234440" y="2235200"/>
                    <a:pt x="1116584" y="2235200"/>
                  </a:cubicBezTo>
                  <a:lnTo>
                    <a:pt x="213360" y="2235200"/>
                  </a:lnTo>
                  <a:cubicBezTo>
                    <a:pt x="95504" y="2235200"/>
                    <a:pt x="0" y="2139696"/>
                    <a:pt x="0" y="2021840"/>
                  </a:cubicBezTo>
                  <a:lnTo>
                    <a:pt x="0" y="213360"/>
                  </a:lnTo>
                  <a:cubicBezTo>
                    <a:pt x="0" y="95504"/>
                    <a:pt x="95504" y="0"/>
                    <a:pt x="213360" y="0"/>
                  </a:cubicBezTo>
                  <a:close/>
                </a:path>
              </a:pathLst>
            </a:custGeom>
            <a:solidFill>
              <a:srgbClr val="173A45"/>
            </a:solidFill>
          </p:spPr>
        </p:sp>
      </p:grpSp>
      <p:grpSp>
        <p:nvGrpSpPr>
          <p:cNvPr name="Group 7" id="7"/>
          <p:cNvGrpSpPr/>
          <p:nvPr/>
        </p:nvGrpSpPr>
        <p:grpSpPr>
          <a:xfrm rot="0">
            <a:off x="2679478" y="3461385"/>
            <a:ext cx="846582" cy="1349502"/>
            <a:chOff x="0" y="0"/>
            <a:chExt cx="1128776" cy="1799336"/>
          </a:xfrm>
        </p:grpSpPr>
        <p:sp>
          <p:nvSpPr>
            <p:cNvPr name="Freeform 8" id="8"/>
            <p:cNvSpPr/>
            <p:nvPr/>
          </p:nvSpPr>
          <p:spPr>
            <a:xfrm flipH="false" flipV="false" rot="0">
              <a:off x="0" y="0"/>
              <a:ext cx="1128776" cy="1799336"/>
            </a:xfrm>
            <a:custGeom>
              <a:avLst/>
              <a:gdLst/>
              <a:ahLst/>
              <a:cxnLst/>
              <a:rect r="r" b="b" t="t" l="l"/>
              <a:pathLst>
                <a:path h="1799336" w="1128776">
                  <a:moveTo>
                    <a:pt x="71120" y="0"/>
                  </a:moveTo>
                  <a:lnTo>
                    <a:pt x="1057656" y="0"/>
                  </a:lnTo>
                  <a:cubicBezTo>
                    <a:pt x="1096899" y="0"/>
                    <a:pt x="1128776" y="31877"/>
                    <a:pt x="1128776" y="71120"/>
                  </a:cubicBezTo>
                  <a:lnTo>
                    <a:pt x="1128776" y="1728216"/>
                  </a:lnTo>
                  <a:cubicBezTo>
                    <a:pt x="1128776" y="1767459"/>
                    <a:pt x="1096899" y="1799336"/>
                    <a:pt x="1057656" y="1799336"/>
                  </a:cubicBezTo>
                  <a:lnTo>
                    <a:pt x="71120" y="1799336"/>
                  </a:lnTo>
                  <a:cubicBezTo>
                    <a:pt x="31877" y="1799336"/>
                    <a:pt x="0" y="1767459"/>
                    <a:pt x="0" y="1728216"/>
                  </a:cubicBezTo>
                  <a:lnTo>
                    <a:pt x="0" y="71120"/>
                  </a:lnTo>
                  <a:cubicBezTo>
                    <a:pt x="0" y="31877"/>
                    <a:pt x="31877" y="0"/>
                    <a:pt x="71120" y="0"/>
                  </a:cubicBezTo>
                  <a:close/>
                </a:path>
              </a:pathLst>
            </a:custGeom>
            <a:solidFill>
              <a:srgbClr val="FFFFFF"/>
            </a:solidFill>
          </p:spPr>
        </p:sp>
      </p:grpSp>
      <p:grpSp>
        <p:nvGrpSpPr>
          <p:cNvPr name="Group 9" id="9"/>
          <p:cNvGrpSpPr/>
          <p:nvPr/>
        </p:nvGrpSpPr>
        <p:grpSpPr>
          <a:xfrm rot="0">
            <a:off x="2981230" y="3371278"/>
            <a:ext cx="243078" cy="33528"/>
            <a:chOff x="0" y="0"/>
            <a:chExt cx="324104" cy="44704"/>
          </a:xfrm>
        </p:grpSpPr>
        <p:sp>
          <p:nvSpPr>
            <p:cNvPr name="Freeform 10" id="10"/>
            <p:cNvSpPr/>
            <p:nvPr/>
          </p:nvSpPr>
          <p:spPr>
            <a:xfrm flipH="false" flipV="false" rot="0">
              <a:off x="0" y="0"/>
              <a:ext cx="324104" cy="44704"/>
            </a:xfrm>
            <a:custGeom>
              <a:avLst/>
              <a:gdLst/>
              <a:ahLst/>
              <a:cxnLst/>
              <a:rect r="r" b="b" t="t" l="l"/>
              <a:pathLst>
                <a:path h="44704" w="324104">
                  <a:moveTo>
                    <a:pt x="17780" y="0"/>
                  </a:moveTo>
                  <a:lnTo>
                    <a:pt x="306324" y="0"/>
                  </a:lnTo>
                  <a:cubicBezTo>
                    <a:pt x="316103" y="0"/>
                    <a:pt x="324104" y="8001"/>
                    <a:pt x="324104" y="17780"/>
                  </a:cubicBezTo>
                  <a:lnTo>
                    <a:pt x="324104" y="26924"/>
                  </a:lnTo>
                  <a:cubicBezTo>
                    <a:pt x="324104" y="36703"/>
                    <a:pt x="316103" y="44704"/>
                    <a:pt x="306324" y="44704"/>
                  </a:cubicBezTo>
                  <a:lnTo>
                    <a:pt x="17780" y="44704"/>
                  </a:lnTo>
                  <a:cubicBezTo>
                    <a:pt x="8001" y="44704"/>
                    <a:pt x="0" y="36703"/>
                    <a:pt x="0" y="26924"/>
                  </a:cubicBezTo>
                  <a:lnTo>
                    <a:pt x="0" y="17780"/>
                  </a:lnTo>
                  <a:cubicBezTo>
                    <a:pt x="0" y="8001"/>
                    <a:pt x="8001" y="0"/>
                    <a:pt x="17780" y="0"/>
                  </a:cubicBezTo>
                  <a:close/>
                </a:path>
              </a:pathLst>
            </a:custGeom>
            <a:solidFill>
              <a:srgbClr val="FFFFFF"/>
            </a:solidFill>
          </p:spPr>
        </p:sp>
      </p:grpSp>
      <p:grpSp>
        <p:nvGrpSpPr>
          <p:cNvPr name="Group 11" id="11"/>
          <p:cNvGrpSpPr/>
          <p:nvPr/>
        </p:nvGrpSpPr>
        <p:grpSpPr>
          <a:xfrm rot="0">
            <a:off x="3056668" y="4864418"/>
            <a:ext cx="92202" cy="92202"/>
            <a:chOff x="0" y="0"/>
            <a:chExt cx="122936" cy="122936"/>
          </a:xfrm>
        </p:grpSpPr>
        <p:sp>
          <p:nvSpPr>
            <p:cNvPr name="Freeform 12" id="12"/>
            <p:cNvSpPr/>
            <p:nvPr/>
          </p:nvSpPr>
          <p:spPr>
            <a:xfrm flipH="false" flipV="false" rot="0">
              <a:off x="0" y="0"/>
              <a:ext cx="122936" cy="122936"/>
            </a:xfrm>
            <a:custGeom>
              <a:avLst/>
              <a:gdLst/>
              <a:ahLst/>
              <a:cxnLst/>
              <a:rect r="r" b="b" t="t" l="l"/>
              <a:pathLst>
                <a:path h="122936" w="122936">
                  <a:moveTo>
                    <a:pt x="61468" y="0"/>
                  </a:moveTo>
                  <a:cubicBezTo>
                    <a:pt x="95377" y="0"/>
                    <a:pt x="122936" y="27559"/>
                    <a:pt x="122936" y="61468"/>
                  </a:cubicBezTo>
                  <a:cubicBezTo>
                    <a:pt x="122936" y="95377"/>
                    <a:pt x="95377" y="122936"/>
                    <a:pt x="61468" y="122936"/>
                  </a:cubicBezTo>
                  <a:cubicBezTo>
                    <a:pt x="27559" y="122936"/>
                    <a:pt x="0" y="95377"/>
                    <a:pt x="0" y="61468"/>
                  </a:cubicBezTo>
                  <a:cubicBezTo>
                    <a:pt x="0" y="27559"/>
                    <a:pt x="27559" y="0"/>
                    <a:pt x="61468" y="0"/>
                  </a:cubicBezTo>
                  <a:close/>
                </a:path>
              </a:pathLst>
            </a:custGeom>
            <a:solidFill>
              <a:srgbClr val="FFFFFF"/>
            </a:solidFill>
          </p:spPr>
        </p:sp>
      </p:grpSp>
      <p:sp>
        <p:nvSpPr>
          <p:cNvPr name="AutoShape 13" id="13"/>
          <p:cNvSpPr/>
          <p:nvPr/>
        </p:nvSpPr>
        <p:spPr>
          <a:xfrm rot="0">
            <a:off x="2807398" y="3734943"/>
            <a:ext cx="209550" cy="209550"/>
          </a:xfrm>
          <a:prstGeom prst="rect">
            <a:avLst/>
          </a:prstGeom>
          <a:solidFill>
            <a:srgbClr val="173A45"/>
          </a:solidFill>
        </p:spPr>
      </p:sp>
      <p:sp>
        <p:nvSpPr>
          <p:cNvPr name="AutoShape 14" id="14"/>
          <p:cNvSpPr/>
          <p:nvPr/>
        </p:nvSpPr>
        <p:spPr>
          <a:xfrm rot="0">
            <a:off x="3159442" y="3734943"/>
            <a:ext cx="209550" cy="209550"/>
          </a:xfrm>
          <a:prstGeom prst="rect">
            <a:avLst/>
          </a:prstGeom>
          <a:solidFill>
            <a:srgbClr val="173A45"/>
          </a:solidFill>
        </p:spPr>
      </p:sp>
      <p:sp>
        <p:nvSpPr>
          <p:cNvPr name="AutoShape 15" id="15"/>
          <p:cNvSpPr/>
          <p:nvPr/>
        </p:nvSpPr>
        <p:spPr>
          <a:xfrm rot="0">
            <a:off x="2807398" y="4086987"/>
            <a:ext cx="209550" cy="209550"/>
          </a:xfrm>
          <a:prstGeom prst="rect">
            <a:avLst/>
          </a:prstGeom>
          <a:solidFill>
            <a:srgbClr val="173A45"/>
          </a:solidFill>
        </p:spPr>
      </p:sp>
      <p:sp>
        <p:nvSpPr>
          <p:cNvPr name="AutoShape 16" id="16"/>
          <p:cNvSpPr/>
          <p:nvPr/>
        </p:nvSpPr>
        <p:spPr>
          <a:xfrm rot="0">
            <a:off x="3162300" y="4089940"/>
            <a:ext cx="92202" cy="92202"/>
          </a:xfrm>
          <a:prstGeom prst="rect">
            <a:avLst/>
          </a:prstGeom>
          <a:solidFill>
            <a:srgbClr val="173A45"/>
          </a:solidFill>
        </p:spPr>
      </p:sp>
      <p:sp>
        <p:nvSpPr>
          <p:cNvPr name="AutoShape 17" id="17"/>
          <p:cNvSpPr/>
          <p:nvPr/>
        </p:nvSpPr>
        <p:spPr>
          <a:xfrm rot="0">
            <a:off x="3266599" y="4200144"/>
            <a:ext cx="100584" cy="100584"/>
          </a:xfrm>
          <a:prstGeom prst="rect">
            <a:avLst/>
          </a:prstGeom>
          <a:solidFill>
            <a:srgbClr val="173A45"/>
          </a:solidFill>
        </p:spPr>
      </p:sp>
      <p:sp>
        <p:nvSpPr>
          <p:cNvPr name="AutoShape 18" id="18"/>
          <p:cNvSpPr/>
          <p:nvPr/>
        </p:nvSpPr>
        <p:spPr>
          <a:xfrm rot="0">
            <a:off x="3054953" y="3976783"/>
            <a:ext cx="83820" cy="83820"/>
          </a:xfrm>
          <a:prstGeom prst="rect">
            <a:avLst/>
          </a:prstGeom>
          <a:solidFill>
            <a:srgbClr val="173A45"/>
          </a:solidFill>
        </p:spPr>
      </p:sp>
      <p:grpSp>
        <p:nvGrpSpPr>
          <p:cNvPr name="Group 19" id="19"/>
          <p:cNvGrpSpPr/>
          <p:nvPr/>
        </p:nvGrpSpPr>
        <p:grpSpPr>
          <a:xfrm rot="0">
            <a:off x="5621655" y="3649980"/>
            <a:ext cx="2598420" cy="1089660"/>
            <a:chOff x="0" y="0"/>
            <a:chExt cx="3464560" cy="1452880"/>
          </a:xfrm>
        </p:grpSpPr>
        <p:sp>
          <p:nvSpPr>
            <p:cNvPr name="Freeform 20" id="20"/>
            <p:cNvSpPr/>
            <p:nvPr/>
          </p:nvSpPr>
          <p:spPr>
            <a:xfrm flipH="false" flipV="false" rot="0">
              <a:off x="0" y="0"/>
              <a:ext cx="3464560" cy="1452880"/>
            </a:xfrm>
            <a:custGeom>
              <a:avLst/>
              <a:gdLst/>
              <a:ahLst/>
              <a:cxnLst/>
              <a:rect r="r" b="b" t="t" l="l"/>
              <a:pathLst>
                <a:path h="1452880" w="3464560">
                  <a:moveTo>
                    <a:pt x="228600" y="0"/>
                  </a:moveTo>
                  <a:lnTo>
                    <a:pt x="3235960" y="0"/>
                  </a:lnTo>
                  <a:cubicBezTo>
                    <a:pt x="3362198" y="0"/>
                    <a:pt x="3464560" y="102362"/>
                    <a:pt x="3464560" y="228600"/>
                  </a:cubicBezTo>
                  <a:lnTo>
                    <a:pt x="3464560" y="1224280"/>
                  </a:lnTo>
                  <a:cubicBezTo>
                    <a:pt x="3464560" y="1350518"/>
                    <a:pt x="3362198" y="1452880"/>
                    <a:pt x="3235960" y="1452880"/>
                  </a:cubicBezTo>
                  <a:lnTo>
                    <a:pt x="228600" y="1452880"/>
                  </a:lnTo>
                  <a:cubicBezTo>
                    <a:pt x="102362" y="1452880"/>
                    <a:pt x="0" y="1350518"/>
                    <a:pt x="0" y="1224280"/>
                  </a:cubicBezTo>
                  <a:lnTo>
                    <a:pt x="0" y="228600"/>
                  </a:lnTo>
                  <a:cubicBezTo>
                    <a:pt x="0" y="102362"/>
                    <a:pt x="102362" y="0"/>
                    <a:pt x="228600" y="0"/>
                  </a:cubicBezTo>
                  <a:close/>
                </a:path>
              </a:pathLst>
            </a:custGeom>
            <a:solidFill>
              <a:srgbClr val="F1E3CB"/>
            </a:solidFill>
          </p:spPr>
        </p:sp>
      </p:grpSp>
      <p:sp>
        <p:nvSpPr>
          <p:cNvPr name="TextBox 21" id="21"/>
          <p:cNvSpPr txBox="true"/>
          <p:nvPr/>
        </p:nvSpPr>
        <p:spPr>
          <a:xfrm rot="0">
            <a:off x="5772531" y="3964972"/>
            <a:ext cx="229666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Controller</a:t>
            </a:r>
          </a:p>
        </p:txBody>
      </p:sp>
      <p:grpSp>
        <p:nvGrpSpPr>
          <p:cNvPr name="Group 22" id="22"/>
          <p:cNvGrpSpPr/>
          <p:nvPr/>
        </p:nvGrpSpPr>
        <p:grpSpPr>
          <a:xfrm rot="0">
            <a:off x="9561195" y="3649980"/>
            <a:ext cx="2598420" cy="1089660"/>
            <a:chOff x="0" y="0"/>
            <a:chExt cx="3464560" cy="1452880"/>
          </a:xfrm>
        </p:grpSpPr>
        <p:sp>
          <p:nvSpPr>
            <p:cNvPr name="Freeform 23" id="23"/>
            <p:cNvSpPr/>
            <p:nvPr/>
          </p:nvSpPr>
          <p:spPr>
            <a:xfrm flipH="false" flipV="false" rot="0">
              <a:off x="0" y="0"/>
              <a:ext cx="3464560" cy="1452880"/>
            </a:xfrm>
            <a:custGeom>
              <a:avLst/>
              <a:gdLst/>
              <a:ahLst/>
              <a:cxnLst/>
              <a:rect r="r" b="b" t="t" l="l"/>
              <a:pathLst>
                <a:path h="1452880" w="3464560">
                  <a:moveTo>
                    <a:pt x="228600" y="0"/>
                  </a:moveTo>
                  <a:lnTo>
                    <a:pt x="3235960" y="0"/>
                  </a:lnTo>
                  <a:cubicBezTo>
                    <a:pt x="3362198" y="0"/>
                    <a:pt x="3464560" y="102362"/>
                    <a:pt x="3464560" y="228600"/>
                  </a:cubicBezTo>
                  <a:lnTo>
                    <a:pt x="3464560" y="1224280"/>
                  </a:lnTo>
                  <a:cubicBezTo>
                    <a:pt x="3464560" y="1350518"/>
                    <a:pt x="3362198" y="1452880"/>
                    <a:pt x="3235960" y="1452880"/>
                  </a:cubicBezTo>
                  <a:lnTo>
                    <a:pt x="228600" y="1452880"/>
                  </a:lnTo>
                  <a:cubicBezTo>
                    <a:pt x="102362" y="1452880"/>
                    <a:pt x="0" y="1350518"/>
                    <a:pt x="0" y="1224280"/>
                  </a:cubicBezTo>
                  <a:lnTo>
                    <a:pt x="0" y="228600"/>
                  </a:lnTo>
                  <a:cubicBezTo>
                    <a:pt x="0" y="102362"/>
                    <a:pt x="102362" y="0"/>
                    <a:pt x="228600" y="0"/>
                  </a:cubicBezTo>
                  <a:close/>
                </a:path>
              </a:pathLst>
            </a:custGeom>
            <a:solidFill>
              <a:srgbClr val="DAEBE4"/>
            </a:solidFill>
          </p:spPr>
        </p:sp>
      </p:grpSp>
      <p:sp>
        <p:nvSpPr>
          <p:cNvPr name="TextBox 24" id="24"/>
          <p:cNvSpPr txBox="true"/>
          <p:nvPr/>
        </p:nvSpPr>
        <p:spPr>
          <a:xfrm rot="0">
            <a:off x="9712071" y="3964972"/>
            <a:ext cx="229666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Service</a:t>
            </a:r>
          </a:p>
        </p:txBody>
      </p:sp>
      <p:grpSp>
        <p:nvGrpSpPr>
          <p:cNvPr name="Group 25" id="25"/>
          <p:cNvGrpSpPr/>
          <p:nvPr/>
        </p:nvGrpSpPr>
        <p:grpSpPr>
          <a:xfrm rot="0">
            <a:off x="13752195" y="3478530"/>
            <a:ext cx="1584198" cy="1324356"/>
            <a:chOff x="0" y="0"/>
            <a:chExt cx="2112264" cy="1765808"/>
          </a:xfrm>
        </p:grpSpPr>
        <p:sp>
          <p:nvSpPr>
            <p:cNvPr name="Freeform 26" id="26"/>
            <p:cNvSpPr/>
            <p:nvPr/>
          </p:nvSpPr>
          <p:spPr>
            <a:xfrm flipH="false" flipV="false" rot="0">
              <a:off x="0" y="0"/>
              <a:ext cx="2112264" cy="1765808"/>
            </a:xfrm>
            <a:custGeom>
              <a:avLst/>
              <a:gdLst/>
              <a:ahLst/>
              <a:cxnLst/>
              <a:rect r="r" b="b" t="t" l="l"/>
              <a:pathLst>
                <a:path h="1765808" w="2112264">
                  <a:moveTo>
                    <a:pt x="228600" y="0"/>
                  </a:moveTo>
                  <a:lnTo>
                    <a:pt x="1883664" y="0"/>
                  </a:lnTo>
                  <a:cubicBezTo>
                    <a:pt x="2009902" y="0"/>
                    <a:pt x="2112264" y="102362"/>
                    <a:pt x="2112264" y="228600"/>
                  </a:cubicBezTo>
                  <a:lnTo>
                    <a:pt x="2112264" y="1537208"/>
                  </a:lnTo>
                  <a:cubicBezTo>
                    <a:pt x="2112264" y="1663446"/>
                    <a:pt x="2009902" y="1765808"/>
                    <a:pt x="1883664" y="1765808"/>
                  </a:cubicBezTo>
                  <a:lnTo>
                    <a:pt x="228600" y="1765808"/>
                  </a:lnTo>
                  <a:cubicBezTo>
                    <a:pt x="102362" y="1765808"/>
                    <a:pt x="0" y="1663446"/>
                    <a:pt x="0" y="1537208"/>
                  </a:cubicBezTo>
                  <a:lnTo>
                    <a:pt x="0" y="228600"/>
                  </a:lnTo>
                  <a:cubicBezTo>
                    <a:pt x="0" y="102362"/>
                    <a:pt x="102362" y="0"/>
                    <a:pt x="228600" y="0"/>
                  </a:cubicBezTo>
                  <a:close/>
                </a:path>
              </a:pathLst>
            </a:custGeom>
            <a:solidFill>
              <a:srgbClr val="28766D"/>
            </a:solidFill>
          </p:spPr>
        </p:sp>
      </p:grpSp>
      <p:grpSp>
        <p:nvGrpSpPr>
          <p:cNvPr name="Group 27" id="27"/>
          <p:cNvGrpSpPr/>
          <p:nvPr/>
        </p:nvGrpSpPr>
        <p:grpSpPr>
          <a:xfrm rot="0">
            <a:off x="13752195" y="3312604"/>
            <a:ext cx="1584198" cy="494538"/>
            <a:chOff x="0" y="0"/>
            <a:chExt cx="2112264" cy="659384"/>
          </a:xfrm>
        </p:grpSpPr>
        <p:sp>
          <p:nvSpPr>
            <p:cNvPr name="Freeform 28" id="28"/>
            <p:cNvSpPr/>
            <p:nvPr/>
          </p:nvSpPr>
          <p:spPr>
            <a:xfrm flipH="false" flipV="false" rot="0">
              <a:off x="0" y="0"/>
              <a:ext cx="2112264" cy="659384"/>
            </a:xfrm>
            <a:custGeom>
              <a:avLst/>
              <a:gdLst/>
              <a:ahLst/>
              <a:cxnLst/>
              <a:rect r="r" b="b" t="t" l="l"/>
              <a:pathLst>
                <a:path h="659384" w="2112264">
                  <a:moveTo>
                    <a:pt x="329692" y="0"/>
                  </a:moveTo>
                  <a:lnTo>
                    <a:pt x="1782572" y="0"/>
                  </a:lnTo>
                  <a:cubicBezTo>
                    <a:pt x="1964690" y="0"/>
                    <a:pt x="2112264" y="147574"/>
                    <a:pt x="2112264" y="329692"/>
                  </a:cubicBezTo>
                  <a:cubicBezTo>
                    <a:pt x="2112264" y="511810"/>
                    <a:pt x="1964690" y="659384"/>
                    <a:pt x="1782572" y="659384"/>
                  </a:cubicBezTo>
                  <a:lnTo>
                    <a:pt x="329692" y="659384"/>
                  </a:lnTo>
                  <a:cubicBezTo>
                    <a:pt x="147574" y="659384"/>
                    <a:pt x="0" y="511810"/>
                    <a:pt x="0" y="329692"/>
                  </a:cubicBezTo>
                  <a:cubicBezTo>
                    <a:pt x="0" y="147574"/>
                    <a:pt x="147574" y="0"/>
                    <a:pt x="329692" y="0"/>
                  </a:cubicBezTo>
                  <a:close/>
                </a:path>
              </a:pathLst>
            </a:custGeom>
            <a:solidFill>
              <a:srgbClr val="DAEBE4"/>
            </a:solidFill>
          </p:spPr>
        </p:sp>
        <p:sp>
          <p:nvSpPr>
            <p:cNvPr name="Freeform 29" id="29"/>
            <p:cNvSpPr/>
            <p:nvPr/>
          </p:nvSpPr>
          <p:spPr>
            <a:xfrm flipH="false" flipV="false" rot="0">
              <a:off x="0" y="0"/>
              <a:ext cx="2112264" cy="659384"/>
            </a:xfrm>
            <a:custGeom>
              <a:avLst/>
              <a:gdLst/>
              <a:ahLst/>
              <a:cxnLst/>
              <a:rect r="r" b="b" t="t" l="l"/>
              <a:pathLst>
                <a:path h="659384" w="2112264">
                  <a:moveTo>
                    <a:pt x="329692" y="0"/>
                  </a:moveTo>
                  <a:lnTo>
                    <a:pt x="1782572" y="0"/>
                  </a:lnTo>
                  <a:cubicBezTo>
                    <a:pt x="1964690" y="0"/>
                    <a:pt x="2112264" y="147574"/>
                    <a:pt x="2112264" y="329692"/>
                  </a:cubicBezTo>
                  <a:cubicBezTo>
                    <a:pt x="2112264" y="511810"/>
                    <a:pt x="1964690" y="659384"/>
                    <a:pt x="1782572" y="659384"/>
                  </a:cubicBezTo>
                  <a:lnTo>
                    <a:pt x="329692" y="659384"/>
                  </a:lnTo>
                  <a:cubicBezTo>
                    <a:pt x="147574" y="659384"/>
                    <a:pt x="0" y="511810"/>
                    <a:pt x="0" y="329692"/>
                  </a:cubicBezTo>
                  <a:cubicBezTo>
                    <a:pt x="0" y="147574"/>
                    <a:pt x="147574" y="0"/>
                    <a:pt x="329692" y="0"/>
                  </a:cubicBezTo>
                  <a:close/>
                </a:path>
              </a:pathLst>
            </a:custGeom>
            <a:solidFill>
              <a:srgbClr val="000000">
                <a:alpha val="0"/>
              </a:srgbClr>
            </a:solidFill>
            <a:ln w="28575" cap="sq">
              <a:solidFill>
                <a:srgbClr val="173A45"/>
              </a:solidFill>
              <a:prstDash val="solid"/>
              <a:miter/>
            </a:ln>
          </p:spPr>
        </p:sp>
      </p:grpSp>
      <p:grpSp>
        <p:nvGrpSpPr>
          <p:cNvPr name="Group 30" id="30"/>
          <p:cNvGrpSpPr/>
          <p:nvPr/>
        </p:nvGrpSpPr>
        <p:grpSpPr>
          <a:xfrm rot="0">
            <a:off x="13752195" y="4368736"/>
            <a:ext cx="1584198" cy="494538"/>
            <a:chOff x="0" y="0"/>
            <a:chExt cx="2112264" cy="659384"/>
          </a:xfrm>
        </p:grpSpPr>
        <p:sp>
          <p:nvSpPr>
            <p:cNvPr name="Freeform 31" id="31"/>
            <p:cNvSpPr/>
            <p:nvPr/>
          </p:nvSpPr>
          <p:spPr>
            <a:xfrm flipH="false" flipV="false" rot="0">
              <a:off x="0" y="0"/>
              <a:ext cx="2112264" cy="659384"/>
            </a:xfrm>
            <a:custGeom>
              <a:avLst/>
              <a:gdLst/>
              <a:ahLst/>
              <a:cxnLst/>
              <a:rect r="r" b="b" t="t" l="l"/>
              <a:pathLst>
                <a:path h="659384" w="2112264">
                  <a:moveTo>
                    <a:pt x="329692" y="0"/>
                  </a:moveTo>
                  <a:lnTo>
                    <a:pt x="1782572" y="0"/>
                  </a:lnTo>
                  <a:cubicBezTo>
                    <a:pt x="1964690" y="0"/>
                    <a:pt x="2112264" y="147574"/>
                    <a:pt x="2112264" y="329692"/>
                  </a:cubicBezTo>
                  <a:cubicBezTo>
                    <a:pt x="2112264" y="511810"/>
                    <a:pt x="1964690" y="659384"/>
                    <a:pt x="1782572" y="659384"/>
                  </a:cubicBezTo>
                  <a:lnTo>
                    <a:pt x="329692" y="659384"/>
                  </a:lnTo>
                  <a:cubicBezTo>
                    <a:pt x="147574" y="659384"/>
                    <a:pt x="0" y="511810"/>
                    <a:pt x="0" y="329692"/>
                  </a:cubicBezTo>
                  <a:cubicBezTo>
                    <a:pt x="0" y="147574"/>
                    <a:pt x="147574" y="0"/>
                    <a:pt x="329692" y="0"/>
                  </a:cubicBezTo>
                  <a:close/>
                </a:path>
              </a:pathLst>
            </a:custGeom>
            <a:solidFill>
              <a:srgbClr val="28766D"/>
            </a:solidFill>
          </p:spPr>
        </p:sp>
        <p:sp>
          <p:nvSpPr>
            <p:cNvPr name="Freeform 32" id="32"/>
            <p:cNvSpPr/>
            <p:nvPr/>
          </p:nvSpPr>
          <p:spPr>
            <a:xfrm flipH="false" flipV="false" rot="0">
              <a:off x="0" y="0"/>
              <a:ext cx="2112264" cy="659384"/>
            </a:xfrm>
            <a:custGeom>
              <a:avLst/>
              <a:gdLst/>
              <a:ahLst/>
              <a:cxnLst/>
              <a:rect r="r" b="b" t="t" l="l"/>
              <a:pathLst>
                <a:path h="659384" w="2112264">
                  <a:moveTo>
                    <a:pt x="329692" y="0"/>
                  </a:moveTo>
                  <a:lnTo>
                    <a:pt x="1782572" y="0"/>
                  </a:lnTo>
                  <a:cubicBezTo>
                    <a:pt x="1964690" y="0"/>
                    <a:pt x="2112264" y="147574"/>
                    <a:pt x="2112264" y="329692"/>
                  </a:cubicBezTo>
                  <a:cubicBezTo>
                    <a:pt x="2112264" y="511810"/>
                    <a:pt x="1964690" y="659384"/>
                    <a:pt x="1782572" y="659384"/>
                  </a:cubicBezTo>
                  <a:lnTo>
                    <a:pt x="329692" y="659384"/>
                  </a:lnTo>
                  <a:cubicBezTo>
                    <a:pt x="147574" y="659384"/>
                    <a:pt x="0" y="511810"/>
                    <a:pt x="0" y="329692"/>
                  </a:cubicBezTo>
                  <a:cubicBezTo>
                    <a:pt x="0" y="147574"/>
                    <a:pt x="147574" y="0"/>
                    <a:pt x="329692" y="0"/>
                  </a:cubicBezTo>
                  <a:close/>
                </a:path>
              </a:pathLst>
            </a:custGeom>
            <a:solidFill>
              <a:srgbClr val="000000">
                <a:alpha val="0"/>
              </a:srgbClr>
            </a:solidFill>
            <a:ln w="28575" cap="sq">
              <a:solidFill>
                <a:srgbClr val="173A45"/>
              </a:solidFill>
              <a:prstDash val="solid"/>
              <a:miter/>
            </a:ln>
          </p:spPr>
        </p:sp>
      </p:grpSp>
      <p:sp>
        <p:nvSpPr>
          <p:cNvPr name="AutoShape 33" id="33"/>
          <p:cNvSpPr/>
          <p:nvPr/>
        </p:nvSpPr>
        <p:spPr>
          <a:xfrm rot="0">
            <a:off x="13752195" y="4069080"/>
            <a:ext cx="1584198" cy="33528"/>
          </a:xfrm>
          <a:prstGeom prst="rect">
            <a:avLst/>
          </a:prstGeom>
          <a:solidFill>
            <a:srgbClr val="FFFFFF"/>
          </a:solidFill>
        </p:spPr>
      </p:sp>
      <p:sp>
        <p:nvSpPr>
          <p:cNvPr name="TextBox 34" id="34"/>
          <p:cNvSpPr txBox="true"/>
          <p:nvPr/>
        </p:nvSpPr>
        <p:spPr>
          <a:xfrm rot="0">
            <a:off x="4196715" y="3759422"/>
            <a:ext cx="125730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TextBox 35" id="35"/>
          <p:cNvSpPr txBox="true"/>
          <p:nvPr/>
        </p:nvSpPr>
        <p:spPr>
          <a:xfrm rot="0">
            <a:off x="8220075" y="3759422"/>
            <a:ext cx="125730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TextBox 36" id="36"/>
          <p:cNvSpPr txBox="true"/>
          <p:nvPr/>
        </p:nvSpPr>
        <p:spPr>
          <a:xfrm rot="0">
            <a:off x="12159615" y="3759422"/>
            <a:ext cx="125730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TextBox 37" id="37"/>
          <p:cNvSpPr txBox="true"/>
          <p:nvPr/>
        </p:nvSpPr>
        <p:spPr>
          <a:xfrm rot="0">
            <a:off x="2226945" y="5589461"/>
            <a:ext cx="2263140" cy="481203"/>
          </a:xfrm>
          <a:prstGeom prst="rect">
            <a:avLst/>
          </a:prstGeom>
        </p:spPr>
        <p:txBody>
          <a:bodyPr anchor="t" rtlCol="false" tIns="0" lIns="0" bIns="0" rIns="0">
            <a:spAutoFit/>
          </a:bodyPr>
          <a:lstStyle/>
          <a:p>
            <a:pPr algn="ctr">
              <a:lnSpc>
                <a:spcPts val="3537"/>
              </a:lnSpc>
            </a:pPr>
            <a:r>
              <a:rPr lang="en-US" sz="2640">
                <a:solidFill>
                  <a:srgbClr val="647477"/>
                </a:solidFill>
                <a:latin typeface="Sarabun"/>
                <a:ea typeface="Sarabun"/>
                <a:cs typeface="Sarabun"/>
                <a:sym typeface="Sarabun"/>
              </a:rPr>
              <a:t>React</a:t>
            </a:r>
          </a:p>
        </p:txBody>
      </p:sp>
      <p:sp>
        <p:nvSpPr>
          <p:cNvPr name="TextBox 38" id="38"/>
          <p:cNvSpPr txBox="true"/>
          <p:nvPr/>
        </p:nvSpPr>
        <p:spPr>
          <a:xfrm rot="0">
            <a:off x="5621655" y="5592128"/>
            <a:ext cx="2598420" cy="430911"/>
          </a:xfrm>
          <a:prstGeom prst="rect">
            <a:avLst/>
          </a:prstGeom>
        </p:spPr>
        <p:txBody>
          <a:bodyPr anchor="t" rtlCol="false" tIns="0" lIns="0" bIns="0" rIns="0">
            <a:spAutoFit/>
          </a:bodyPr>
          <a:lstStyle/>
          <a:p>
            <a:pPr algn="ctr">
              <a:lnSpc>
                <a:spcPts val="3183"/>
              </a:lnSpc>
            </a:pPr>
            <a:r>
              <a:rPr lang="en-US" sz="2376">
                <a:solidFill>
                  <a:srgbClr val="647477"/>
                </a:solidFill>
                <a:latin typeface="Sarabun"/>
                <a:ea typeface="Sarabun"/>
                <a:cs typeface="Sarabun"/>
                <a:sym typeface="Sarabun"/>
              </a:rPr>
              <a:t>HTTP / DTO</a:t>
            </a:r>
          </a:p>
        </p:txBody>
      </p:sp>
      <p:sp>
        <p:nvSpPr>
          <p:cNvPr name="TextBox 39" id="39"/>
          <p:cNvSpPr txBox="true"/>
          <p:nvPr/>
        </p:nvSpPr>
        <p:spPr>
          <a:xfrm rot="0">
            <a:off x="9225915" y="5592128"/>
            <a:ext cx="3268980" cy="430911"/>
          </a:xfrm>
          <a:prstGeom prst="rect">
            <a:avLst/>
          </a:prstGeom>
        </p:spPr>
        <p:txBody>
          <a:bodyPr anchor="t" rtlCol="false" tIns="0" lIns="0" bIns="0" rIns="0">
            <a:spAutoFit/>
          </a:bodyPr>
          <a:lstStyle/>
          <a:p>
            <a:pPr algn="ctr">
              <a:lnSpc>
                <a:spcPts val="3183"/>
              </a:lnSpc>
            </a:pPr>
            <a:r>
              <a:rPr lang="en-US" sz="2376">
                <a:solidFill>
                  <a:srgbClr val="647477"/>
                </a:solidFill>
                <a:latin typeface="Sarabun"/>
                <a:ea typeface="Sarabun"/>
                <a:cs typeface="Sarabun"/>
                <a:sym typeface="Sarabun"/>
              </a:rPr>
              <a:t>กฎ + Transaction</a:t>
            </a:r>
          </a:p>
        </p:txBody>
      </p:sp>
      <p:sp>
        <p:nvSpPr>
          <p:cNvPr name="TextBox 40" id="40"/>
          <p:cNvSpPr txBox="true"/>
          <p:nvPr/>
        </p:nvSpPr>
        <p:spPr>
          <a:xfrm rot="0">
            <a:off x="13249275" y="5592128"/>
            <a:ext cx="2766060" cy="430911"/>
          </a:xfrm>
          <a:prstGeom prst="rect">
            <a:avLst/>
          </a:prstGeom>
        </p:spPr>
        <p:txBody>
          <a:bodyPr anchor="t" rtlCol="false" tIns="0" lIns="0" bIns="0" rIns="0">
            <a:spAutoFit/>
          </a:bodyPr>
          <a:lstStyle/>
          <a:p>
            <a:pPr algn="ctr">
              <a:lnSpc>
                <a:spcPts val="3183"/>
              </a:lnSpc>
            </a:pPr>
            <a:r>
              <a:rPr lang="en-US" sz="2376">
                <a:solidFill>
                  <a:srgbClr val="647477"/>
                </a:solidFill>
                <a:latin typeface="Sarabun"/>
                <a:ea typeface="Sarabun"/>
                <a:cs typeface="Sarabun"/>
                <a:sym typeface="Sarabun"/>
              </a:rPr>
              <a:t>Repository / DB</a:t>
            </a:r>
          </a:p>
        </p:txBody>
      </p:sp>
      <p:grpSp>
        <p:nvGrpSpPr>
          <p:cNvPr name="Group 41" id="41"/>
          <p:cNvGrpSpPr/>
          <p:nvPr/>
        </p:nvGrpSpPr>
        <p:grpSpPr>
          <a:xfrm rot="0">
            <a:off x="5831205" y="7044690"/>
            <a:ext cx="1592580" cy="502920"/>
            <a:chOff x="0" y="0"/>
            <a:chExt cx="2123440" cy="670560"/>
          </a:xfrm>
        </p:grpSpPr>
        <p:sp>
          <p:nvSpPr>
            <p:cNvPr name="Freeform 42" id="42"/>
            <p:cNvSpPr/>
            <p:nvPr/>
          </p:nvSpPr>
          <p:spPr>
            <a:xfrm flipH="false" flipV="false" rot="0">
              <a:off x="0" y="0"/>
              <a:ext cx="2123440" cy="670560"/>
            </a:xfrm>
            <a:custGeom>
              <a:avLst/>
              <a:gdLst/>
              <a:ahLst/>
              <a:cxnLst/>
              <a:rect r="r" b="b" t="t" l="l"/>
              <a:pathLst>
                <a:path h="670560" w="2123440">
                  <a:moveTo>
                    <a:pt x="335280" y="0"/>
                  </a:moveTo>
                  <a:lnTo>
                    <a:pt x="1788160" y="0"/>
                  </a:lnTo>
                  <a:cubicBezTo>
                    <a:pt x="1973326" y="0"/>
                    <a:pt x="2123440" y="150114"/>
                    <a:pt x="2123440" y="335280"/>
                  </a:cubicBezTo>
                  <a:cubicBezTo>
                    <a:pt x="2123440" y="520446"/>
                    <a:pt x="1973326" y="670560"/>
                    <a:pt x="178816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43" id="43"/>
          <p:cNvSpPr txBox="true"/>
          <p:nvPr/>
        </p:nvSpPr>
        <p:spPr>
          <a:xfrm rot="0">
            <a:off x="5931789" y="7101840"/>
            <a:ext cx="139141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SRP</a:t>
            </a:r>
          </a:p>
        </p:txBody>
      </p:sp>
      <p:grpSp>
        <p:nvGrpSpPr>
          <p:cNvPr name="Group 44" id="44"/>
          <p:cNvGrpSpPr/>
          <p:nvPr/>
        </p:nvGrpSpPr>
        <p:grpSpPr>
          <a:xfrm rot="0">
            <a:off x="8345805" y="7044690"/>
            <a:ext cx="1592580" cy="502920"/>
            <a:chOff x="0" y="0"/>
            <a:chExt cx="2123440" cy="670560"/>
          </a:xfrm>
        </p:grpSpPr>
        <p:sp>
          <p:nvSpPr>
            <p:cNvPr name="Freeform 45" id="45"/>
            <p:cNvSpPr/>
            <p:nvPr/>
          </p:nvSpPr>
          <p:spPr>
            <a:xfrm flipH="false" flipV="false" rot="0">
              <a:off x="0" y="0"/>
              <a:ext cx="2123440" cy="670560"/>
            </a:xfrm>
            <a:custGeom>
              <a:avLst/>
              <a:gdLst/>
              <a:ahLst/>
              <a:cxnLst/>
              <a:rect r="r" b="b" t="t" l="l"/>
              <a:pathLst>
                <a:path h="670560" w="2123440">
                  <a:moveTo>
                    <a:pt x="335280" y="0"/>
                  </a:moveTo>
                  <a:lnTo>
                    <a:pt x="1788160" y="0"/>
                  </a:lnTo>
                  <a:cubicBezTo>
                    <a:pt x="1973326" y="0"/>
                    <a:pt x="2123440" y="150114"/>
                    <a:pt x="2123440" y="335280"/>
                  </a:cubicBezTo>
                  <a:cubicBezTo>
                    <a:pt x="2123440" y="520446"/>
                    <a:pt x="1973326" y="670560"/>
                    <a:pt x="178816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46" id="46"/>
          <p:cNvSpPr txBox="true"/>
          <p:nvPr/>
        </p:nvSpPr>
        <p:spPr>
          <a:xfrm rot="0">
            <a:off x="8446389" y="7101840"/>
            <a:ext cx="139141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ISP</a:t>
            </a:r>
          </a:p>
        </p:txBody>
      </p:sp>
      <p:grpSp>
        <p:nvGrpSpPr>
          <p:cNvPr name="Group 47" id="47"/>
          <p:cNvGrpSpPr/>
          <p:nvPr/>
        </p:nvGrpSpPr>
        <p:grpSpPr>
          <a:xfrm rot="0">
            <a:off x="10860405" y="7044690"/>
            <a:ext cx="1592580" cy="502920"/>
            <a:chOff x="0" y="0"/>
            <a:chExt cx="2123440" cy="670560"/>
          </a:xfrm>
        </p:grpSpPr>
        <p:sp>
          <p:nvSpPr>
            <p:cNvPr name="Freeform 48" id="48"/>
            <p:cNvSpPr/>
            <p:nvPr/>
          </p:nvSpPr>
          <p:spPr>
            <a:xfrm flipH="false" flipV="false" rot="0">
              <a:off x="0" y="0"/>
              <a:ext cx="2123440" cy="670560"/>
            </a:xfrm>
            <a:custGeom>
              <a:avLst/>
              <a:gdLst/>
              <a:ahLst/>
              <a:cxnLst/>
              <a:rect r="r" b="b" t="t" l="l"/>
              <a:pathLst>
                <a:path h="670560" w="2123440">
                  <a:moveTo>
                    <a:pt x="335280" y="0"/>
                  </a:moveTo>
                  <a:lnTo>
                    <a:pt x="1788160" y="0"/>
                  </a:lnTo>
                  <a:cubicBezTo>
                    <a:pt x="1973326" y="0"/>
                    <a:pt x="2123440" y="150114"/>
                    <a:pt x="2123440" y="335280"/>
                  </a:cubicBezTo>
                  <a:cubicBezTo>
                    <a:pt x="2123440" y="520446"/>
                    <a:pt x="1973326" y="670560"/>
                    <a:pt x="178816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49" id="49"/>
          <p:cNvSpPr txBox="true"/>
          <p:nvPr/>
        </p:nvSpPr>
        <p:spPr>
          <a:xfrm rot="0">
            <a:off x="10960989" y="7101840"/>
            <a:ext cx="139141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DIP</a:t>
            </a:r>
          </a:p>
        </p:txBody>
      </p:sp>
      <p:sp>
        <p:nvSpPr>
          <p:cNvPr name="TextBox 50" id="50"/>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Controller รับคำขอ ส่วน Service คุมกฎธุรกิจ Repository ดูแลการอ่านเขียนข้อมูล ทำให้ทดสอบแต่ละชั้นแยกกันได้</a:t>
            </a:r>
          </a:p>
        </p:txBody>
      </p:sp>
      <p:sp>
        <p:nvSpPr>
          <p:cNvPr name="TextBox 51" id="51"/>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pavarit_673380278-9_01</a:t>
            </a:r>
          </a:p>
        </p:txBody>
      </p:sp>
      <p:sp>
        <p:nvSpPr>
          <p:cNvPr name="TextBox 52" id="52"/>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35 วินาที · 3/10</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ออเดอร์เก่า ยังคงใช้สูตรเดิม</a:t>
            </a:r>
          </a:p>
        </p:txBody>
      </p:sp>
      <p:sp>
        <p:nvSpPr>
          <p:cNvPr name="TextBox 5" id="5"/>
          <p:cNvSpPr txBox="true"/>
          <p:nvPr/>
        </p:nvSpPr>
        <p:spPr>
          <a:xfrm rot="0">
            <a:off x="2352675" y="2313908"/>
            <a:ext cx="5448300" cy="541020"/>
          </a:xfrm>
          <a:prstGeom prst="rect">
            <a:avLst/>
          </a:prstGeom>
        </p:spPr>
        <p:txBody>
          <a:bodyPr anchor="t" rtlCol="false" tIns="0" lIns="0" bIns="0" rIns="0">
            <a:spAutoFit/>
          </a:bodyPr>
          <a:lstStyle/>
          <a:p>
            <a:pPr algn="ctr">
              <a:lnSpc>
                <a:spcPts val="3979"/>
              </a:lnSpc>
            </a:pPr>
            <a:r>
              <a:rPr lang="en-US" b="true" sz="2970">
                <a:solidFill>
                  <a:srgbClr val="173A45"/>
                </a:solidFill>
                <a:latin typeface="Sarabun Semi-Bold"/>
                <a:ea typeface="Sarabun Semi-Bold"/>
                <a:cs typeface="Sarabun Semi-Bold"/>
                <a:sym typeface="Sarabun Semi-Bold"/>
              </a:rPr>
              <a:t>Order #7</a:t>
            </a:r>
          </a:p>
        </p:txBody>
      </p:sp>
      <p:sp>
        <p:nvSpPr>
          <p:cNvPr name="TextBox 6" id="6"/>
          <p:cNvSpPr txBox="true"/>
          <p:nvPr/>
        </p:nvSpPr>
        <p:spPr>
          <a:xfrm rot="0">
            <a:off x="10315575" y="2313908"/>
            <a:ext cx="5448300" cy="541020"/>
          </a:xfrm>
          <a:prstGeom prst="rect">
            <a:avLst/>
          </a:prstGeom>
        </p:spPr>
        <p:txBody>
          <a:bodyPr anchor="t" rtlCol="false" tIns="0" lIns="0" bIns="0" rIns="0">
            <a:spAutoFit/>
          </a:bodyPr>
          <a:lstStyle/>
          <a:p>
            <a:pPr algn="ctr">
              <a:lnSpc>
                <a:spcPts val="3979"/>
              </a:lnSpc>
            </a:pPr>
            <a:r>
              <a:rPr lang="en-US" b="true" sz="2970">
                <a:solidFill>
                  <a:srgbClr val="173A45"/>
                </a:solidFill>
                <a:latin typeface="Sarabun Semi-Bold"/>
                <a:ea typeface="Sarabun Semi-Bold"/>
                <a:cs typeface="Sarabun Semi-Bold"/>
                <a:sym typeface="Sarabun Semi-Bold"/>
              </a:rPr>
              <a:t>Order #11</a:t>
            </a:r>
          </a:p>
        </p:txBody>
      </p:sp>
      <p:sp>
        <p:nvSpPr>
          <p:cNvPr name="TextBox 7" id="7"/>
          <p:cNvSpPr txBox="true"/>
          <p:nvPr/>
        </p:nvSpPr>
        <p:spPr>
          <a:xfrm rot="0">
            <a:off x="2520315" y="3120199"/>
            <a:ext cx="5113020" cy="913257"/>
          </a:xfrm>
          <a:prstGeom prst="rect">
            <a:avLst/>
          </a:prstGeom>
        </p:spPr>
        <p:txBody>
          <a:bodyPr anchor="t" rtlCol="false" tIns="0" lIns="0" bIns="0" rIns="0">
            <a:spAutoFit/>
          </a:bodyPr>
          <a:lstStyle/>
          <a:p>
            <a:pPr algn="ctr">
              <a:lnSpc>
                <a:spcPts val="6633"/>
              </a:lnSpc>
            </a:pPr>
            <a:r>
              <a:rPr lang="en-US" b="true" sz="4950">
                <a:solidFill>
                  <a:srgbClr val="173A45"/>
                </a:solidFill>
                <a:latin typeface="Sarabun Bold"/>
                <a:ea typeface="Sarabun Bold"/>
                <a:cs typeface="Sarabun Bold"/>
                <a:sym typeface="Sarabun Bold"/>
              </a:rPr>
              <a:t>0.100 × 2</a:t>
            </a:r>
          </a:p>
        </p:txBody>
      </p:sp>
      <p:sp>
        <p:nvSpPr>
          <p:cNvPr name="TextBox 8" id="8"/>
          <p:cNvSpPr txBox="true"/>
          <p:nvPr/>
        </p:nvSpPr>
        <p:spPr>
          <a:xfrm rot="0">
            <a:off x="10483215" y="3120199"/>
            <a:ext cx="5113020" cy="913257"/>
          </a:xfrm>
          <a:prstGeom prst="rect">
            <a:avLst/>
          </a:prstGeom>
        </p:spPr>
        <p:txBody>
          <a:bodyPr anchor="t" rtlCol="false" tIns="0" lIns="0" bIns="0" rIns="0">
            <a:spAutoFit/>
          </a:bodyPr>
          <a:lstStyle/>
          <a:p>
            <a:pPr algn="ctr">
              <a:lnSpc>
                <a:spcPts val="6633"/>
              </a:lnSpc>
            </a:pPr>
            <a:r>
              <a:rPr lang="en-US" b="true" sz="4950">
                <a:solidFill>
                  <a:srgbClr val="173A45"/>
                </a:solidFill>
                <a:latin typeface="Sarabun Bold"/>
                <a:ea typeface="Sarabun Bold"/>
                <a:cs typeface="Sarabun Bold"/>
                <a:sym typeface="Sarabun Bold"/>
              </a:rPr>
              <a:t>0.250 × 2</a:t>
            </a:r>
          </a:p>
        </p:txBody>
      </p:sp>
      <p:grpSp>
        <p:nvGrpSpPr>
          <p:cNvPr name="Group 9" id="9"/>
          <p:cNvGrpSpPr/>
          <p:nvPr/>
        </p:nvGrpSpPr>
        <p:grpSpPr>
          <a:xfrm rot="0">
            <a:off x="4695444" y="4611814"/>
            <a:ext cx="544830" cy="603504"/>
            <a:chOff x="0" y="0"/>
            <a:chExt cx="726440" cy="804672"/>
          </a:xfrm>
        </p:grpSpPr>
        <p:sp>
          <p:nvSpPr>
            <p:cNvPr name="Freeform 10" id="10"/>
            <p:cNvSpPr/>
            <p:nvPr/>
          </p:nvSpPr>
          <p:spPr>
            <a:xfrm flipH="false" flipV="false" rot="0">
              <a:off x="0" y="0"/>
              <a:ext cx="726440" cy="804672"/>
            </a:xfrm>
            <a:custGeom>
              <a:avLst/>
              <a:gdLst/>
              <a:ahLst/>
              <a:cxnLst/>
              <a:rect r="r" b="b" t="t" l="l"/>
              <a:pathLst>
                <a:path h="804672" w="726440">
                  <a:moveTo>
                    <a:pt x="363220" y="0"/>
                  </a:moveTo>
                  <a:cubicBezTo>
                    <a:pt x="563880" y="0"/>
                    <a:pt x="726440" y="162560"/>
                    <a:pt x="726440" y="363220"/>
                  </a:cubicBezTo>
                  <a:lnTo>
                    <a:pt x="726440" y="441452"/>
                  </a:lnTo>
                  <a:cubicBezTo>
                    <a:pt x="726440" y="642112"/>
                    <a:pt x="563880" y="804672"/>
                    <a:pt x="363220" y="804672"/>
                  </a:cubicBezTo>
                  <a:cubicBezTo>
                    <a:pt x="162560" y="804672"/>
                    <a:pt x="0" y="642112"/>
                    <a:pt x="0" y="441452"/>
                  </a:cubicBezTo>
                  <a:lnTo>
                    <a:pt x="0" y="363220"/>
                  </a:lnTo>
                  <a:cubicBezTo>
                    <a:pt x="0" y="162560"/>
                    <a:pt x="162560" y="0"/>
                    <a:pt x="363220" y="0"/>
                  </a:cubicBezTo>
                  <a:close/>
                </a:path>
              </a:pathLst>
            </a:custGeom>
            <a:solidFill>
              <a:srgbClr val="000000">
                <a:alpha val="0"/>
              </a:srgbClr>
            </a:solidFill>
            <a:ln w="28575" cap="sq">
              <a:solidFill>
                <a:srgbClr val="173A45"/>
              </a:solidFill>
              <a:prstDash val="solid"/>
              <a:miter/>
            </a:ln>
          </p:spPr>
        </p:sp>
      </p:grpSp>
      <p:grpSp>
        <p:nvGrpSpPr>
          <p:cNvPr name="Group 11" id="11"/>
          <p:cNvGrpSpPr/>
          <p:nvPr/>
        </p:nvGrpSpPr>
        <p:grpSpPr>
          <a:xfrm rot="0">
            <a:off x="4531995" y="4965954"/>
            <a:ext cx="871728" cy="712470"/>
            <a:chOff x="0" y="0"/>
            <a:chExt cx="1162304" cy="949960"/>
          </a:xfrm>
        </p:grpSpPr>
        <p:sp>
          <p:nvSpPr>
            <p:cNvPr name="Freeform 12" id="12"/>
            <p:cNvSpPr/>
            <p:nvPr/>
          </p:nvSpPr>
          <p:spPr>
            <a:xfrm flipH="false" flipV="false" rot="0">
              <a:off x="0" y="0"/>
              <a:ext cx="1162304" cy="949960"/>
            </a:xfrm>
            <a:custGeom>
              <a:avLst/>
              <a:gdLst/>
              <a:ahLst/>
              <a:cxnLst/>
              <a:rect r="r" b="b" t="t" l="l"/>
              <a:pathLst>
                <a:path h="949960" w="1162304">
                  <a:moveTo>
                    <a:pt x="123825" y="0"/>
                  </a:moveTo>
                  <a:lnTo>
                    <a:pt x="1038479" y="0"/>
                  </a:lnTo>
                  <a:cubicBezTo>
                    <a:pt x="1106805" y="0"/>
                    <a:pt x="1162304" y="55499"/>
                    <a:pt x="1162304" y="123825"/>
                  </a:cubicBezTo>
                  <a:lnTo>
                    <a:pt x="1162304" y="826135"/>
                  </a:lnTo>
                  <a:cubicBezTo>
                    <a:pt x="1162304" y="894461"/>
                    <a:pt x="1106805" y="949960"/>
                    <a:pt x="1038479" y="949960"/>
                  </a:cubicBezTo>
                  <a:lnTo>
                    <a:pt x="123825" y="949960"/>
                  </a:lnTo>
                  <a:cubicBezTo>
                    <a:pt x="55499" y="949960"/>
                    <a:pt x="0" y="894461"/>
                    <a:pt x="0" y="826135"/>
                  </a:cubicBezTo>
                  <a:lnTo>
                    <a:pt x="0" y="123825"/>
                  </a:lnTo>
                  <a:cubicBezTo>
                    <a:pt x="0" y="55499"/>
                    <a:pt x="55499" y="0"/>
                    <a:pt x="123825" y="0"/>
                  </a:cubicBezTo>
                  <a:close/>
                </a:path>
              </a:pathLst>
            </a:custGeom>
            <a:solidFill>
              <a:srgbClr val="28766D"/>
            </a:solidFill>
          </p:spPr>
        </p:sp>
      </p:grpSp>
      <p:grpSp>
        <p:nvGrpSpPr>
          <p:cNvPr name="Group 13" id="13"/>
          <p:cNvGrpSpPr/>
          <p:nvPr/>
        </p:nvGrpSpPr>
        <p:grpSpPr>
          <a:xfrm rot="0">
            <a:off x="4901946" y="5185505"/>
            <a:ext cx="142494" cy="142494"/>
            <a:chOff x="0" y="0"/>
            <a:chExt cx="189992" cy="189992"/>
          </a:xfrm>
        </p:grpSpPr>
        <p:sp>
          <p:nvSpPr>
            <p:cNvPr name="Freeform 14" id="14"/>
            <p:cNvSpPr/>
            <p:nvPr/>
          </p:nvSpPr>
          <p:spPr>
            <a:xfrm flipH="false" flipV="false" rot="0">
              <a:off x="0" y="0"/>
              <a:ext cx="189992" cy="189992"/>
            </a:xfrm>
            <a:custGeom>
              <a:avLst/>
              <a:gdLst/>
              <a:ahLst/>
              <a:cxnLst/>
              <a:rect r="r" b="b" t="t" l="l"/>
              <a:pathLst>
                <a:path h="189992" w="189992">
                  <a:moveTo>
                    <a:pt x="94996" y="0"/>
                  </a:moveTo>
                  <a:cubicBezTo>
                    <a:pt x="147447" y="0"/>
                    <a:pt x="189992" y="42545"/>
                    <a:pt x="189992" y="94996"/>
                  </a:cubicBezTo>
                  <a:cubicBezTo>
                    <a:pt x="189992" y="147447"/>
                    <a:pt x="147447" y="189992"/>
                    <a:pt x="94996" y="189992"/>
                  </a:cubicBezTo>
                  <a:cubicBezTo>
                    <a:pt x="42545" y="189992"/>
                    <a:pt x="0" y="147447"/>
                    <a:pt x="0" y="94996"/>
                  </a:cubicBezTo>
                  <a:cubicBezTo>
                    <a:pt x="0" y="42545"/>
                    <a:pt x="42545" y="0"/>
                    <a:pt x="94996" y="0"/>
                  </a:cubicBezTo>
                  <a:close/>
                </a:path>
              </a:pathLst>
            </a:custGeom>
            <a:solidFill>
              <a:srgbClr val="FFFFFF"/>
            </a:solidFill>
          </p:spPr>
        </p:sp>
      </p:grpSp>
      <p:sp>
        <p:nvSpPr>
          <p:cNvPr name="AutoShape 15" id="15"/>
          <p:cNvSpPr/>
          <p:nvPr/>
        </p:nvSpPr>
        <p:spPr>
          <a:xfrm rot="0">
            <a:off x="4950809" y="5282660"/>
            <a:ext cx="50292" cy="209550"/>
          </a:xfrm>
          <a:prstGeom prst="rect">
            <a:avLst/>
          </a:prstGeom>
          <a:solidFill>
            <a:srgbClr val="FFFFFF"/>
          </a:solidFill>
        </p:spPr>
      </p:sp>
      <p:grpSp>
        <p:nvGrpSpPr>
          <p:cNvPr name="Group 16" id="16"/>
          <p:cNvGrpSpPr/>
          <p:nvPr/>
        </p:nvGrpSpPr>
        <p:grpSpPr>
          <a:xfrm rot="0">
            <a:off x="12658344" y="4611814"/>
            <a:ext cx="544830" cy="603504"/>
            <a:chOff x="0" y="0"/>
            <a:chExt cx="726440" cy="804672"/>
          </a:xfrm>
        </p:grpSpPr>
        <p:sp>
          <p:nvSpPr>
            <p:cNvPr name="Freeform 17" id="17"/>
            <p:cNvSpPr/>
            <p:nvPr/>
          </p:nvSpPr>
          <p:spPr>
            <a:xfrm flipH="false" flipV="false" rot="0">
              <a:off x="0" y="0"/>
              <a:ext cx="726440" cy="804672"/>
            </a:xfrm>
            <a:custGeom>
              <a:avLst/>
              <a:gdLst/>
              <a:ahLst/>
              <a:cxnLst/>
              <a:rect r="r" b="b" t="t" l="l"/>
              <a:pathLst>
                <a:path h="804672" w="726440">
                  <a:moveTo>
                    <a:pt x="363220" y="0"/>
                  </a:moveTo>
                  <a:cubicBezTo>
                    <a:pt x="563880" y="0"/>
                    <a:pt x="726440" y="162560"/>
                    <a:pt x="726440" y="363220"/>
                  </a:cubicBezTo>
                  <a:lnTo>
                    <a:pt x="726440" y="441452"/>
                  </a:lnTo>
                  <a:cubicBezTo>
                    <a:pt x="726440" y="642112"/>
                    <a:pt x="563880" y="804672"/>
                    <a:pt x="363220" y="804672"/>
                  </a:cubicBezTo>
                  <a:cubicBezTo>
                    <a:pt x="162560" y="804672"/>
                    <a:pt x="0" y="642112"/>
                    <a:pt x="0" y="441452"/>
                  </a:cubicBezTo>
                  <a:lnTo>
                    <a:pt x="0" y="363220"/>
                  </a:lnTo>
                  <a:cubicBezTo>
                    <a:pt x="0" y="162560"/>
                    <a:pt x="162560" y="0"/>
                    <a:pt x="363220" y="0"/>
                  </a:cubicBezTo>
                  <a:close/>
                </a:path>
              </a:pathLst>
            </a:custGeom>
            <a:solidFill>
              <a:srgbClr val="000000">
                <a:alpha val="0"/>
              </a:srgbClr>
            </a:solidFill>
            <a:ln w="28575" cap="sq">
              <a:solidFill>
                <a:srgbClr val="173A45"/>
              </a:solidFill>
              <a:prstDash val="solid"/>
              <a:miter/>
            </a:ln>
          </p:spPr>
        </p:sp>
      </p:grpSp>
      <p:grpSp>
        <p:nvGrpSpPr>
          <p:cNvPr name="Group 18" id="18"/>
          <p:cNvGrpSpPr/>
          <p:nvPr/>
        </p:nvGrpSpPr>
        <p:grpSpPr>
          <a:xfrm rot="0">
            <a:off x="12494895" y="4965954"/>
            <a:ext cx="871728" cy="712470"/>
            <a:chOff x="0" y="0"/>
            <a:chExt cx="1162304" cy="949960"/>
          </a:xfrm>
        </p:grpSpPr>
        <p:sp>
          <p:nvSpPr>
            <p:cNvPr name="Freeform 19" id="19"/>
            <p:cNvSpPr/>
            <p:nvPr/>
          </p:nvSpPr>
          <p:spPr>
            <a:xfrm flipH="false" flipV="false" rot="0">
              <a:off x="0" y="0"/>
              <a:ext cx="1162304" cy="949960"/>
            </a:xfrm>
            <a:custGeom>
              <a:avLst/>
              <a:gdLst/>
              <a:ahLst/>
              <a:cxnLst/>
              <a:rect r="r" b="b" t="t" l="l"/>
              <a:pathLst>
                <a:path h="949960" w="1162304">
                  <a:moveTo>
                    <a:pt x="123825" y="0"/>
                  </a:moveTo>
                  <a:lnTo>
                    <a:pt x="1038479" y="0"/>
                  </a:lnTo>
                  <a:cubicBezTo>
                    <a:pt x="1106805" y="0"/>
                    <a:pt x="1162304" y="55499"/>
                    <a:pt x="1162304" y="123825"/>
                  </a:cubicBezTo>
                  <a:lnTo>
                    <a:pt x="1162304" y="826135"/>
                  </a:lnTo>
                  <a:cubicBezTo>
                    <a:pt x="1162304" y="894461"/>
                    <a:pt x="1106805" y="949960"/>
                    <a:pt x="1038479" y="949960"/>
                  </a:cubicBezTo>
                  <a:lnTo>
                    <a:pt x="123825" y="949960"/>
                  </a:lnTo>
                  <a:cubicBezTo>
                    <a:pt x="55499" y="949960"/>
                    <a:pt x="0" y="894461"/>
                    <a:pt x="0" y="826135"/>
                  </a:cubicBezTo>
                  <a:lnTo>
                    <a:pt x="0" y="123825"/>
                  </a:lnTo>
                  <a:cubicBezTo>
                    <a:pt x="0" y="55499"/>
                    <a:pt x="55499" y="0"/>
                    <a:pt x="123825" y="0"/>
                  </a:cubicBezTo>
                  <a:close/>
                </a:path>
              </a:pathLst>
            </a:custGeom>
            <a:solidFill>
              <a:srgbClr val="28766D"/>
            </a:solidFill>
          </p:spPr>
        </p:sp>
      </p:grpSp>
      <p:grpSp>
        <p:nvGrpSpPr>
          <p:cNvPr name="Group 20" id="20"/>
          <p:cNvGrpSpPr/>
          <p:nvPr/>
        </p:nvGrpSpPr>
        <p:grpSpPr>
          <a:xfrm rot="0">
            <a:off x="12864846" y="5185505"/>
            <a:ext cx="142494" cy="142494"/>
            <a:chOff x="0" y="0"/>
            <a:chExt cx="189992" cy="189992"/>
          </a:xfrm>
        </p:grpSpPr>
        <p:sp>
          <p:nvSpPr>
            <p:cNvPr name="Freeform 21" id="21"/>
            <p:cNvSpPr/>
            <p:nvPr/>
          </p:nvSpPr>
          <p:spPr>
            <a:xfrm flipH="false" flipV="false" rot="0">
              <a:off x="0" y="0"/>
              <a:ext cx="189992" cy="189992"/>
            </a:xfrm>
            <a:custGeom>
              <a:avLst/>
              <a:gdLst/>
              <a:ahLst/>
              <a:cxnLst/>
              <a:rect r="r" b="b" t="t" l="l"/>
              <a:pathLst>
                <a:path h="189992" w="189992">
                  <a:moveTo>
                    <a:pt x="94996" y="0"/>
                  </a:moveTo>
                  <a:cubicBezTo>
                    <a:pt x="147447" y="0"/>
                    <a:pt x="189992" y="42545"/>
                    <a:pt x="189992" y="94996"/>
                  </a:cubicBezTo>
                  <a:cubicBezTo>
                    <a:pt x="189992" y="147447"/>
                    <a:pt x="147447" y="189992"/>
                    <a:pt x="94996" y="189992"/>
                  </a:cubicBezTo>
                  <a:cubicBezTo>
                    <a:pt x="42545" y="189992"/>
                    <a:pt x="0" y="147447"/>
                    <a:pt x="0" y="94996"/>
                  </a:cubicBezTo>
                  <a:cubicBezTo>
                    <a:pt x="0" y="42545"/>
                    <a:pt x="42545" y="0"/>
                    <a:pt x="94996" y="0"/>
                  </a:cubicBezTo>
                  <a:close/>
                </a:path>
              </a:pathLst>
            </a:custGeom>
            <a:solidFill>
              <a:srgbClr val="FFFFFF"/>
            </a:solidFill>
          </p:spPr>
        </p:sp>
      </p:grpSp>
      <p:sp>
        <p:nvSpPr>
          <p:cNvPr name="AutoShape 22" id="22"/>
          <p:cNvSpPr/>
          <p:nvPr/>
        </p:nvSpPr>
        <p:spPr>
          <a:xfrm rot="0">
            <a:off x="12913709" y="5282660"/>
            <a:ext cx="50292" cy="209550"/>
          </a:xfrm>
          <a:prstGeom prst="rect">
            <a:avLst/>
          </a:prstGeom>
          <a:solidFill>
            <a:srgbClr val="FFFFFF"/>
          </a:solidFill>
        </p:spPr>
      </p:sp>
      <p:sp>
        <p:nvSpPr>
          <p:cNvPr name="TextBox 23" id="23"/>
          <p:cNvSpPr txBox="true"/>
          <p:nvPr/>
        </p:nvSpPr>
        <p:spPr>
          <a:xfrm rot="0">
            <a:off x="2436495" y="6044470"/>
            <a:ext cx="5280660" cy="956310"/>
          </a:xfrm>
          <a:prstGeom prst="rect">
            <a:avLst/>
          </a:prstGeom>
        </p:spPr>
        <p:txBody>
          <a:bodyPr anchor="t" rtlCol="false" tIns="0" lIns="0" bIns="0" rIns="0">
            <a:spAutoFit/>
          </a:bodyPr>
          <a:lstStyle/>
          <a:p>
            <a:pPr algn="ctr">
              <a:lnSpc>
                <a:spcPts val="6898"/>
              </a:lnSpc>
            </a:pPr>
            <a:r>
              <a:rPr lang="en-US" b="true" sz="5148">
                <a:solidFill>
                  <a:srgbClr val="28766D"/>
                </a:solidFill>
                <a:latin typeface="Sarabun Bold"/>
                <a:ea typeface="Sarabun Bold"/>
                <a:cs typeface="Sarabun Bold"/>
                <a:sym typeface="Sarabun Bold"/>
              </a:rPr>
              <a:t>0.200 kg</a:t>
            </a:r>
          </a:p>
        </p:txBody>
      </p:sp>
      <p:sp>
        <p:nvSpPr>
          <p:cNvPr name="TextBox 24" id="24"/>
          <p:cNvSpPr txBox="true"/>
          <p:nvPr/>
        </p:nvSpPr>
        <p:spPr>
          <a:xfrm rot="0">
            <a:off x="10399395" y="6044470"/>
            <a:ext cx="5280660" cy="956310"/>
          </a:xfrm>
          <a:prstGeom prst="rect">
            <a:avLst/>
          </a:prstGeom>
        </p:spPr>
        <p:txBody>
          <a:bodyPr anchor="t" rtlCol="false" tIns="0" lIns="0" bIns="0" rIns="0">
            <a:spAutoFit/>
          </a:bodyPr>
          <a:lstStyle/>
          <a:p>
            <a:pPr algn="ctr">
              <a:lnSpc>
                <a:spcPts val="6898"/>
              </a:lnSpc>
            </a:pPr>
            <a:r>
              <a:rPr lang="en-US" b="true" sz="5148">
                <a:solidFill>
                  <a:srgbClr val="28766D"/>
                </a:solidFill>
                <a:latin typeface="Sarabun Bold"/>
                <a:ea typeface="Sarabun Bold"/>
                <a:cs typeface="Sarabun Bold"/>
                <a:sym typeface="Sarabun Bold"/>
              </a:rPr>
              <a:t>0.500 kg</a:t>
            </a:r>
          </a:p>
        </p:txBody>
      </p:sp>
      <p:sp>
        <p:nvSpPr>
          <p:cNvPr name="AutoShape 25" id="25"/>
          <p:cNvSpPr/>
          <p:nvPr/>
        </p:nvSpPr>
        <p:spPr>
          <a:xfrm rot="0">
            <a:off x="9142095" y="2895600"/>
            <a:ext cx="33528" cy="4274820"/>
          </a:xfrm>
          <a:prstGeom prst="rect">
            <a:avLst/>
          </a:prstGeom>
          <a:solidFill>
            <a:srgbClr val="AC4D31"/>
          </a:solidFill>
        </p:spPr>
      </p:sp>
      <p:grpSp>
        <p:nvGrpSpPr>
          <p:cNvPr name="Group 26" id="26"/>
          <p:cNvGrpSpPr/>
          <p:nvPr/>
        </p:nvGrpSpPr>
        <p:grpSpPr>
          <a:xfrm rot="0">
            <a:off x="8387715" y="4110990"/>
            <a:ext cx="1508760" cy="502920"/>
            <a:chOff x="0" y="0"/>
            <a:chExt cx="2011680" cy="670560"/>
          </a:xfrm>
        </p:grpSpPr>
        <p:sp>
          <p:nvSpPr>
            <p:cNvPr name="Freeform 27" id="27"/>
            <p:cNvSpPr/>
            <p:nvPr/>
          </p:nvSpPr>
          <p:spPr>
            <a:xfrm flipH="false" flipV="false" rot="0">
              <a:off x="0" y="0"/>
              <a:ext cx="2011680" cy="670560"/>
            </a:xfrm>
            <a:custGeom>
              <a:avLst/>
              <a:gdLst/>
              <a:ahLst/>
              <a:cxnLst/>
              <a:rect r="r" b="b" t="t" l="l"/>
              <a:pathLst>
                <a:path h="670560" w="2011680">
                  <a:moveTo>
                    <a:pt x="335280" y="0"/>
                  </a:moveTo>
                  <a:lnTo>
                    <a:pt x="1676400" y="0"/>
                  </a:lnTo>
                  <a:cubicBezTo>
                    <a:pt x="1861566" y="0"/>
                    <a:pt x="2011680" y="150114"/>
                    <a:pt x="2011680" y="335280"/>
                  </a:cubicBezTo>
                  <a:cubicBezTo>
                    <a:pt x="2011680" y="520446"/>
                    <a:pt x="1861566" y="670560"/>
                    <a:pt x="1676400" y="670560"/>
                  </a:cubicBezTo>
                  <a:lnTo>
                    <a:pt x="335280" y="670560"/>
                  </a:lnTo>
                  <a:cubicBezTo>
                    <a:pt x="150114" y="670560"/>
                    <a:pt x="0" y="520446"/>
                    <a:pt x="0" y="335280"/>
                  </a:cubicBezTo>
                  <a:cubicBezTo>
                    <a:pt x="0" y="150114"/>
                    <a:pt x="150114" y="0"/>
                    <a:pt x="335280" y="0"/>
                  </a:cubicBezTo>
                  <a:close/>
                </a:path>
              </a:pathLst>
            </a:custGeom>
            <a:solidFill>
              <a:srgbClr val="F6DFD6"/>
            </a:solidFill>
          </p:spPr>
        </p:sp>
      </p:grpSp>
      <p:sp>
        <p:nvSpPr>
          <p:cNvPr name="TextBox 28" id="28"/>
          <p:cNvSpPr txBox="true"/>
          <p:nvPr/>
        </p:nvSpPr>
        <p:spPr>
          <a:xfrm rot="0">
            <a:off x="8488299" y="4168140"/>
            <a:ext cx="1307592" cy="354330"/>
          </a:xfrm>
          <a:prstGeom prst="rect">
            <a:avLst/>
          </a:prstGeom>
        </p:spPr>
        <p:txBody>
          <a:bodyPr anchor="t" rtlCol="false" tIns="0" lIns="0" bIns="0" rIns="0">
            <a:spAutoFit/>
          </a:bodyPr>
          <a:lstStyle/>
          <a:p>
            <a:pPr algn="ctr">
              <a:lnSpc>
                <a:spcPts val="2653"/>
              </a:lnSpc>
            </a:pPr>
            <a:r>
              <a:rPr lang="en-US" b="true" sz="1979">
                <a:solidFill>
                  <a:srgbClr val="AC4D31"/>
                </a:solidFill>
                <a:latin typeface="Sarabun Semi-Bold"/>
                <a:ea typeface="Sarabun Semi-Bold"/>
                <a:cs typeface="Sarabun Semi-Bold"/>
                <a:sym typeface="Sarabun Semi-Bold"/>
              </a:rPr>
              <a:t>แก้สูตร</a:t>
            </a:r>
          </a:p>
        </p:txBody>
      </p:sp>
      <p:sp>
        <p:nvSpPr>
          <p:cNvPr name="TextBox 29" id="29"/>
          <p:cNvSpPr txBox="true"/>
          <p:nvPr/>
        </p:nvSpPr>
        <p:spPr>
          <a:xfrm rot="0">
            <a:off x="2017395" y="8103679"/>
            <a:ext cx="14249400" cy="313563"/>
          </a:xfrm>
          <a:prstGeom prst="rect">
            <a:avLst/>
          </a:prstGeom>
        </p:spPr>
        <p:txBody>
          <a:bodyPr anchor="t" rtlCol="false" tIns="0" lIns="0" bIns="0" rIns="0">
            <a:spAutoFit/>
          </a:bodyPr>
          <a:lstStyle/>
          <a:p>
            <a:pPr algn="l">
              <a:lnSpc>
                <a:spcPts val="2211"/>
              </a:lnSpc>
            </a:pPr>
            <a:r>
              <a:rPr lang="en-US" sz="1650">
                <a:solidFill>
                  <a:srgbClr val="647477"/>
                </a:solidFill>
                <a:latin typeface="Sarabun"/>
                <a:ea typeface="Sarabun"/>
                <a:cs typeface="Sarabun"/>
                <a:sym typeface="Sarabun"/>
              </a:rPr>
              <a:t>Snapshot ตอนสั่ง · ตัวอย่างจาก UAT รุ่น af2b45b</a:t>
            </a:r>
          </a:p>
        </p:txBody>
      </p:sp>
      <p:sp>
        <p:nvSpPr>
          <p:cNvPr name="TextBox 30" id="30"/>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ระบบเก็บสูตรตอนสั่งไว้กับออเดอร์ เมื่อแก้สูตร ออเดอร์เก่าจึงยังหักวัตถุดิบตามสูตรเดิม</a:t>
            </a:r>
          </a:p>
        </p:txBody>
      </p:sp>
      <p:sp>
        <p:nvSpPr>
          <p:cNvPr name="TextBox 31" id="31"/>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methus_673380300-2_01</a:t>
            </a:r>
          </a:p>
        </p:txBody>
      </p:sp>
      <p:sp>
        <p:nvSpPr>
          <p:cNvPr name="TextBox 32" id="32"/>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35 วินาที · 4/10</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Template Method ใช้ขั้นตอนร่วมกัน</a:t>
            </a:r>
          </a:p>
        </p:txBody>
      </p:sp>
      <p:grpSp>
        <p:nvGrpSpPr>
          <p:cNvPr name="Group 5" id="5"/>
          <p:cNvGrpSpPr/>
          <p:nvPr/>
        </p:nvGrpSpPr>
        <p:grpSpPr>
          <a:xfrm rot="0">
            <a:off x="2352675" y="2644140"/>
            <a:ext cx="3352800" cy="1089660"/>
            <a:chOff x="0" y="0"/>
            <a:chExt cx="4470400" cy="1452880"/>
          </a:xfrm>
        </p:grpSpPr>
        <p:sp>
          <p:nvSpPr>
            <p:cNvPr name="Freeform 6" id="6"/>
            <p:cNvSpPr/>
            <p:nvPr/>
          </p:nvSpPr>
          <p:spPr>
            <a:xfrm flipH="false" flipV="false" rot="0">
              <a:off x="0" y="0"/>
              <a:ext cx="4470400" cy="1452880"/>
            </a:xfrm>
            <a:custGeom>
              <a:avLst/>
              <a:gdLst/>
              <a:ahLst/>
              <a:cxnLst/>
              <a:rect r="r" b="b" t="t" l="l"/>
              <a:pathLst>
                <a:path h="1452880" w="4470400">
                  <a:moveTo>
                    <a:pt x="228600" y="0"/>
                  </a:moveTo>
                  <a:lnTo>
                    <a:pt x="4241800" y="0"/>
                  </a:lnTo>
                  <a:cubicBezTo>
                    <a:pt x="4368038" y="0"/>
                    <a:pt x="4470400" y="102362"/>
                    <a:pt x="4470400" y="228600"/>
                  </a:cubicBezTo>
                  <a:lnTo>
                    <a:pt x="4470400" y="1224280"/>
                  </a:lnTo>
                  <a:cubicBezTo>
                    <a:pt x="4470400" y="1350518"/>
                    <a:pt x="4368038" y="1452880"/>
                    <a:pt x="4241800" y="1452880"/>
                  </a:cubicBezTo>
                  <a:lnTo>
                    <a:pt x="228600" y="1452880"/>
                  </a:lnTo>
                  <a:cubicBezTo>
                    <a:pt x="102362" y="1452880"/>
                    <a:pt x="0" y="1350518"/>
                    <a:pt x="0" y="1224280"/>
                  </a:cubicBezTo>
                  <a:lnTo>
                    <a:pt x="0" y="228600"/>
                  </a:lnTo>
                  <a:cubicBezTo>
                    <a:pt x="0" y="102362"/>
                    <a:pt x="102362" y="0"/>
                    <a:pt x="228600" y="0"/>
                  </a:cubicBezTo>
                  <a:close/>
                </a:path>
              </a:pathLst>
            </a:custGeom>
            <a:solidFill>
              <a:srgbClr val="F1E3CB"/>
            </a:solidFill>
          </p:spPr>
        </p:sp>
      </p:grpSp>
      <p:sp>
        <p:nvSpPr>
          <p:cNvPr name="TextBox 7" id="7"/>
          <p:cNvSpPr txBox="true"/>
          <p:nvPr/>
        </p:nvSpPr>
        <p:spPr>
          <a:xfrm rot="0">
            <a:off x="2503551" y="2959132"/>
            <a:ext cx="305104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ตรวจ</a:t>
            </a:r>
          </a:p>
        </p:txBody>
      </p:sp>
      <p:grpSp>
        <p:nvGrpSpPr>
          <p:cNvPr name="Group 8" id="8"/>
          <p:cNvGrpSpPr/>
          <p:nvPr/>
        </p:nvGrpSpPr>
        <p:grpSpPr>
          <a:xfrm rot="0">
            <a:off x="7465695" y="2644140"/>
            <a:ext cx="3352800" cy="1089660"/>
            <a:chOff x="0" y="0"/>
            <a:chExt cx="4470400" cy="1452880"/>
          </a:xfrm>
        </p:grpSpPr>
        <p:sp>
          <p:nvSpPr>
            <p:cNvPr name="Freeform 9" id="9"/>
            <p:cNvSpPr/>
            <p:nvPr/>
          </p:nvSpPr>
          <p:spPr>
            <a:xfrm flipH="false" flipV="false" rot="0">
              <a:off x="0" y="0"/>
              <a:ext cx="4470400" cy="1452880"/>
            </a:xfrm>
            <a:custGeom>
              <a:avLst/>
              <a:gdLst/>
              <a:ahLst/>
              <a:cxnLst/>
              <a:rect r="r" b="b" t="t" l="l"/>
              <a:pathLst>
                <a:path h="1452880" w="4470400">
                  <a:moveTo>
                    <a:pt x="228600" y="0"/>
                  </a:moveTo>
                  <a:lnTo>
                    <a:pt x="4241800" y="0"/>
                  </a:lnTo>
                  <a:cubicBezTo>
                    <a:pt x="4368038" y="0"/>
                    <a:pt x="4470400" y="102362"/>
                    <a:pt x="4470400" y="228600"/>
                  </a:cubicBezTo>
                  <a:lnTo>
                    <a:pt x="4470400" y="1224280"/>
                  </a:lnTo>
                  <a:cubicBezTo>
                    <a:pt x="4470400" y="1350518"/>
                    <a:pt x="4368038" y="1452880"/>
                    <a:pt x="4241800" y="1452880"/>
                  </a:cubicBezTo>
                  <a:lnTo>
                    <a:pt x="228600" y="1452880"/>
                  </a:lnTo>
                  <a:cubicBezTo>
                    <a:pt x="102362" y="1452880"/>
                    <a:pt x="0" y="1350518"/>
                    <a:pt x="0" y="1224280"/>
                  </a:cubicBezTo>
                  <a:lnTo>
                    <a:pt x="0" y="228600"/>
                  </a:lnTo>
                  <a:cubicBezTo>
                    <a:pt x="0" y="102362"/>
                    <a:pt x="102362" y="0"/>
                    <a:pt x="228600" y="0"/>
                  </a:cubicBezTo>
                  <a:close/>
                </a:path>
              </a:pathLst>
            </a:custGeom>
            <a:solidFill>
              <a:srgbClr val="DAEBE4"/>
            </a:solidFill>
          </p:spPr>
        </p:sp>
      </p:grpSp>
      <p:sp>
        <p:nvSpPr>
          <p:cNvPr name="TextBox 10" id="10"/>
          <p:cNvSpPr txBox="true"/>
          <p:nvPr/>
        </p:nvSpPr>
        <p:spPr>
          <a:xfrm rot="0">
            <a:off x="7616571" y="2959132"/>
            <a:ext cx="305104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คำนวณ Δ</a:t>
            </a:r>
          </a:p>
        </p:txBody>
      </p:sp>
      <p:grpSp>
        <p:nvGrpSpPr>
          <p:cNvPr name="Group 11" id="11"/>
          <p:cNvGrpSpPr/>
          <p:nvPr/>
        </p:nvGrpSpPr>
        <p:grpSpPr>
          <a:xfrm rot="0">
            <a:off x="12578715" y="2644140"/>
            <a:ext cx="3352800" cy="1089660"/>
            <a:chOff x="0" y="0"/>
            <a:chExt cx="4470400" cy="1452880"/>
          </a:xfrm>
        </p:grpSpPr>
        <p:sp>
          <p:nvSpPr>
            <p:cNvPr name="Freeform 12" id="12"/>
            <p:cNvSpPr/>
            <p:nvPr/>
          </p:nvSpPr>
          <p:spPr>
            <a:xfrm flipH="false" flipV="false" rot="0">
              <a:off x="0" y="0"/>
              <a:ext cx="4470400" cy="1452880"/>
            </a:xfrm>
            <a:custGeom>
              <a:avLst/>
              <a:gdLst/>
              <a:ahLst/>
              <a:cxnLst/>
              <a:rect r="r" b="b" t="t" l="l"/>
              <a:pathLst>
                <a:path h="1452880" w="4470400">
                  <a:moveTo>
                    <a:pt x="228600" y="0"/>
                  </a:moveTo>
                  <a:lnTo>
                    <a:pt x="4241800" y="0"/>
                  </a:lnTo>
                  <a:cubicBezTo>
                    <a:pt x="4368038" y="0"/>
                    <a:pt x="4470400" y="102362"/>
                    <a:pt x="4470400" y="228600"/>
                  </a:cubicBezTo>
                  <a:lnTo>
                    <a:pt x="4470400" y="1224280"/>
                  </a:lnTo>
                  <a:cubicBezTo>
                    <a:pt x="4470400" y="1350518"/>
                    <a:pt x="4368038" y="1452880"/>
                    <a:pt x="4241800" y="1452880"/>
                  </a:cubicBezTo>
                  <a:lnTo>
                    <a:pt x="228600" y="1452880"/>
                  </a:lnTo>
                  <a:cubicBezTo>
                    <a:pt x="102362" y="1452880"/>
                    <a:pt x="0" y="1350518"/>
                    <a:pt x="0" y="1224280"/>
                  </a:cubicBezTo>
                  <a:lnTo>
                    <a:pt x="0" y="228600"/>
                  </a:lnTo>
                  <a:cubicBezTo>
                    <a:pt x="0" y="102362"/>
                    <a:pt x="102362" y="0"/>
                    <a:pt x="228600" y="0"/>
                  </a:cubicBezTo>
                  <a:close/>
                </a:path>
              </a:pathLst>
            </a:custGeom>
            <a:solidFill>
              <a:srgbClr val="F1E3CB"/>
            </a:solidFill>
          </p:spPr>
        </p:sp>
      </p:grpSp>
      <p:sp>
        <p:nvSpPr>
          <p:cNvPr name="TextBox 13" id="13"/>
          <p:cNvSpPr txBox="true"/>
          <p:nvPr/>
        </p:nvSpPr>
        <p:spPr>
          <a:xfrm rot="0">
            <a:off x="12729591" y="2959132"/>
            <a:ext cx="305104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บันทึก + Audit</a:t>
            </a:r>
          </a:p>
        </p:txBody>
      </p:sp>
      <p:sp>
        <p:nvSpPr>
          <p:cNvPr name="TextBox 14" id="14"/>
          <p:cNvSpPr txBox="true"/>
          <p:nvPr/>
        </p:nvSpPr>
        <p:spPr>
          <a:xfrm rot="0">
            <a:off x="5956935" y="2753582"/>
            <a:ext cx="117348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TextBox 15" id="15"/>
          <p:cNvSpPr txBox="true"/>
          <p:nvPr/>
        </p:nvSpPr>
        <p:spPr>
          <a:xfrm rot="0">
            <a:off x="11069955" y="2753582"/>
            <a:ext cx="117348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AutoShape 16" id="16"/>
          <p:cNvSpPr/>
          <p:nvPr/>
        </p:nvSpPr>
        <p:spPr>
          <a:xfrm rot="0">
            <a:off x="9142095" y="4110990"/>
            <a:ext cx="33528" cy="1299210"/>
          </a:xfrm>
          <a:prstGeom prst="rect">
            <a:avLst/>
          </a:prstGeom>
          <a:solidFill>
            <a:srgbClr val="173A45"/>
          </a:solidFill>
        </p:spPr>
      </p:sp>
      <p:sp>
        <p:nvSpPr>
          <p:cNvPr name="AutoShape 17" id="17"/>
          <p:cNvSpPr/>
          <p:nvPr/>
        </p:nvSpPr>
        <p:spPr>
          <a:xfrm rot="0">
            <a:off x="4154805" y="5410200"/>
            <a:ext cx="9974580" cy="33528"/>
          </a:xfrm>
          <a:prstGeom prst="rect">
            <a:avLst/>
          </a:prstGeom>
          <a:solidFill>
            <a:srgbClr val="173A45"/>
          </a:solidFill>
        </p:spPr>
      </p:sp>
      <p:sp>
        <p:nvSpPr>
          <p:cNvPr name="AutoShape 18" id="18"/>
          <p:cNvSpPr/>
          <p:nvPr/>
        </p:nvSpPr>
        <p:spPr>
          <a:xfrm rot="0">
            <a:off x="4154805" y="5410200"/>
            <a:ext cx="33528" cy="586740"/>
          </a:xfrm>
          <a:prstGeom prst="rect">
            <a:avLst/>
          </a:prstGeom>
          <a:solidFill>
            <a:srgbClr val="173A45"/>
          </a:solidFill>
        </p:spPr>
      </p:sp>
      <p:sp>
        <p:nvSpPr>
          <p:cNvPr name="AutoShape 19" id="19"/>
          <p:cNvSpPr/>
          <p:nvPr/>
        </p:nvSpPr>
        <p:spPr>
          <a:xfrm rot="0">
            <a:off x="9142095" y="5410200"/>
            <a:ext cx="33528" cy="586740"/>
          </a:xfrm>
          <a:prstGeom prst="rect">
            <a:avLst/>
          </a:prstGeom>
          <a:solidFill>
            <a:srgbClr val="173A45"/>
          </a:solidFill>
        </p:spPr>
      </p:sp>
      <p:sp>
        <p:nvSpPr>
          <p:cNvPr name="AutoShape 20" id="20"/>
          <p:cNvSpPr/>
          <p:nvPr/>
        </p:nvSpPr>
        <p:spPr>
          <a:xfrm rot="0">
            <a:off x="14129385" y="5410200"/>
            <a:ext cx="33528" cy="586740"/>
          </a:xfrm>
          <a:prstGeom prst="rect">
            <a:avLst/>
          </a:prstGeom>
          <a:solidFill>
            <a:srgbClr val="173A45"/>
          </a:solidFill>
        </p:spPr>
      </p:sp>
      <p:grpSp>
        <p:nvGrpSpPr>
          <p:cNvPr name="Group 21" id="21"/>
          <p:cNvGrpSpPr/>
          <p:nvPr/>
        </p:nvGrpSpPr>
        <p:grpSpPr>
          <a:xfrm rot="0">
            <a:off x="3065145" y="6290310"/>
            <a:ext cx="2179320" cy="502920"/>
            <a:chOff x="0" y="0"/>
            <a:chExt cx="2905760" cy="670560"/>
          </a:xfrm>
        </p:grpSpPr>
        <p:sp>
          <p:nvSpPr>
            <p:cNvPr name="Freeform 22" id="22"/>
            <p:cNvSpPr/>
            <p:nvPr/>
          </p:nvSpPr>
          <p:spPr>
            <a:xfrm flipH="false" flipV="false" rot="0">
              <a:off x="0" y="0"/>
              <a:ext cx="2905760" cy="670560"/>
            </a:xfrm>
            <a:custGeom>
              <a:avLst/>
              <a:gdLst/>
              <a:ahLst/>
              <a:cxnLst/>
              <a:rect r="r" b="b" t="t" l="l"/>
              <a:pathLst>
                <a:path h="670560" w="2905760">
                  <a:moveTo>
                    <a:pt x="335280" y="0"/>
                  </a:moveTo>
                  <a:lnTo>
                    <a:pt x="2570480" y="0"/>
                  </a:lnTo>
                  <a:cubicBezTo>
                    <a:pt x="2755646" y="0"/>
                    <a:pt x="2905760" y="150114"/>
                    <a:pt x="2905760" y="335280"/>
                  </a:cubicBezTo>
                  <a:cubicBezTo>
                    <a:pt x="2905760" y="520446"/>
                    <a:pt x="2755646" y="670560"/>
                    <a:pt x="257048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23" id="23"/>
          <p:cNvSpPr txBox="true"/>
          <p:nvPr/>
        </p:nvSpPr>
        <p:spPr>
          <a:xfrm rot="0">
            <a:off x="3165729" y="6347460"/>
            <a:ext cx="197815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IN</a:t>
            </a:r>
          </a:p>
        </p:txBody>
      </p:sp>
      <p:grpSp>
        <p:nvGrpSpPr>
          <p:cNvPr name="Group 24" id="24"/>
          <p:cNvGrpSpPr/>
          <p:nvPr/>
        </p:nvGrpSpPr>
        <p:grpSpPr>
          <a:xfrm rot="0">
            <a:off x="7800975" y="6290310"/>
            <a:ext cx="2682240" cy="502920"/>
            <a:chOff x="0" y="0"/>
            <a:chExt cx="3576320" cy="670560"/>
          </a:xfrm>
        </p:grpSpPr>
        <p:sp>
          <p:nvSpPr>
            <p:cNvPr name="Freeform 25" id="25"/>
            <p:cNvSpPr/>
            <p:nvPr/>
          </p:nvSpPr>
          <p:spPr>
            <a:xfrm flipH="false" flipV="false" rot="0">
              <a:off x="0" y="0"/>
              <a:ext cx="3576320" cy="670560"/>
            </a:xfrm>
            <a:custGeom>
              <a:avLst/>
              <a:gdLst/>
              <a:ahLst/>
              <a:cxnLst/>
              <a:rect r="r" b="b" t="t" l="l"/>
              <a:pathLst>
                <a:path h="670560" w="3576320">
                  <a:moveTo>
                    <a:pt x="335280" y="0"/>
                  </a:moveTo>
                  <a:lnTo>
                    <a:pt x="3241040" y="0"/>
                  </a:lnTo>
                  <a:cubicBezTo>
                    <a:pt x="3426206" y="0"/>
                    <a:pt x="3576320" y="150114"/>
                    <a:pt x="3576320" y="335280"/>
                  </a:cubicBezTo>
                  <a:cubicBezTo>
                    <a:pt x="3576320" y="520446"/>
                    <a:pt x="3426206" y="670560"/>
                    <a:pt x="324104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26" id="26"/>
          <p:cNvSpPr txBox="true"/>
          <p:nvPr/>
        </p:nvSpPr>
        <p:spPr>
          <a:xfrm rot="0">
            <a:off x="7901559" y="6347460"/>
            <a:ext cx="248107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ADJUSTMENT</a:t>
            </a:r>
          </a:p>
        </p:txBody>
      </p:sp>
      <p:grpSp>
        <p:nvGrpSpPr>
          <p:cNvPr name="Group 27" id="27"/>
          <p:cNvGrpSpPr/>
          <p:nvPr/>
        </p:nvGrpSpPr>
        <p:grpSpPr>
          <a:xfrm rot="0">
            <a:off x="12662535" y="6290310"/>
            <a:ext cx="2933700" cy="502920"/>
            <a:chOff x="0" y="0"/>
            <a:chExt cx="3911600" cy="670560"/>
          </a:xfrm>
        </p:grpSpPr>
        <p:sp>
          <p:nvSpPr>
            <p:cNvPr name="Freeform 28" id="28"/>
            <p:cNvSpPr/>
            <p:nvPr/>
          </p:nvSpPr>
          <p:spPr>
            <a:xfrm flipH="false" flipV="false" rot="0">
              <a:off x="0" y="0"/>
              <a:ext cx="3911600" cy="670560"/>
            </a:xfrm>
            <a:custGeom>
              <a:avLst/>
              <a:gdLst/>
              <a:ahLst/>
              <a:cxnLst/>
              <a:rect r="r" b="b" t="t" l="l"/>
              <a:pathLst>
                <a:path h="670560" w="3911600">
                  <a:moveTo>
                    <a:pt x="335280" y="0"/>
                  </a:moveTo>
                  <a:lnTo>
                    <a:pt x="3576320" y="0"/>
                  </a:lnTo>
                  <a:cubicBezTo>
                    <a:pt x="3761486" y="0"/>
                    <a:pt x="3911600" y="150114"/>
                    <a:pt x="3911600" y="335280"/>
                  </a:cubicBezTo>
                  <a:cubicBezTo>
                    <a:pt x="3911600" y="520446"/>
                    <a:pt x="3761486" y="670560"/>
                    <a:pt x="357632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29" id="29"/>
          <p:cNvSpPr txBox="true"/>
          <p:nvPr/>
        </p:nvSpPr>
        <p:spPr>
          <a:xfrm rot="0">
            <a:off x="12763119" y="6347460"/>
            <a:ext cx="273253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CONSUMPTION</a:t>
            </a:r>
          </a:p>
        </p:txBody>
      </p:sp>
      <p:sp>
        <p:nvSpPr>
          <p:cNvPr name="TextBox 30" id="30"/>
          <p:cNvSpPr txBox="true"/>
          <p:nvPr/>
        </p:nvSpPr>
        <p:spPr>
          <a:xfrm rot="0">
            <a:off x="3609975" y="7115080"/>
            <a:ext cx="1089660" cy="794766"/>
          </a:xfrm>
          <a:prstGeom prst="rect">
            <a:avLst/>
          </a:prstGeom>
        </p:spPr>
        <p:txBody>
          <a:bodyPr anchor="t" rtlCol="false" tIns="0" lIns="0" bIns="0" rIns="0">
            <a:spAutoFit/>
          </a:bodyPr>
          <a:lstStyle/>
          <a:p>
            <a:pPr algn="ctr">
              <a:lnSpc>
                <a:spcPts val="5837"/>
              </a:lnSpc>
            </a:pPr>
            <a:r>
              <a:rPr lang="en-US" b="true" sz="4356">
                <a:solidFill>
                  <a:srgbClr val="28766D"/>
                </a:solidFill>
                <a:latin typeface="Sarabun Bold"/>
                <a:ea typeface="Sarabun Bold"/>
                <a:cs typeface="Sarabun Bold"/>
                <a:sym typeface="Sarabun Bold"/>
              </a:rPr>
              <a:t>+</a:t>
            </a:r>
          </a:p>
        </p:txBody>
      </p:sp>
      <p:sp>
        <p:nvSpPr>
          <p:cNvPr name="TextBox 31" id="31"/>
          <p:cNvSpPr txBox="true"/>
          <p:nvPr/>
        </p:nvSpPr>
        <p:spPr>
          <a:xfrm rot="0">
            <a:off x="8639175" y="7115080"/>
            <a:ext cx="1089660" cy="794766"/>
          </a:xfrm>
          <a:prstGeom prst="rect">
            <a:avLst/>
          </a:prstGeom>
        </p:spPr>
        <p:txBody>
          <a:bodyPr anchor="t" rtlCol="false" tIns="0" lIns="0" bIns="0" rIns="0">
            <a:spAutoFit/>
          </a:bodyPr>
          <a:lstStyle/>
          <a:p>
            <a:pPr algn="ctr">
              <a:lnSpc>
                <a:spcPts val="5837"/>
              </a:lnSpc>
            </a:pPr>
            <a:r>
              <a:rPr lang="en-US" b="true" sz="4356">
                <a:solidFill>
                  <a:srgbClr val="AC4D31"/>
                </a:solidFill>
                <a:latin typeface="Sarabun Bold"/>
                <a:ea typeface="Sarabun Bold"/>
                <a:cs typeface="Sarabun Bold"/>
                <a:sym typeface="Sarabun Bold"/>
              </a:rPr>
              <a:t>±</a:t>
            </a:r>
          </a:p>
        </p:txBody>
      </p:sp>
      <p:sp>
        <p:nvSpPr>
          <p:cNvPr name="TextBox 32" id="32"/>
          <p:cNvSpPr txBox="true"/>
          <p:nvPr/>
        </p:nvSpPr>
        <p:spPr>
          <a:xfrm rot="0">
            <a:off x="13584555" y="7115080"/>
            <a:ext cx="1089660" cy="794766"/>
          </a:xfrm>
          <a:prstGeom prst="rect">
            <a:avLst/>
          </a:prstGeom>
        </p:spPr>
        <p:txBody>
          <a:bodyPr anchor="t" rtlCol="false" tIns="0" lIns="0" bIns="0" rIns="0">
            <a:spAutoFit/>
          </a:bodyPr>
          <a:lstStyle/>
          <a:p>
            <a:pPr algn="ctr">
              <a:lnSpc>
                <a:spcPts val="5837"/>
              </a:lnSpc>
            </a:pPr>
            <a:r>
              <a:rPr lang="en-US" b="true" sz="4356">
                <a:solidFill>
                  <a:srgbClr val="B94B42"/>
                </a:solidFill>
                <a:latin typeface="Sarabun Bold"/>
                <a:ea typeface="Sarabun Bold"/>
                <a:cs typeface="Sarabun Bold"/>
                <a:sym typeface="Sarabun Bold"/>
              </a:rPr>
              <a:t>−</a:t>
            </a:r>
          </a:p>
        </p:txBody>
      </p:sp>
      <p:sp>
        <p:nvSpPr>
          <p:cNvPr name="TextBox 33" id="33"/>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Template กำหนดขั้นตอนตรวจและบันทึกไว้ร่วมกัน แต่ละ Processor เปลี่ยนวิธีคำนวณยอดและประเภทประวัติผ่าน Hook</a:t>
            </a:r>
          </a:p>
        </p:txBody>
      </p:sp>
      <p:sp>
        <p:nvSpPr>
          <p:cNvPr name="TextBox 34" id="34"/>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methus_673380300-2_01</a:t>
            </a:r>
          </a:p>
        </p:txBody>
      </p:sp>
      <p:sp>
        <p:nvSpPr>
          <p:cNvPr name="TextBox 35" id="35"/>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25 วินาที · 5/10</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เริ่มทำ จึงหักสต๊อกครั้งเดียว</a:t>
            </a:r>
          </a:p>
        </p:txBody>
      </p:sp>
      <p:grpSp>
        <p:nvGrpSpPr>
          <p:cNvPr name="Group 5" id="5"/>
          <p:cNvGrpSpPr/>
          <p:nvPr/>
        </p:nvGrpSpPr>
        <p:grpSpPr>
          <a:xfrm rot="0">
            <a:off x="2268855" y="2266950"/>
            <a:ext cx="3101340" cy="838200"/>
            <a:chOff x="0" y="0"/>
            <a:chExt cx="4135120" cy="1117600"/>
          </a:xfrm>
        </p:grpSpPr>
        <p:sp>
          <p:nvSpPr>
            <p:cNvPr name="Freeform 6" id="6"/>
            <p:cNvSpPr/>
            <p:nvPr/>
          </p:nvSpPr>
          <p:spPr>
            <a:xfrm flipH="false" flipV="false" rot="0">
              <a:off x="0" y="0"/>
              <a:ext cx="4135120" cy="1117600"/>
            </a:xfrm>
            <a:custGeom>
              <a:avLst/>
              <a:gdLst/>
              <a:ahLst/>
              <a:cxnLst/>
              <a:rect r="r" b="b" t="t" l="l"/>
              <a:pathLst>
                <a:path h="1117600" w="4135120">
                  <a:moveTo>
                    <a:pt x="228600" y="0"/>
                  </a:moveTo>
                  <a:lnTo>
                    <a:pt x="3906520" y="0"/>
                  </a:lnTo>
                  <a:cubicBezTo>
                    <a:pt x="4032758" y="0"/>
                    <a:pt x="4135120" y="102362"/>
                    <a:pt x="4135120" y="228600"/>
                  </a:cubicBezTo>
                  <a:lnTo>
                    <a:pt x="4135120" y="889000"/>
                  </a:lnTo>
                  <a:cubicBezTo>
                    <a:pt x="4135120" y="1015238"/>
                    <a:pt x="4032758" y="1117600"/>
                    <a:pt x="3906520" y="1117600"/>
                  </a:cubicBezTo>
                  <a:lnTo>
                    <a:pt x="228600" y="1117600"/>
                  </a:lnTo>
                  <a:cubicBezTo>
                    <a:pt x="102362" y="1117600"/>
                    <a:pt x="0" y="1015238"/>
                    <a:pt x="0" y="889000"/>
                  </a:cubicBezTo>
                  <a:lnTo>
                    <a:pt x="0" y="228600"/>
                  </a:lnTo>
                  <a:cubicBezTo>
                    <a:pt x="0" y="102362"/>
                    <a:pt x="102362" y="0"/>
                    <a:pt x="228600" y="0"/>
                  </a:cubicBezTo>
                  <a:close/>
                </a:path>
              </a:pathLst>
            </a:custGeom>
            <a:solidFill>
              <a:srgbClr val="F1E3CB"/>
            </a:solidFill>
          </p:spPr>
        </p:sp>
      </p:grpSp>
      <p:sp>
        <p:nvSpPr>
          <p:cNvPr name="TextBox 7" id="7"/>
          <p:cNvSpPr txBox="true"/>
          <p:nvPr/>
        </p:nvSpPr>
        <p:spPr>
          <a:xfrm rot="0">
            <a:off x="2419731" y="2456212"/>
            <a:ext cx="279958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RECEIVED</a:t>
            </a:r>
          </a:p>
        </p:txBody>
      </p:sp>
      <p:sp>
        <p:nvSpPr>
          <p:cNvPr name="TextBox 8" id="8"/>
          <p:cNvSpPr txBox="true"/>
          <p:nvPr/>
        </p:nvSpPr>
        <p:spPr>
          <a:xfrm rot="0">
            <a:off x="5705475" y="2250662"/>
            <a:ext cx="125730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grpSp>
        <p:nvGrpSpPr>
          <p:cNvPr name="Group 9" id="9"/>
          <p:cNvGrpSpPr/>
          <p:nvPr/>
        </p:nvGrpSpPr>
        <p:grpSpPr>
          <a:xfrm rot="0">
            <a:off x="7298055" y="2266950"/>
            <a:ext cx="3520440" cy="838200"/>
            <a:chOff x="0" y="0"/>
            <a:chExt cx="4693920" cy="1117600"/>
          </a:xfrm>
        </p:grpSpPr>
        <p:sp>
          <p:nvSpPr>
            <p:cNvPr name="Freeform 10" id="10"/>
            <p:cNvSpPr/>
            <p:nvPr/>
          </p:nvSpPr>
          <p:spPr>
            <a:xfrm flipH="false" flipV="false" rot="0">
              <a:off x="0" y="0"/>
              <a:ext cx="4693920" cy="1117600"/>
            </a:xfrm>
            <a:custGeom>
              <a:avLst/>
              <a:gdLst/>
              <a:ahLst/>
              <a:cxnLst/>
              <a:rect r="r" b="b" t="t" l="l"/>
              <a:pathLst>
                <a:path h="1117600" w="4693920">
                  <a:moveTo>
                    <a:pt x="228600" y="0"/>
                  </a:moveTo>
                  <a:lnTo>
                    <a:pt x="4465320" y="0"/>
                  </a:lnTo>
                  <a:cubicBezTo>
                    <a:pt x="4591558" y="0"/>
                    <a:pt x="4693920" y="102362"/>
                    <a:pt x="4693920" y="228600"/>
                  </a:cubicBezTo>
                  <a:lnTo>
                    <a:pt x="4693920" y="889000"/>
                  </a:lnTo>
                  <a:cubicBezTo>
                    <a:pt x="4693920" y="1015238"/>
                    <a:pt x="4591558" y="1117600"/>
                    <a:pt x="4465320" y="1117600"/>
                  </a:cubicBezTo>
                  <a:lnTo>
                    <a:pt x="228600" y="1117600"/>
                  </a:lnTo>
                  <a:cubicBezTo>
                    <a:pt x="102362" y="1117600"/>
                    <a:pt x="0" y="1015238"/>
                    <a:pt x="0" y="889000"/>
                  </a:cubicBezTo>
                  <a:lnTo>
                    <a:pt x="0" y="228600"/>
                  </a:lnTo>
                  <a:cubicBezTo>
                    <a:pt x="0" y="102362"/>
                    <a:pt x="102362" y="0"/>
                    <a:pt x="228600" y="0"/>
                  </a:cubicBezTo>
                  <a:close/>
                </a:path>
              </a:pathLst>
            </a:custGeom>
            <a:solidFill>
              <a:srgbClr val="DAEBE4"/>
            </a:solidFill>
          </p:spPr>
        </p:sp>
      </p:grpSp>
      <p:sp>
        <p:nvSpPr>
          <p:cNvPr name="TextBox 11" id="11"/>
          <p:cNvSpPr txBox="true"/>
          <p:nvPr/>
        </p:nvSpPr>
        <p:spPr>
          <a:xfrm rot="0">
            <a:off x="7448931" y="2456212"/>
            <a:ext cx="321868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PREPARING</a:t>
            </a:r>
          </a:p>
        </p:txBody>
      </p:sp>
      <p:sp>
        <p:nvSpPr>
          <p:cNvPr name="TextBox 12" id="12"/>
          <p:cNvSpPr txBox="true"/>
          <p:nvPr/>
        </p:nvSpPr>
        <p:spPr>
          <a:xfrm rot="0">
            <a:off x="11069955" y="2250662"/>
            <a:ext cx="108966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grpSp>
        <p:nvGrpSpPr>
          <p:cNvPr name="Group 13" id="13"/>
          <p:cNvGrpSpPr/>
          <p:nvPr/>
        </p:nvGrpSpPr>
        <p:grpSpPr>
          <a:xfrm rot="0">
            <a:off x="12494895" y="2266950"/>
            <a:ext cx="3520440" cy="838200"/>
            <a:chOff x="0" y="0"/>
            <a:chExt cx="4693920" cy="1117600"/>
          </a:xfrm>
        </p:grpSpPr>
        <p:sp>
          <p:nvSpPr>
            <p:cNvPr name="Freeform 14" id="14"/>
            <p:cNvSpPr/>
            <p:nvPr/>
          </p:nvSpPr>
          <p:spPr>
            <a:xfrm flipH="false" flipV="false" rot="0">
              <a:off x="0" y="0"/>
              <a:ext cx="4693920" cy="1117600"/>
            </a:xfrm>
            <a:custGeom>
              <a:avLst/>
              <a:gdLst/>
              <a:ahLst/>
              <a:cxnLst/>
              <a:rect r="r" b="b" t="t" l="l"/>
              <a:pathLst>
                <a:path h="1117600" w="4693920">
                  <a:moveTo>
                    <a:pt x="228600" y="0"/>
                  </a:moveTo>
                  <a:lnTo>
                    <a:pt x="4465320" y="0"/>
                  </a:lnTo>
                  <a:cubicBezTo>
                    <a:pt x="4591558" y="0"/>
                    <a:pt x="4693920" y="102362"/>
                    <a:pt x="4693920" y="228600"/>
                  </a:cubicBezTo>
                  <a:lnTo>
                    <a:pt x="4693920" y="889000"/>
                  </a:lnTo>
                  <a:cubicBezTo>
                    <a:pt x="4693920" y="1015238"/>
                    <a:pt x="4591558" y="1117600"/>
                    <a:pt x="4465320" y="1117600"/>
                  </a:cubicBezTo>
                  <a:lnTo>
                    <a:pt x="228600" y="1117600"/>
                  </a:lnTo>
                  <a:cubicBezTo>
                    <a:pt x="102362" y="1117600"/>
                    <a:pt x="0" y="1015238"/>
                    <a:pt x="0" y="889000"/>
                  </a:cubicBezTo>
                  <a:lnTo>
                    <a:pt x="0" y="228600"/>
                  </a:lnTo>
                  <a:cubicBezTo>
                    <a:pt x="0" y="102362"/>
                    <a:pt x="102362" y="0"/>
                    <a:pt x="228600" y="0"/>
                  </a:cubicBezTo>
                  <a:close/>
                </a:path>
              </a:pathLst>
            </a:custGeom>
            <a:solidFill>
              <a:srgbClr val="F1E3CB"/>
            </a:solidFill>
          </p:spPr>
        </p:sp>
      </p:grpSp>
      <p:sp>
        <p:nvSpPr>
          <p:cNvPr name="TextBox 15" id="15"/>
          <p:cNvSpPr txBox="true"/>
          <p:nvPr/>
        </p:nvSpPr>
        <p:spPr>
          <a:xfrm rot="0">
            <a:off x="12645771" y="2456212"/>
            <a:ext cx="321868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READY → SERVED</a:t>
            </a:r>
          </a:p>
        </p:txBody>
      </p:sp>
      <p:grpSp>
        <p:nvGrpSpPr>
          <p:cNvPr name="Group 16" id="16"/>
          <p:cNvGrpSpPr/>
          <p:nvPr/>
        </p:nvGrpSpPr>
        <p:grpSpPr>
          <a:xfrm rot="0">
            <a:off x="3861435" y="3985260"/>
            <a:ext cx="1592580" cy="2053590"/>
            <a:chOff x="0" y="0"/>
            <a:chExt cx="2123440" cy="2738120"/>
          </a:xfrm>
        </p:grpSpPr>
        <p:sp>
          <p:nvSpPr>
            <p:cNvPr name="Freeform 17" id="17"/>
            <p:cNvSpPr/>
            <p:nvPr/>
          </p:nvSpPr>
          <p:spPr>
            <a:xfrm flipH="false" flipV="false" rot="0">
              <a:off x="0" y="0"/>
              <a:ext cx="2123440" cy="2738120"/>
            </a:xfrm>
            <a:custGeom>
              <a:avLst/>
              <a:gdLst/>
              <a:ahLst/>
              <a:cxnLst/>
              <a:rect r="r" b="b" t="t" l="l"/>
              <a:pathLst>
                <a:path h="2738120" w="2123440">
                  <a:moveTo>
                    <a:pt x="177800" y="0"/>
                  </a:moveTo>
                  <a:lnTo>
                    <a:pt x="1945640" y="0"/>
                  </a:lnTo>
                  <a:cubicBezTo>
                    <a:pt x="2043811" y="0"/>
                    <a:pt x="2123440" y="79629"/>
                    <a:pt x="2123440" y="177800"/>
                  </a:cubicBezTo>
                  <a:lnTo>
                    <a:pt x="2123440" y="2560320"/>
                  </a:lnTo>
                  <a:cubicBezTo>
                    <a:pt x="2123440" y="2658491"/>
                    <a:pt x="2043811" y="2738120"/>
                    <a:pt x="1945640" y="2738120"/>
                  </a:cubicBezTo>
                  <a:lnTo>
                    <a:pt x="177800" y="2738120"/>
                  </a:lnTo>
                  <a:cubicBezTo>
                    <a:pt x="79629" y="2738120"/>
                    <a:pt x="0" y="2658491"/>
                    <a:pt x="0" y="2560320"/>
                  </a:cubicBezTo>
                  <a:lnTo>
                    <a:pt x="0" y="177800"/>
                  </a:lnTo>
                  <a:cubicBezTo>
                    <a:pt x="0" y="79629"/>
                    <a:pt x="79629" y="0"/>
                    <a:pt x="177800" y="0"/>
                  </a:cubicBezTo>
                  <a:close/>
                </a:path>
              </a:pathLst>
            </a:custGeom>
            <a:solidFill>
              <a:srgbClr val="FFFFFF"/>
            </a:solidFill>
          </p:spPr>
        </p:sp>
        <p:sp>
          <p:nvSpPr>
            <p:cNvPr name="Freeform 18" id="18"/>
            <p:cNvSpPr/>
            <p:nvPr/>
          </p:nvSpPr>
          <p:spPr>
            <a:xfrm flipH="false" flipV="false" rot="0">
              <a:off x="0" y="0"/>
              <a:ext cx="2123440" cy="2738120"/>
            </a:xfrm>
            <a:custGeom>
              <a:avLst/>
              <a:gdLst/>
              <a:ahLst/>
              <a:cxnLst/>
              <a:rect r="r" b="b" t="t" l="l"/>
              <a:pathLst>
                <a:path h="2738120" w="2123440">
                  <a:moveTo>
                    <a:pt x="177800" y="0"/>
                  </a:moveTo>
                  <a:lnTo>
                    <a:pt x="1945640" y="0"/>
                  </a:lnTo>
                  <a:cubicBezTo>
                    <a:pt x="2043811" y="0"/>
                    <a:pt x="2123440" y="79629"/>
                    <a:pt x="2123440" y="177800"/>
                  </a:cubicBezTo>
                  <a:lnTo>
                    <a:pt x="2123440" y="2560320"/>
                  </a:lnTo>
                  <a:cubicBezTo>
                    <a:pt x="2123440" y="2658491"/>
                    <a:pt x="2043811" y="2738120"/>
                    <a:pt x="1945640" y="2738120"/>
                  </a:cubicBezTo>
                  <a:lnTo>
                    <a:pt x="177800" y="2738120"/>
                  </a:lnTo>
                  <a:cubicBezTo>
                    <a:pt x="79629" y="2738120"/>
                    <a:pt x="0" y="2658491"/>
                    <a:pt x="0" y="2560320"/>
                  </a:cubicBezTo>
                  <a:lnTo>
                    <a:pt x="0" y="177800"/>
                  </a:lnTo>
                  <a:cubicBezTo>
                    <a:pt x="0" y="79629"/>
                    <a:pt x="79629" y="0"/>
                    <a:pt x="177800" y="0"/>
                  </a:cubicBezTo>
                  <a:close/>
                </a:path>
              </a:pathLst>
            </a:custGeom>
            <a:solidFill>
              <a:srgbClr val="000000">
                <a:alpha val="0"/>
              </a:srgbClr>
            </a:solidFill>
            <a:ln w="28575" cap="sq">
              <a:solidFill>
                <a:srgbClr val="173A45"/>
              </a:solidFill>
              <a:prstDash val="solid"/>
              <a:miter/>
            </a:ln>
          </p:spPr>
        </p:sp>
      </p:grpSp>
      <p:grpSp>
        <p:nvGrpSpPr>
          <p:cNvPr name="Group 19" id="19"/>
          <p:cNvGrpSpPr/>
          <p:nvPr/>
        </p:nvGrpSpPr>
        <p:grpSpPr>
          <a:xfrm rot="0">
            <a:off x="3945255" y="4236720"/>
            <a:ext cx="1424940" cy="1718310"/>
            <a:chOff x="0" y="0"/>
            <a:chExt cx="1899920" cy="2291080"/>
          </a:xfrm>
        </p:grpSpPr>
        <p:sp>
          <p:nvSpPr>
            <p:cNvPr name="Freeform 20" id="20"/>
            <p:cNvSpPr/>
            <p:nvPr/>
          </p:nvSpPr>
          <p:spPr>
            <a:xfrm flipH="false" flipV="false" rot="0">
              <a:off x="0" y="0"/>
              <a:ext cx="1899920" cy="2291080"/>
            </a:xfrm>
            <a:custGeom>
              <a:avLst/>
              <a:gdLst/>
              <a:ahLst/>
              <a:cxnLst/>
              <a:rect r="r" b="b" t="t" l="l"/>
              <a:pathLst>
                <a:path h="2291080" w="1899920">
                  <a:moveTo>
                    <a:pt x="50800" y="0"/>
                  </a:moveTo>
                  <a:lnTo>
                    <a:pt x="1849120" y="0"/>
                  </a:lnTo>
                  <a:cubicBezTo>
                    <a:pt x="1877187" y="0"/>
                    <a:pt x="1899920" y="22733"/>
                    <a:pt x="1899920" y="50800"/>
                  </a:cubicBezTo>
                  <a:lnTo>
                    <a:pt x="1899920" y="2240280"/>
                  </a:lnTo>
                  <a:cubicBezTo>
                    <a:pt x="1899920" y="2268347"/>
                    <a:pt x="1877187" y="2291080"/>
                    <a:pt x="1849120" y="2291080"/>
                  </a:cubicBezTo>
                  <a:lnTo>
                    <a:pt x="50800" y="2291080"/>
                  </a:lnTo>
                  <a:cubicBezTo>
                    <a:pt x="22733" y="2291080"/>
                    <a:pt x="0" y="2268347"/>
                    <a:pt x="0" y="2240280"/>
                  </a:cubicBezTo>
                  <a:lnTo>
                    <a:pt x="0" y="50800"/>
                  </a:lnTo>
                  <a:cubicBezTo>
                    <a:pt x="0" y="22733"/>
                    <a:pt x="22733" y="0"/>
                    <a:pt x="50800" y="0"/>
                  </a:cubicBezTo>
                  <a:close/>
                </a:path>
              </a:pathLst>
            </a:custGeom>
            <a:solidFill>
              <a:srgbClr val="28766D"/>
            </a:solidFill>
          </p:spPr>
        </p:sp>
      </p:grpSp>
      <p:grpSp>
        <p:nvGrpSpPr>
          <p:cNvPr name="Group 21" id="21"/>
          <p:cNvGrpSpPr/>
          <p:nvPr/>
        </p:nvGrpSpPr>
        <p:grpSpPr>
          <a:xfrm rot="0">
            <a:off x="3794379" y="3859530"/>
            <a:ext cx="1726692" cy="234696"/>
            <a:chOff x="0" y="0"/>
            <a:chExt cx="2302256" cy="312928"/>
          </a:xfrm>
        </p:grpSpPr>
        <p:sp>
          <p:nvSpPr>
            <p:cNvPr name="Freeform 22" id="22"/>
            <p:cNvSpPr/>
            <p:nvPr/>
          </p:nvSpPr>
          <p:spPr>
            <a:xfrm flipH="false" flipV="false" rot="0">
              <a:off x="0" y="0"/>
              <a:ext cx="2302256" cy="312928"/>
            </a:xfrm>
            <a:custGeom>
              <a:avLst/>
              <a:gdLst/>
              <a:ahLst/>
              <a:cxnLst/>
              <a:rect r="r" b="b" t="t" l="l"/>
              <a:pathLst>
                <a:path h="312928" w="2302256">
                  <a:moveTo>
                    <a:pt x="63500" y="0"/>
                  </a:moveTo>
                  <a:lnTo>
                    <a:pt x="2238756" y="0"/>
                  </a:lnTo>
                  <a:cubicBezTo>
                    <a:pt x="2273808" y="0"/>
                    <a:pt x="2302256" y="28448"/>
                    <a:pt x="2302256" y="63500"/>
                  </a:cubicBezTo>
                  <a:lnTo>
                    <a:pt x="2302256" y="249428"/>
                  </a:lnTo>
                  <a:cubicBezTo>
                    <a:pt x="2302256" y="284480"/>
                    <a:pt x="2273808" y="312928"/>
                    <a:pt x="2238756" y="312928"/>
                  </a:cubicBezTo>
                  <a:lnTo>
                    <a:pt x="63500" y="312928"/>
                  </a:lnTo>
                  <a:cubicBezTo>
                    <a:pt x="28448" y="312928"/>
                    <a:pt x="0" y="284480"/>
                    <a:pt x="0" y="249428"/>
                  </a:cubicBezTo>
                  <a:lnTo>
                    <a:pt x="0" y="63500"/>
                  </a:lnTo>
                  <a:cubicBezTo>
                    <a:pt x="0" y="28448"/>
                    <a:pt x="28448" y="0"/>
                    <a:pt x="63500" y="0"/>
                  </a:cubicBezTo>
                  <a:close/>
                </a:path>
              </a:pathLst>
            </a:custGeom>
            <a:solidFill>
              <a:srgbClr val="173A45"/>
            </a:solidFill>
          </p:spPr>
        </p:sp>
      </p:grpSp>
      <p:sp>
        <p:nvSpPr>
          <p:cNvPr name="TextBox 23" id="23"/>
          <p:cNvSpPr txBox="true"/>
          <p:nvPr/>
        </p:nvSpPr>
        <p:spPr>
          <a:xfrm rot="0">
            <a:off x="3693795" y="6186392"/>
            <a:ext cx="1927860" cy="541020"/>
          </a:xfrm>
          <a:prstGeom prst="rect">
            <a:avLst/>
          </a:prstGeom>
        </p:spPr>
        <p:txBody>
          <a:bodyPr anchor="t" rtlCol="false" tIns="0" lIns="0" bIns="0" rIns="0">
            <a:spAutoFit/>
          </a:bodyPr>
          <a:lstStyle/>
          <a:p>
            <a:pPr algn="ctr">
              <a:lnSpc>
                <a:spcPts val="3979"/>
              </a:lnSpc>
            </a:pPr>
            <a:r>
              <a:rPr lang="en-US" b="true" sz="2970">
                <a:solidFill>
                  <a:srgbClr val="28766D"/>
                </a:solidFill>
                <a:latin typeface="Sarabun Bold"/>
                <a:ea typeface="Sarabun Bold"/>
                <a:cs typeface="Sarabun Bold"/>
                <a:sym typeface="Sarabun Bold"/>
              </a:rPr>
              <a:t>3.000</a:t>
            </a:r>
          </a:p>
        </p:txBody>
      </p:sp>
      <p:grpSp>
        <p:nvGrpSpPr>
          <p:cNvPr name="Group 24" id="24"/>
          <p:cNvGrpSpPr/>
          <p:nvPr/>
        </p:nvGrpSpPr>
        <p:grpSpPr>
          <a:xfrm rot="0">
            <a:off x="8555355" y="3985260"/>
            <a:ext cx="1592580" cy="2053590"/>
            <a:chOff x="0" y="0"/>
            <a:chExt cx="2123440" cy="2738120"/>
          </a:xfrm>
        </p:grpSpPr>
        <p:sp>
          <p:nvSpPr>
            <p:cNvPr name="Freeform 25" id="25"/>
            <p:cNvSpPr/>
            <p:nvPr/>
          </p:nvSpPr>
          <p:spPr>
            <a:xfrm flipH="false" flipV="false" rot="0">
              <a:off x="0" y="0"/>
              <a:ext cx="2123440" cy="2738120"/>
            </a:xfrm>
            <a:custGeom>
              <a:avLst/>
              <a:gdLst/>
              <a:ahLst/>
              <a:cxnLst/>
              <a:rect r="r" b="b" t="t" l="l"/>
              <a:pathLst>
                <a:path h="2738120" w="2123440">
                  <a:moveTo>
                    <a:pt x="177800" y="0"/>
                  </a:moveTo>
                  <a:lnTo>
                    <a:pt x="1945640" y="0"/>
                  </a:lnTo>
                  <a:cubicBezTo>
                    <a:pt x="2043811" y="0"/>
                    <a:pt x="2123440" y="79629"/>
                    <a:pt x="2123440" y="177800"/>
                  </a:cubicBezTo>
                  <a:lnTo>
                    <a:pt x="2123440" y="2560320"/>
                  </a:lnTo>
                  <a:cubicBezTo>
                    <a:pt x="2123440" y="2658491"/>
                    <a:pt x="2043811" y="2738120"/>
                    <a:pt x="1945640" y="2738120"/>
                  </a:cubicBezTo>
                  <a:lnTo>
                    <a:pt x="177800" y="2738120"/>
                  </a:lnTo>
                  <a:cubicBezTo>
                    <a:pt x="79629" y="2738120"/>
                    <a:pt x="0" y="2658491"/>
                    <a:pt x="0" y="2560320"/>
                  </a:cubicBezTo>
                  <a:lnTo>
                    <a:pt x="0" y="177800"/>
                  </a:lnTo>
                  <a:cubicBezTo>
                    <a:pt x="0" y="79629"/>
                    <a:pt x="79629" y="0"/>
                    <a:pt x="177800" y="0"/>
                  </a:cubicBezTo>
                  <a:close/>
                </a:path>
              </a:pathLst>
            </a:custGeom>
            <a:solidFill>
              <a:srgbClr val="FFFFFF"/>
            </a:solidFill>
          </p:spPr>
        </p:sp>
        <p:sp>
          <p:nvSpPr>
            <p:cNvPr name="Freeform 26" id="26"/>
            <p:cNvSpPr/>
            <p:nvPr/>
          </p:nvSpPr>
          <p:spPr>
            <a:xfrm flipH="false" flipV="false" rot="0">
              <a:off x="0" y="0"/>
              <a:ext cx="2123440" cy="2738120"/>
            </a:xfrm>
            <a:custGeom>
              <a:avLst/>
              <a:gdLst/>
              <a:ahLst/>
              <a:cxnLst/>
              <a:rect r="r" b="b" t="t" l="l"/>
              <a:pathLst>
                <a:path h="2738120" w="2123440">
                  <a:moveTo>
                    <a:pt x="177800" y="0"/>
                  </a:moveTo>
                  <a:lnTo>
                    <a:pt x="1945640" y="0"/>
                  </a:lnTo>
                  <a:cubicBezTo>
                    <a:pt x="2043811" y="0"/>
                    <a:pt x="2123440" y="79629"/>
                    <a:pt x="2123440" y="177800"/>
                  </a:cubicBezTo>
                  <a:lnTo>
                    <a:pt x="2123440" y="2560320"/>
                  </a:lnTo>
                  <a:cubicBezTo>
                    <a:pt x="2123440" y="2658491"/>
                    <a:pt x="2043811" y="2738120"/>
                    <a:pt x="1945640" y="2738120"/>
                  </a:cubicBezTo>
                  <a:lnTo>
                    <a:pt x="177800" y="2738120"/>
                  </a:lnTo>
                  <a:cubicBezTo>
                    <a:pt x="79629" y="2738120"/>
                    <a:pt x="0" y="2658491"/>
                    <a:pt x="0" y="2560320"/>
                  </a:cubicBezTo>
                  <a:lnTo>
                    <a:pt x="0" y="177800"/>
                  </a:lnTo>
                  <a:cubicBezTo>
                    <a:pt x="0" y="79629"/>
                    <a:pt x="79629" y="0"/>
                    <a:pt x="177800" y="0"/>
                  </a:cubicBezTo>
                  <a:close/>
                </a:path>
              </a:pathLst>
            </a:custGeom>
            <a:solidFill>
              <a:srgbClr val="000000">
                <a:alpha val="0"/>
              </a:srgbClr>
            </a:solidFill>
            <a:ln w="28575" cap="sq">
              <a:solidFill>
                <a:srgbClr val="173A45"/>
              </a:solidFill>
              <a:prstDash val="solid"/>
              <a:miter/>
            </a:ln>
          </p:spPr>
        </p:sp>
      </p:grpSp>
      <p:grpSp>
        <p:nvGrpSpPr>
          <p:cNvPr name="Group 27" id="27"/>
          <p:cNvGrpSpPr/>
          <p:nvPr/>
        </p:nvGrpSpPr>
        <p:grpSpPr>
          <a:xfrm rot="0">
            <a:off x="8639175" y="4352925"/>
            <a:ext cx="1424940" cy="1600962"/>
            <a:chOff x="0" y="0"/>
            <a:chExt cx="1899920" cy="2134616"/>
          </a:xfrm>
        </p:grpSpPr>
        <p:sp>
          <p:nvSpPr>
            <p:cNvPr name="Freeform 28" id="28"/>
            <p:cNvSpPr/>
            <p:nvPr/>
          </p:nvSpPr>
          <p:spPr>
            <a:xfrm flipH="false" flipV="false" rot="0">
              <a:off x="0" y="0"/>
              <a:ext cx="1899920" cy="2134616"/>
            </a:xfrm>
            <a:custGeom>
              <a:avLst/>
              <a:gdLst/>
              <a:ahLst/>
              <a:cxnLst/>
              <a:rect r="r" b="b" t="t" l="l"/>
              <a:pathLst>
                <a:path h="2134616" w="1899920">
                  <a:moveTo>
                    <a:pt x="50800" y="0"/>
                  </a:moveTo>
                  <a:lnTo>
                    <a:pt x="1849120" y="0"/>
                  </a:lnTo>
                  <a:cubicBezTo>
                    <a:pt x="1877187" y="0"/>
                    <a:pt x="1899920" y="22733"/>
                    <a:pt x="1899920" y="50800"/>
                  </a:cubicBezTo>
                  <a:lnTo>
                    <a:pt x="1899920" y="2083816"/>
                  </a:lnTo>
                  <a:cubicBezTo>
                    <a:pt x="1899920" y="2111883"/>
                    <a:pt x="1877187" y="2134616"/>
                    <a:pt x="1849120" y="2134616"/>
                  </a:cubicBezTo>
                  <a:lnTo>
                    <a:pt x="50800" y="2134616"/>
                  </a:lnTo>
                  <a:cubicBezTo>
                    <a:pt x="22733" y="2134616"/>
                    <a:pt x="0" y="2111883"/>
                    <a:pt x="0" y="2083816"/>
                  </a:cubicBezTo>
                  <a:lnTo>
                    <a:pt x="0" y="50800"/>
                  </a:lnTo>
                  <a:cubicBezTo>
                    <a:pt x="0" y="22733"/>
                    <a:pt x="22733" y="0"/>
                    <a:pt x="50800" y="0"/>
                  </a:cubicBezTo>
                  <a:close/>
                </a:path>
              </a:pathLst>
            </a:custGeom>
            <a:solidFill>
              <a:srgbClr val="28766D"/>
            </a:solidFill>
          </p:spPr>
        </p:sp>
      </p:grpSp>
      <p:grpSp>
        <p:nvGrpSpPr>
          <p:cNvPr name="Group 29" id="29"/>
          <p:cNvGrpSpPr/>
          <p:nvPr/>
        </p:nvGrpSpPr>
        <p:grpSpPr>
          <a:xfrm rot="0">
            <a:off x="8488299" y="3859530"/>
            <a:ext cx="1726692" cy="234696"/>
            <a:chOff x="0" y="0"/>
            <a:chExt cx="2302256" cy="312928"/>
          </a:xfrm>
        </p:grpSpPr>
        <p:sp>
          <p:nvSpPr>
            <p:cNvPr name="Freeform 30" id="30"/>
            <p:cNvSpPr/>
            <p:nvPr/>
          </p:nvSpPr>
          <p:spPr>
            <a:xfrm flipH="false" flipV="false" rot="0">
              <a:off x="0" y="0"/>
              <a:ext cx="2302256" cy="312928"/>
            </a:xfrm>
            <a:custGeom>
              <a:avLst/>
              <a:gdLst/>
              <a:ahLst/>
              <a:cxnLst/>
              <a:rect r="r" b="b" t="t" l="l"/>
              <a:pathLst>
                <a:path h="312928" w="2302256">
                  <a:moveTo>
                    <a:pt x="63500" y="0"/>
                  </a:moveTo>
                  <a:lnTo>
                    <a:pt x="2238756" y="0"/>
                  </a:lnTo>
                  <a:cubicBezTo>
                    <a:pt x="2273808" y="0"/>
                    <a:pt x="2302256" y="28448"/>
                    <a:pt x="2302256" y="63500"/>
                  </a:cubicBezTo>
                  <a:lnTo>
                    <a:pt x="2302256" y="249428"/>
                  </a:lnTo>
                  <a:cubicBezTo>
                    <a:pt x="2302256" y="284480"/>
                    <a:pt x="2273808" y="312928"/>
                    <a:pt x="2238756" y="312928"/>
                  </a:cubicBezTo>
                  <a:lnTo>
                    <a:pt x="63500" y="312928"/>
                  </a:lnTo>
                  <a:cubicBezTo>
                    <a:pt x="28448" y="312928"/>
                    <a:pt x="0" y="284480"/>
                    <a:pt x="0" y="249428"/>
                  </a:cubicBezTo>
                  <a:lnTo>
                    <a:pt x="0" y="63500"/>
                  </a:lnTo>
                  <a:cubicBezTo>
                    <a:pt x="0" y="28448"/>
                    <a:pt x="28448" y="0"/>
                    <a:pt x="63500" y="0"/>
                  </a:cubicBezTo>
                  <a:close/>
                </a:path>
              </a:pathLst>
            </a:custGeom>
            <a:solidFill>
              <a:srgbClr val="173A45"/>
            </a:solidFill>
          </p:spPr>
        </p:sp>
      </p:grpSp>
      <p:sp>
        <p:nvSpPr>
          <p:cNvPr name="TextBox 31" id="31"/>
          <p:cNvSpPr txBox="true"/>
          <p:nvPr/>
        </p:nvSpPr>
        <p:spPr>
          <a:xfrm rot="0">
            <a:off x="8387715" y="6186392"/>
            <a:ext cx="1927860" cy="541020"/>
          </a:xfrm>
          <a:prstGeom prst="rect">
            <a:avLst/>
          </a:prstGeom>
        </p:spPr>
        <p:txBody>
          <a:bodyPr anchor="t" rtlCol="false" tIns="0" lIns="0" bIns="0" rIns="0">
            <a:spAutoFit/>
          </a:bodyPr>
          <a:lstStyle/>
          <a:p>
            <a:pPr algn="ctr">
              <a:lnSpc>
                <a:spcPts val="3979"/>
              </a:lnSpc>
            </a:pPr>
            <a:r>
              <a:rPr lang="en-US" b="true" sz="2970">
                <a:solidFill>
                  <a:srgbClr val="28766D"/>
                </a:solidFill>
                <a:latin typeface="Sarabun Bold"/>
                <a:ea typeface="Sarabun Bold"/>
                <a:cs typeface="Sarabun Bold"/>
                <a:sym typeface="Sarabun Bold"/>
              </a:rPr>
              <a:t>2.800</a:t>
            </a:r>
          </a:p>
        </p:txBody>
      </p:sp>
      <p:sp>
        <p:nvSpPr>
          <p:cNvPr name="TextBox 32" id="32"/>
          <p:cNvSpPr txBox="true"/>
          <p:nvPr/>
        </p:nvSpPr>
        <p:spPr>
          <a:xfrm rot="0">
            <a:off x="6124575" y="4471892"/>
            <a:ext cx="142494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grpSp>
        <p:nvGrpSpPr>
          <p:cNvPr name="Group 33" id="33"/>
          <p:cNvGrpSpPr/>
          <p:nvPr/>
        </p:nvGrpSpPr>
        <p:grpSpPr>
          <a:xfrm rot="0">
            <a:off x="5998845" y="5452110"/>
            <a:ext cx="2011680" cy="502920"/>
            <a:chOff x="0" y="0"/>
            <a:chExt cx="2682240" cy="670560"/>
          </a:xfrm>
        </p:grpSpPr>
        <p:sp>
          <p:nvSpPr>
            <p:cNvPr name="Freeform 34" id="34"/>
            <p:cNvSpPr/>
            <p:nvPr/>
          </p:nvSpPr>
          <p:spPr>
            <a:xfrm flipH="false" flipV="false" rot="0">
              <a:off x="0" y="0"/>
              <a:ext cx="2682240" cy="670560"/>
            </a:xfrm>
            <a:custGeom>
              <a:avLst/>
              <a:gdLst/>
              <a:ahLst/>
              <a:cxnLst/>
              <a:rect r="r" b="b" t="t" l="l"/>
              <a:pathLst>
                <a:path h="670560" w="2682240">
                  <a:moveTo>
                    <a:pt x="335280" y="0"/>
                  </a:moveTo>
                  <a:lnTo>
                    <a:pt x="2346960" y="0"/>
                  </a:lnTo>
                  <a:cubicBezTo>
                    <a:pt x="2532126" y="0"/>
                    <a:pt x="2682240" y="150114"/>
                    <a:pt x="2682240" y="335280"/>
                  </a:cubicBezTo>
                  <a:cubicBezTo>
                    <a:pt x="2682240" y="520446"/>
                    <a:pt x="2532126" y="670560"/>
                    <a:pt x="234696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35" id="35"/>
          <p:cNvSpPr txBox="true"/>
          <p:nvPr/>
        </p:nvSpPr>
        <p:spPr>
          <a:xfrm rot="0">
            <a:off x="6099429" y="5509260"/>
            <a:ext cx="181051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−0.200 kg</a:t>
            </a:r>
          </a:p>
        </p:txBody>
      </p:sp>
      <p:grpSp>
        <p:nvGrpSpPr>
          <p:cNvPr name="Group 36" id="36"/>
          <p:cNvGrpSpPr/>
          <p:nvPr/>
        </p:nvGrpSpPr>
        <p:grpSpPr>
          <a:xfrm rot="0">
            <a:off x="12075795" y="4069080"/>
            <a:ext cx="3604260" cy="2514600"/>
            <a:chOff x="0" y="0"/>
            <a:chExt cx="4805680" cy="3352800"/>
          </a:xfrm>
        </p:grpSpPr>
        <p:sp>
          <p:nvSpPr>
            <p:cNvPr name="Freeform 37" id="37"/>
            <p:cNvSpPr/>
            <p:nvPr/>
          </p:nvSpPr>
          <p:spPr>
            <a:xfrm flipH="false" flipV="false" rot="0">
              <a:off x="0" y="0"/>
              <a:ext cx="4805680" cy="3352800"/>
            </a:xfrm>
            <a:custGeom>
              <a:avLst/>
              <a:gdLst/>
              <a:ahLst/>
              <a:cxnLst/>
              <a:rect r="r" b="b" t="t" l="l"/>
              <a:pathLst>
                <a:path h="3352800" w="4805680">
                  <a:moveTo>
                    <a:pt x="203200" y="0"/>
                  </a:moveTo>
                  <a:lnTo>
                    <a:pt x="4602480" y="0"/>
                  </a:lnTo>
                  <a:cubicBezTo>
                    <a:pt x="4714748" y="0"/>
                    <a:pt x="4805680" y="90932"/>
                    <a:pt x="4805680" y="203200"/>
                  </a:cubicBezTo>
                  <a:lnTo>
                    <a:pt x="4805680" y="3149600"/>
                  </a:lnTo>
                  <a:cubicBezTo>
                    <a:pt x="4805680" y="3261868"/>
                    <a:pt x="4714748" y="3352800"/>
                    <a:pt x="4602480" y="3352800"/>
                  </a:cubicBezTo>
                  <a:lnTo>
                    <a:pt x="203200" y="3352800"/>
                  </a:lnTo>
                  <a:cubicBezTo>
                    <a:pt x="90932" y="3352800"/>
                    <a:pt x="0" y="3261868"/>
                    <a:pt x="0" y="3149600"/>
                  </a:cubicBezTo>
                  <a:lnTo>
                    <a:pt x="0" y="203200"/>
                  </a:lnTo>
                  <a:cubicBezTo>
                    <a:pt x="0" y="90932"/>
                    <a:pt x="90932" y="0"/>
                    <a:pt x="203200" y="0"/>
                  </a:cubicBezTo>
                  <a:close/>
                </a:path>
              </a:pathLst>
            </a:custGeom>
            <a:solidFill>
              <a:srgbClr val="F6DFD6"/>
            </a:solidFill>
          </p:spPr>
        </p:sp>
      </p:grpSp>
      <p:sp>
        <p:nvSpPr>
          <p:cNvPr name="TextBox 38" id="38"/>
          <p:cNvSpPr txBox="true"/>
          <p:nvPr/>
        </p:nvSpPr>
        <p:spPr>
          <a:xfrm rot="0">
            <a:off x="12620625" y="4360545"/>
            <a:ext cx="2514600" cy="1208913"/>
          </a:xfrm>
          <a:prstGeom prst="rect">
            <a:avLst/>
          </a:prstGeom>
        </p:spPr>
        <p:txBody>
          <a:bodyPr anchor="t" rtlCol="false" tIns="0" lIns="0" bIns="0" rIns="0">
            <a:spAutoFit/>
          </a:bodyPr>
          <a:lstStyle/>
          <a:p>
            <a:pPr algn="ctr">
              <a:lnSpc>
                <a:spcPts val="8844"/>
              </a:lnSpc>
            </a:pPr>
            <a:r>
              <a:rPr lang="en-US" b="true" sz="6600">
                <a:solidFill>
                  <a:srgbClr val="B94B42"/>
                </a:solidFill>
                <a:latin typeface="Sarabun Bold"/>
                <a:ea typeface="Sarabun Bold"/>
                <a:cs typeface="Sarabun Bold"/>
                <a:sym typeface="Sarabun Bold"/>
              </a:rPr>
              <a:t>409</a:t>
            </a:r>
          </a:p>
        </p:txBody>
      </p:sp>
      <p:sp>
        <p:nvSpPr>
          <p:cNvPr name="TextBox 39" id="39"/>
          <p:cNvSpPr txBox="true"/>
          <p:nvPr/>
        </p:nvSpPr>
        <p:spPr>
          <a:xfrm rot="0">
            <a:off x="11991975" y="5874639"/>
            <a:ext cx="3771900" cy="465582"/>
          </a:xfrm>
          <a:prstGeom prst="rect">
            <a:avLst/>
          </a:prstGeom>
        </p:spPr>
        <p:txBody>
          <a:bodyPr anchor="t" rtlCol="false" tIns="0" lIns="0" bIns="0" rIns="0">
            <a:spAutoFit/>
          </a:bodyPr>
          <a:lstStyle/>
          <a:p>
            <a:pPr algn="ctr">
              <a:lnSpc>
                <a:spcPts val="3360"/>
              </a:lnSpc>
            </a:pPr>
            <a:r>
              <a:rPr lang="en-US" sz="2508">
                <a:solidFill>
                  <a:srgbClr val="B94B42"/>
                </a:solidFill>
                <a:latin typeface="Sarabun"/>
                <a:ea typeface="Sarabun"/>
                <a:cs typeface="Sarabun"/>
                <a:sym typeface="Sarabun"/>
              </a:rPr>
              <a:t>ไม่พอ → คงเดิม</a:t>
            </a:r>
          </a:p>
        </p:txBody>
      </p:sp>
      <p:sp>
        <p:nvSpPr>
          <p:cNvPr name="TextBox 40" id="40"/>
          <p:cNvSpPr txBox="true"/>
          <p:nvPr/>
        </p:nvSpPr>
        <p:spPr>
          <a:xfrm rot="0">
            <a:off x="2017395" y="8103679"/>
            <a:ext cx="14249400" cy="313563"/>
          </a:xfrm>
          <a:prstGeom prst="rect">
            <a:avLst/>
          </a:prstGeom>
        </p:spPr>
        <p:txBody>
          <a:bodyPr anchor="t" rtlCol="false" tIns="0" lIns="0" bIns="0" rIns="0">
            <a:spAutoFit/>
          </a:bodyPr>
          <a:lstStyle/>
          <a:p>
            <a:pPr algn="l">
              <a:lnSpc>
                <a:spcPts val="2211"/>
              </a:lnSpc>
            </a:pPr>
            <a:r>
              <a:rPr lang="en-US" sz="1650">
                <a:solidFill>
                  <a:srgbClr val="647477"/>
                </a:solidFill>
                <a:latin typeface="Sarabun"/>
                <a:ea typeface="Sarabun"/>
                <a:cs typeface="Sarabun"/>
                <a:sym typeface="Sarabun"/>
              </a:rPr>
              <a:t>UAT af2b45b · สูตร 0.100 × 2 · duplicate ไม่เพิ่ม CONSUMPTION</a:t>
            </a:r>
          </a:p>
        </p:txBody>
      </p:sp>
      <p:sp>
        <p:nvSpPr>
          <p:cNvPr name="TextBox 41" id="41"/>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ระบบหักวัตถุดิบตามสูตรเมื่อเปลี่ยนเป็น PREPARING ถ้าสต๊อกไม่พอ จะปฏิเสธทั้งคำขอและคงยอดเดิม</a:t>
            </a:r>
          </a:p>
        </p:txBody>
      </p:sp>
      <p:sp>
        <p:nvSpPr>
          <p:cNvPr name="TextBox 42" id="42"/>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sarun_673380515-1_02</a:t>
            </a:r>
          </a:p>
        </p:txBody>
      </p:sp>
      <p:sp>
        <p:nvSpPr>
          <p:cNvPr name="TextBox 43" id="43"/>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45 วินาที · 6/10</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Strategy แยกราคาและส่วนลด</a:t>
            </a:r>
          </a:p>
        </p:txBody>
      </p:sp>
      <p:grpSp>
        <p:nvGrpSpPr>
          <p:cNvPr name="Group 5" id="5"/>
          <p:cNvGrpSpPr/>
          <p:nvPr/>
        </p:nvGrpSpPr>
        <p:grpSpPr>
          <a:xfrm rot="0">
            <a:off x="2436495" y="2518410"/>
            <a:ext cx="5196840" cy="1089660"/>
            <a:chOff x="0" y="0"/>
            <a:chExt cx="6929120" cy="1452880"/>
          </a:xfrm>
        </p:grpSpPr>
        <p:sp>
          <p:nvSpPr>
            <p:cNvPr name="Freeform 6" id="6"/>
            <p:cNvSpPr/>
            <p:nvPr/>
          </p:nvSpPr>
          <p:spPr>
            <a:xfrm flipH="false" flipV="false" rot="0">
              <a:off x="0" y="0"/>
              <a:ext cx="6929120" cy="1452880"/>
            </a:xfrm>
            <a:custGeom>
              <a:avLst/>
              <a:gdLst/>
              <a:ahLst/>
              <a:cxnLst/>
              <a:rect r="r" b="b" t="t" l="l"/>
              <a:pathLst>
                <a:path h="1452880" w="6929120">
                  <a:moveTo>
                    <a:pt x="228600" y="0"/>
                  </a:moveTo>
                  <a:lnTo>
                    <a:pt x="6700520" y="0"/>
                  </a:lnTo>
                  <a:cubicBezTo>
                    <a:pt x="6826758" y="0"/>
                    <a:pt x="6929120" y="102362"/>
                    <a:pt x="6929120" y="228600"/>
                  </a:cubicBezTo>
                  <a:lnTo>
                    <a:pt x="6929120" y="1224280"/>
                  </a:lnTo>
                  <a:cubicBezTo>
                    <a:pt x="6929120" y="1350518"/>
                    <a:pt x="6826758" y="1452880"/>
                    <a:pt x="6700520" y="1452880"/>
                  </a:cubicBezTo>
                  <a:lnTo>
                    <a:pt x="228600" y="1452880"/>
                  </a:lnTo>
                  <a:cubicBezTo>
                    <a:pt x="102362" y="1452880"/>
                    <a:pt x="0" y="1350518"/>
                    <a:pt x="0" y="1224280"/>
                  </a:cubicBezTo>
                  <a:lnTo>
                    <a:pt x="0" y="228600"/>
                  </a:lnTo>
                  <a:cubicBezTo>
                    <a:pt x="0" y="102362"/>
                    <a:pt x="102362" y="0"/>
                    <a:pt x="228600" y="0"/>
                  </a:cubicBezTo>
                  <a:close/>
                </a:path>
              </a:pathLst>
            </a:custGeom>
            <a:solidFill>
              <a:srgbClr val="F1E3CB"/>
            </a:solidFill>
          </p:spPr>
        </p:sp>
      </p:grpSp>
      <p:sp>
        <p:nvSpPr>
          <p:cNvPr name="TextBox 7" id="7"/>
          <p:cNvSpPr txBox="true"/>
          <p:nvPr/>
        </p:nvSpPr>
        <p:spPr>
          <a:xfrm rot="0">
            <a:off x="2587371" y="2833402"/>
            <a:ext cx="489508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BillCalculationStrategy</a:t>
            </a:r>
          </a:p>
        </p:txBody>
      </p:sp>
      <p:grpSp>
        <p:nvGrpSpPr>
          <p:cNvPr name="Group 8" id="8"/>
          <p:cNvGrpSpPr/>
          <p:nvPr/>
        </p:nvGrpSpPr>
        <p:grpSpPr>
          <a:xfrm rot="0">
            <a:off x="10567035" y="2518410"/>
            <a:ext cx="5196840" cy="1089660"/>
            <a:chOff x="0" y="0"/>
            <a:chExt cx="6929120" cy="1452880"/>
          </a:xfrm>
        </p:grpSpPr>
        <p:sp>
          <p:nvSpPr>
            <p:cNvPr name="Freeform 9" id="9"/>
            <p:cNvSpPr/>
            <p:nvPr/>
          </p:nvSpPr>
          <p:spPr>
            <a:xfrm flipH="false" flipV="false" rot="0">
              <a:off x="0" y="0"/>
              <a:ext cx="6929120" cy="1452880"/>
            </a:xfrm>
            <a:custGeom>
              <a:avLst/>
              <a:gdLst/>
              <a:ahLst/>
              <a:cxnLst/>
              <a:rect r="r" b="b" t="t" l="l"/>
              <a:pathLst>
                <a:path h="1452880" w="6929120">
                  <a:moveTo>
                    <a:pt x="228600" y="0"/>
                  </a:moveTo>
                  <a:lnTo>
                    <a:pt x="6700520" y="0"/>
                  </a:lnTo>
                  <a:cubicBezTo>
                    <a:pt x="6826758" y="0"/>
                    <a:pt x="6929120" y="102362"/>
                    <a:pt x="6929120" y="228600"/>
                  </a:cubicBezTo>
                  <a:lnTo>
                    <a:pt x="6929120" y="1224280"/>
                  </a:lnTo>
                  <a:cubicBezTo>
                    <a:pt x="6929120" y="1350518"/>
                    <a:pt x="6826758" y="1452880"/>
                    <a:pt x="6700520" y="1452880"/>
                  </a:cubicBezTo>
                  <a:lnTo>
                    <a:pt x="228600" y="1452880"/>
                  </a:lnTo>
                  <a:cubicBezTo>
                    <a:pt x="102362" y="1452880"/>
                    <a:pt x="0" y="1350518"/>
                    <a:pt x="0" y="1224280"/>
                  </a:cubicBezTo>
                  <a:lnTo>
                    <a:pt x="0" y="228600"/>
                  </a:lnTo>
                  <a:cubicBezTo>
                    <a:pt x="0" y="102362"/>
                    <a:pt x="102362" y="0"/>
                    <a:pt x="228600" y="0"/>
                  </a:cubicBezTo>
                  <a:close/>
                </a:path>
              </a:pathLst>
            </a:custGeom>
            <a:solidFill>
              <a:srgbClr val="F1E3CB"/>
            </a:solidFill>
          </p:spPr>
        </p:sp>
      </p:grpSp>
      <p:sp>
        <p:nvSpPr>
          <p:cNvPr name="TextBox 10" id="10"/>
          <p:cNvSpPr txBox="true"/>
          <p:nvPr/>
        </p:nvSpPr>
        <p:spPr>
          <a:xfrm rot="0">
            <a:off x="10717911" y="2833402"/>
            <a:ext cx="489508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DiscountCalculationStrategy</a:t>
            </a:r>
          </a:p>
        </p:txBody>
      </p:sp>
      <p:sp>
        <p:nvSpPr>
          <p:cNvPr name="TextBox 11" id="11"/>
          <p:cNvSpPr txBox="true"/>
          <p:nvPr/>
        </p:nvSpPr>
        <p:spPr>
          <a:xfrm rot="0">
            <a:off x="2436495" y="3987451"/>
            <a:ext cx="5196840" cy="557784"/>
          </a:xfrm>
          <a:prstGeom prst="rect">
            <a:avLst/>
          </a:prstGeom>
        </p:spPr>
        <p:txBody>
          <a:bodyPr anchor="t" rtlCol="false" tIns="0" lIns="0" bIns="0" rIns="0">
            <a:spAutoFit/>
          </a:bodyPr>
          <a:lstStyle/>
          <a:p>
            <a:pPr algn="ctr">
              <a:lnSpc>
                <a:spcPts val="4068"/>
              </a:lnSpc>
            </a:pPr>
            <a:r>
              <a:rPr lang="en-US" sz="3036">
                <a:solidFill>
                  <a:srgbClr val="647477"/>
                </a:solidFill>
                <a:latin typeface="Sarabun"/>
                <a:ea typeface="Sarabun"/>
                <a:cs typeface="Sarabun"/>
                <a:sym typeface="Sarabun"/>
              </a:rPr>
              <a:t>ราคา</a:t>
            </a:r>
          </a:p>
        </p:txBody>
      </p:sp>
      <p:sp>
        <p:nvSpPr>
          <p:cNvPr name="TextBox 12" id="12"/>
          <p:cNvSpPr txBox="true"/>
          <p:nvPr/>
        </p:nvSpPr>
        <p:spPr>
          <a:xfrm rot="0">
            <a:off x="10567035" y="3987451"/>
            <a:ext cx="5196840" cy="557784"/>
          </a:xfrm>
          <a:prstGeom prst="rect">
            <a:avLst/>
          </a:prstGeom>
        </p:spPr>
        <p:txBody>
          <a:bodyPr anchor="t" rtlCol="false" tIns="0" lIns="0" bIns="0" rIns="0">
            <a:spAutoFit/>
          </a:bodyPr>
          <a:lstStyle/>
          <a:p>
            <a:pPr algn="ctr">
              <a:lnSpc>
                <a:spcPts val="4068"/>
              </a:lnSpc>
            </a:pPr>
            <a:r>
              <a:rPr lang="en-US" sz="3036">
                <a:solidFill>
                  <a:srgbClr val="647477"/>
                </a:solidFill>
                <a:latin typeface="Sarabun"/>
                <a:ea typeface="Sarabun"/>
                <a:cs typeface="Sarabun"/>
                <a:sym typeface="Sarabun"/>
              </a:rPr>
              <a:t>ส่วนลด</a:t>
            </a:r>
          </a:p>
        </p:txBody>
      </p:sp>
      <p:sp>
        <p:nvSpPr>
          <p:cNvPr name="TextBox 13" id="13"/>
          <p:cNvSpPr txBox="true"/>
          <p:nvPr/>
        </p:nvSpPr>
        <p:spPr>
          <a:xfrm rot="0">
            <a:off x="8303895" y="2627852"/>
            <a:ext cx="142494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AutoShape 14" id="14"/>
          <p:cNvSpPr/>
          <p:nvPr/>
        </p:nvSpPr>
        <p:spPr>
          <a:xfrm rot="0">
            <a:off x="2436495" y="5158740"/>
            <a:ext cx="13327380" cy="33528"/>
          </a:xfrm>
          <a:prstGeom prst="rect">
            <a:avLst/>
          </a:prstGeom>
          <a:solidFill>
            <a:srgbClr val="173A45"/>
          </a:solidFill>
        </p:spPr>
      </p:sp>
      <p:sp>
        <p:nvSpPr>
          <p:cNvPr name="TextBox 15" id="15"/>
          <p:cNvSpPr txBox="true"/>
          <p:nvPr/>
        </p:nvSpPr>
        <p:spPr>
          <a:xfrm rot="0">
            <a:off x="8429625" y="5184362"/>
            <a:ext cx="1341120" cy="778002"/>
          </a:xfrm>
          <a:prstGeom prst="rect">
            <a:avLst/>
          </a:prstGeom>
        </p:spPr>
        <p:txBody>
          <a:bodyPr anchor="t" rtlCol="false" tIns="0" lIns="0" bIns="0" rIns="0">
            <a:spAutoFit/>
          </a:bodyPr>
          <a:lstStyle/>
          <a:p>
            <a:pPr algn="ctr">
              <a:lnSpc>
                <a:spcPts val="5660"/>
              </a:lnSpc>
            </a:pPr>
            <a:r>
              <a:rPr lang="en-US" sz="4224">
                <a:solidFill>
                  <a:srgbClr val="28766D"/>
                </a:solidFill>
                <a:latin typeface="Sarabun"/>
                <a:ea typeface="Sarabun"/>
                <a:cs typeface="Sarabun"/>
                <a:sym typeface="Sarabun"/>
              </a:rPr>
              <a:t>↓</a:t>
            </a:r>
          </a:p>
        </p:txBody>
      </p:sp>
      <p:grpSp>
        <p:nvGrpSpPr>
          <p:cNvPr name="Group 16" id="16"/>
          <p:cNvGrpSpPr/>
          <p:nvPr/>
        </p:nvGrpSpPr>
        <p:grpSpPr>
          <a:xfrm rot="0">
            <a:off x="8303895" y="5996940"/>
            <a:ext cx="1005840" cy="1332738"/>
            <a:chOff x="0" y="0"/>
            <a:chExt cx="1341120" cy="1776984"/>
          </a:xfrm>
        </p:grpSpPr>
        <p:sp>
          <p:nvSpPr>
            <p:cNvPr name="Freeform 17" id="17"/>
            <p:cNvSpPr/>
            <p:nvPr/>
          </p:nvSpPr>
          <p:spPr>
            <a:xfrm flipH="false" flipV="false" rot="0">
              <a:off x="0" y="0"/>
              <a:ext cx="1341120" cy="1776984"/>
            </a:xfrm>
            <a:custGeom>
              <a:avLst/>
              <a:gdLst/>
              <a:ahLst/>
              <a:cxnLst/>
              <a:rect r="r" b="b" t="t" l="l"/>
              <a:pathLst>
                <a:path h="1776984" w="1341120">
                  <a:moveTo>
                    <a:pt x="30480" y="0"/>
                  </a:moveTo>
                  <a:lnTo>
                    <a:pt x="1310640" y="0"/>
                  </a:lnTo>
                  <a:cubicBezTo>
                    <a:pt x="1327531" y="0"/>
                    <a:pt x="1341120" y="13589"/>
                    <a:pt x="1341120" y="30480"/>
                  </a:cubicBezTo>
                  <a:lnTo>
                    <a:pt x="1341120" y="1746504"/>
                  </a:lnTo>
                  <a:cubicBezTo>
                    <a:pt x="1341120" y="1763395"/>
                    <a:pt x="1327531" y="1776984"/>
                    <a:pt x="1310640" y="1776984"/>
                  </a:cubicBezTo>
                  <a:lnTo>
                    <a:pt x="30480" y="1776984"/>
                  </a:lnTo>
                  <a:cubicBezTo>
                    <a:pt x="13589" y="1776984"/>
                    <a:pt x="0" y="1763395"/>
                    <a:pt x="0" y="1746504"/>
                  </a:cubicBezTo>
                  <a:lnTo>
                    <a:pt x="0" y="30480"/>
                  </a:lnTo>
                  <a:cubicBezTo>
                    <a:pt x="0" y="13589"/>
                    <a:pt x="13589" y="0"/>
                    <a:pt x="30480" y="0"/>
                  </a:cubicBezTo>
                  <a:close/>
                </a:path>
              </a:pathLst>
            </a:custGeom>
            <a:solidFill>
              <a:srgbClr val="FFFFFF"/>
            </a:solidFill>
          </p:spPr>
        </p:sp>
        <p:sp>
          <p:nvSpPr>
            <p:cNvPr name="Freeform 18" id="18"/>
            <p:cNvSpPr/>
            <p:nvPr/>
          </p:nvSpPr>
          <p:spPr>
            <a:xfrm flipH="false" flipV="false" rot="0">
              <a:off x="0" y="0"/>
              <a:ext cx="1341120" cy="1776984"/>
            </a:xfrm>
            <a:custGeom>
              <a:avLst/>
              <a:gdLst/>
              <a:ahLst/>
              <a:cxnLst/>
              <a:rect r="r" b="b" t="t" l="l"/>
              <a:pathLst>
                <a:path h="1776984" w="1341120">
                  <a:moveTo>
                    <a:pt x="30480" y="0"/>
                  </a:moveTo>
                  <a:lnTo>
                    <a:pt x="1310640" y="0"/>
                  </a:lnTo>
                  <a:cubicBezTo>
                    <a:pt x="1327531" y="0"/>
                    <a:pt x="1341120" y="13589"/>
                    <a:pt x="1341120" y="30480"/>
                  </a:cubicBezTo>
                  <a:lnTo>
                    <a:pt x="1341120" y="1746504"/>
                  </a:lnTo>
                  <a:cubicBezTo>
                    <a:pt x="1341120" y="1763395"/>
                    <a:pt x="1327531" y="1776984"/>
                    <a:pt x="1310640" y="1776984"/>
                  </a:cubicBezTo>
                  <a:lnTo>
                    <a:pt x="30480" y="1776984"/>
                  </a:lnTo>
                  <a:cubicBezTo>
                    <a:pt x="13589" y="1776984"/>
                    <a:pt x="0" y="1763395"/>
                    <a:pt x="0" y="1746504"/>
                  </a:cubicBezTo>
                  <a:lnTo>
                    <a:pt x="0" y="30480"/>
                  </a:lnTo>
                  <a:cubicBezTo>
                    <a:pt x="0" y="13589"/>
                    <a:pt x="13589" y="0"/>
                    <a:pt x="30480" y="0"/>
                  </a:cubicBezTo>
                  <a:close/>
                </a:path>
              </a:pathLst>
            </a:custGeom>
            <a:solidFill>
              <a:srgbClr val="000000">
                <a:alpha val="0"/>
              </a:srgbClr>
            </a:solidFill>
            <a:ln w="28575" cap="sq">
              <a:solidFill>
                <a:srgbClr val="173A45"/>
              </a:solidFill>
              <a:prstDash val="solid"/>
              <a:miter/>
            </a:ln>
          </p:spPr>
        </p:sp>
      </p:grpSp>
      <p:sp>
        <p:nvSpPr>
          <p:cNvPr name="TextBox 19" id="19"/>
          <p:cNvSpPr txBox="true"/>
          <p:nvPr/>
        </p:nvSpPr>
        <p:spPr>
          <a:xfrm rot="0">
            <a:off x="8555355" y="6010846"/>
            <a:ext cx="502920" cy="584073"/>
          </a:xfrm>
          <a:prstGeom prst="rect">
            <a:avLst/>
          </a:prstGeom>
        </p:spPr>
        <p:txBody>
          <a:bodyPr anchor="t" rtlCol="false" tIns="0" lIns="0" bIns="0" rIns="0">
            <a:spAutoFit/>
          </a:bodyPr>
          <a:lstStyle/>
          <a:p>
            <a:pPr algn="ctr">
              <a:lnSpc>
                <a:spcPts val="4245"/>
              </a:lnSpc>
            </a:pPr>
            <a:r>
              <a:rPr lang="en-US" b="true" sz="3168">
                <a:solidFill>
                  <a:srgbClr val="AC4D31"/>
                </a:solidFill>
                <a:latin typeface="Sarabun Semi-Bold"/>
                <a:ea typeface="Sarabun Semi-Bold"/>
                <a:cs typeface="Sarabun Semi-Bold"/>
                <a:sym typeface="Sarabun Semi-Bold"/>
              </a:rPr>
              <a:t>฿</a:t>
            </a:r>
          </a:p>
        </p:txBody>
      </p:sp>
      <p:sp>
        <p:nvSpPr>
          <p:cNvPr name="AutoShape 20" id="20"/>
          <p:cNvSpPr/>
          <p:nvPr/>
        </p:nvSpPr>
        <p:spPr>
          <a:xfrm rot="0">
            <a:off x="8454771" y="6675882"/>
            <a:ext cx="704088" cy="33528"/>
          </a:xfrm>
          <a:prstGeom prst="rect">
            <a:avLst/>
          </a:prstGeom>
          <a:solidFill>
            <a:srgbClr val="173A45"/>
          </a:solidFill>
        </p:spPr>
      </p:sp>
      <p:sp>
        <p:nvSpPr>
          <p:cNvPr name="AutoShape 21" id="21"/>
          <p:cNvSpPr/>
          <p:nvPr/>
        </p:nvSpPr>
        <p:spPr>
          <a:xfrm rot="0">
            <a:off x="8454771" y="6851904"/>
            <a:ext cx="704088" cy="33528"/>
          </a:xfrm>
          <a:prstGeom prst="rect">
            <a:avLst/>
          </a:prstGeom>
          <a:solidFill>
            <a:srgbClr val="173A45"/>
          </a:solidFill>
        </p:spPr>
      </p:sp>
      <p:sp>
        <p:nvSpPr>
          <p:cNvPr name="AutoShape 22" id="22"/>
          <p:cNvSpPr/>
          <p:nvPr/>
        </p:nvSpPr>
        <p:spPr>
          <a:xfrm rot="0">
            <a:off x="8454771" y="7027926"/>
            <a:ext cx="477774" cy="33528"/>
          </a:xfrm>
          <a:prstGeom prst="rect">
            <a:avLst/>
          </a:prstGeom>
          <a:solidFill>
            <a:srgbClr val="173A45"/>
          </a:solidFill>
        </p:spPr>
      </p:sp>
      <p:grpSp>
        <p:nvGrpSpPr>
          <p:cNvPr name="Group 23" id="23"/>
          <p:cNvGrpSpPr/>
          <p:nvPr/>
        </p:nvGrpSpPr>
        <p:grpSpPr>
          <a:xfrm rot="0">
            <a:off x="4615815" y="6625590"/>
            <a:ext cx="2598420" cy="502920"/>
            <a:chOff x="0" y="0"/>
            <a:chExt cx="3464560" cy="670560"/>
          </a:xfrm>
        </p:grpSpPr>
        <p:sp>
          <p:nvSpPr>
            <p:cNvPr name="Freeform 24" id="24"/>
            <p:cNvSpPr/>
            <p:nvPr/>
          </p:nvSpPr>
          <p:spPr>
            <a:xfrm flipH="false" flipV="false" rot="0">
              <a:off x="0" y="0"/>
              <a:ext cx="3464560" cy="670560"/>
            </a:xfrm>
            <a:custGeom>
              <a:avLst/>
              <a:gdLst/>
              <a:ahLst/>
              <a:cxnLst/>
              <a:rect r="r" b="b" t="t" l="l"/>
              <a:pathLst>
                <a:path h="670560" w="3464560">
                  <a:moveTo>
                    <a:pt x="335280" y="0"/>
                  </a:moveTo>
                  <a:lnTo>
                    <a:pt x="3129280" y="0"/>
                  </a:lnTo>
                  <a:cubicBezTo>
                    <a:pt x="3314446" y="0"/>
                    <a:pt x="3464560" y="150114"/>
                    <a:pt x="3464560" y="335280"/>
                  </a:cubicBezTo>
                  <a:cubicBezTo>
                    <a:pt x="3464560" y="520446"/>
                    <a:pt x="3314446" y="670560"/>
                    <a:pt x="312928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25" id="25"/>
          <p:cNvSpPr txBox="true"/>
          <p:nvPr/>
        </p:nvSpPr>
        <p:spPr>
          <a:xfrm rot="0">
            <a:off x="4716399" y="6682740"/>
            <a:ext cx="239725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BigDecimal</a:t>
            </a:r>
          </a:p>
        </p:txBody>
      </p:sp>
      <p:grpSp>
        <p:nvGrpSpPr>
          <p:cNvPr name="Group 26" id="26"/>
          <p:cNvGrpSpPr/>
          <p:nvPr/>
        </p:nvGrpSpPr>
        <p:grpSpPr>
          <a:xfrm rot="0">
            <a:off x="11153775" y="6625590"/>
            <a:ext cx="2598420" cy="502920"/>
            <a:chOff x="0" y="0"/>
            <a:chExt cx="3464560" cy="670560"/>
          </a:xfrm>
        </p:grpSpPr>
        <p:sp>
          <p:nvSpPr>
            <p:cNvPr name="Freeform 27" id="27"/>
            <p:cNvSpPr/>
            <p:nvPr/>
          </p:nvSpPr>
          <p:spPr>
            <a:xfrm flipH="false" flipV="false" rot="0">
              <a:off x="0" y="0"/>
              <a:ext cx="3464560" cy="670560"/>
            </a:xfrm>
            <a:custGeom>
              <a:avLst/>
              <a:gdLst/>
              <a:ahLst/>
              <a:cxnLst/>
              <a:rect r="r" b="b" t="t" l="l"/>
              <a:pathLst>
                <a:path h="670560" w="3464560">
                  <a:moveTo>
                    <a:pt x="335280" y="0"/>
                  </a:moveTo>
                  <a:lnTo>
                    <a:pt x="3129280" y="0"/>
                  </a:lnTo>
                  <a:cubicBezTo>
                    <a:pt x="3314446" y="0"/>
                    <a:pt x="3464560" y="150114"/>
                    <a:pt x="3464560" y="335280"/>
                  </a:cubicBezTo>
                  <a:cubicBezTo>
                    <a:pt x="3464560" y="520446"/>
                    <a:pt x="3314446" y="670560"/>
                    <a:pt x="312928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28" id="28"/>
          <p:cNvSpPr txBox="true"/>
          <p:nvPr/>
        </p:nvSpPr>
        <p:spPr>
          <a:xfrm rot="0">
            <a:off x="11254359" y="6682740"/>
            <a:ext cx="239725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HALF_UP · 2</a:t>
            </a:r>
          </a:p>
        </p:txBody>
      </p:sp>
      <p:sp>
        <p:nvSpPr>
          <p:cNvPr name="TextBox 29" id="29"/>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BillingEngine เรียกการคิดราคาและส่วนลดผ่าน Interface จึงเปลี่ยนวิธีคำนวณได้ โดยยังตรวจสัญญาและปัดเศษที่ส่วนกลาง</a:t>
            </a:r>
          </a:p>
        </p:txBody>
      </p:sp>
      <p:sp>
        <p:nvSpPr>
          <p:cNvPr name="TextBox 30" id="30"/>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teeramet_673380273-9_02</a:t>
            </a:r>
          </a:p>
        </p:txBody>
      </p:sp>
      <p:sp>
        <p:nvSpPr>
          <p:cNvPr name="TextBox 31" id="31"/>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45 วินาที · 7/10</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เอกสาร API ตรงกับผลจริง</a:t>
            </a:r>
          </a:p>
        </p:txBody>
      </p:sp>
      <p:grpSp>
        <p:nvGrpSpPr>
          <p:cNvPr name="Group 5" id="5"/>
          <p:cNvGrpSpPr/>
          <p:nvPr/>
        </p:nvGrpSpPr>
        <p:grpSpPr>
          <a:xfrm rot="0">
            <a:off x="2476310" y="3229832"/>
            <a:ext cx="1072896" cy="1793748"/>
            <a:chOff x="0" y="0"/>
            <a:chExt cx="1430528" cy="2391664"/>
          </a:xfrm>
        </p:grpSpPr>
        <p:sp>
          <p:nvSpPr>
            <p:cNvPr name="Freeform 6" id="6"/>
            <p:cNvSpPr/>
            <p:nvPr/>
          </p:nvSpPr>
          <p:spPr>
            <a:xfrm flipH="false" flipV="false" rot="0">
              <a:off x="0" y="0"/>
              <a:ext cx="1430528" cy="2391664"/>
            </a:xfrm>
            <a:custGeom>
              <a:avLst/>
              <a:gdLst/>
              <a:ahLst/>
              <a:cxnLst/>
              <a:rect r="r" b="b" t="t" l="l"/>
              <a:pathLst>
                <a:path h="2391664" w="1430528">
                  <a:moveTo>
                    <a:pt x="228600" y="0"/>
                  </a:moveTo>
                  <a:lnTo>
                    <a:pt x="1201928" y="0"/>
                  </a:lnTo>
                  <a:cubicBezTo>
                    <a:pt x="1328166" y="0"/>
                    <a:pt x="1430528" y="102362"/>
                    <a:pt x="1430528" y="228600"/>
                  </a:cubicBezTo>
                  <a:lnTo>
                    <a:pt x="1430528" y="2163064"/>
                  </a:lnTo>
                  <a:cubicBezTo>
                    <a:pt x="1430528" y="2289302"/>
                    <a:pt x="1328166" y="2391664"/>
                    <a:pt x="1201928" y="2391664"/>
                  </a:cubicBezTo>
                  <a:lnTo>
                    <a:pt x="228600" y="2391664"/>
                  </a:lnTo>
                  <a:cubicBezTo>
                    <a:pt x="102362" y="2391664"/>
                    <a:pt x="0" y="2289302"/>
                    <a:pt x="0" y="2163064"/>
                  </a:cubicBezTo>
                  <a:lnTo>
                    <a:pt x="0" y="228600"/>
                  </a:lnTo>
                  <a:cubicBezTo>
                    <a:pt x="0" y="102362"/>
                    <a:pt x="102362" y="0"/>
                    <a:pt x="228600" y="0"/>
                  </a:cubicBezTo>
                  <a:close/>
                </a:path>
              </a:pathLst>
            </a:custGeom>
            <a:solidFill>
              <a:srgbClr val="173A45"/>
            </a:solidFill>
          </p:spPr>
        </p:sp>
      </p:grpSp>
      <p:grpSp>
        <p:nvGrpSpPr>
          <p:cNvPr name="Group 7" id="7"/>
          <p:cNvGrpSpPr/>
          <p:nvPr/>
        </p:nvGrpSpPr>
        <p:grpSpPr>
          <a:xfrm rot="0">
            <a:off x="2560129" y="3385947"/>
            <a:ext cx="905256" cy="1450086"/>
            <a:chOff x="0" y="0"/>
            <a:chExt cx="1207008" cy="1933448"/>
          </a:xfrm>
        </p:grpSpPr>
        <p:sp>
          <p:nvSpPr>
            <p:cNvPr name="Freeform 8" id="8"/>
            <p:cNvSpPr/>
            <p:nvPr/>
          </p:nvSpPr>
          <p:spPr>
            <a:xfrm flipH="false" flipV="false" rot="0">
              <a:off x="0" y="0"/>
              <a:ext cx="1207008" cy="1933448"/>
            </a:xfrm>
            <a:custGeom>
              <a:avLst/>
              <a:gdLst/>
              <a:ahLst/>
              <a:cxnLst/>
              <a:rect r="r" b="b" t="t" l="l"/>
              <a:pathLst>
                <a:path h="1933448" w="1207008">
                  <a:moveTo>
                    <a:pt x="76200" y="0"/>
                  </a:moveTo>
                  <a:lnTo>
                    <a:pt x="1130808" y="0"/>
                  </a:lnTo>
                  <a:cubicBezTo>
                    <a:pt x="1172845" y="0"/>
                    <a:pt x="1207008" y="34163"/>
                    <a:pt x="1207008" y="76200"/>
                  </a:cubicBezTo>
                  <a:lnTo>
                    <a:pt x="1207008" y="1857248"/>
                  </a:lnTo>
                  <a:cubicBezTo>
                    <a:pt x="1207008" y="1899285"/>
                    <a:pt x="1172845" y="1933448"/>
                    <a:pt x="1130808" y="1933448"/>
                  </a:cubicBezTo>
                  <a:lnTo>
                    <a:pt x="76200" y="1933448"/>
                  </a:lnTo>
                  <a:cubicBezTo>
                    <a:pt x="34163" y="1933448"/>
                    <a:pt x="0" y="1899285"/>
                    <a:pt x="0" y="1857248"/>
                  </a:cubicBezTo>
                  <a:lnTo>
                    <a:pt x="0" y="76200"/>
                  </a:lnTo>
                  <a:cubicBezTo>
                    <a:pt x="0" y="34163"/>
                    <a:pt x="34163" y="0"/>
                    <a:pt x="76200" y="0"/>
                  </a:cubicBezTo>
                  <a:close/>
                </a:path>
              </a:pathLst>
            </a:custGeom>
            <a:solidFill>
              <a:srgbClr val="FFFFFF"/>
            </a:solidFill>
          </p:spPr>
        </p:sp>
      </p:grpSp>
      <p:grpSp>
        <p:nvGrpSpPr>
          <p:cNvPr name="Group 9" id="9"/>
          <p:cNvGrpSpPr/>
          <p:nvPr/>
        </p:nvGrpSpPr>
        <p:grpSpPr>
          <a:xfrm rot="0">
            <a:off x="2878646" y="3292697"/>
            <a:ext cx="268224" cy="33528"/>
            <a:chOff x="0" y="0"/>
            <a:chExt cx="357632" cy="44704"/>
          </a:xfrm>
        </p:grpSpPr>
        <p:sp>
          <p:nvSpPr>
            <p:cNvPr name="Freeform 10" id="10"/>
            <p:cNvSpPr/>
            <p:nvPr/>
          </p:nvSpPr>
          <p:spPr>
            <a:xfrm flipH="false" flipV="false" rot="0">
              <a:off x="0" y="0"/>
              <a:ext cx="357632" cy="44704"/>
            </a:xfrm>
            <a:custGeom>
              <a:avLst/>
              <a:gdLst/>
              <a:ahLst/>
              <a:cxnLst/>
              <a:rect r="r" b="b" t="t" l="l"/>
              <a:pathLst>
                <a:path h="44704" w="357632">
                  <a:moveTo>
                    <a:pt x="19050" y="0"/>
                  </a:moveTo>
                  <a:lnTo>
                    <a:pt x="338582" y="0"/>
                  </a:lnTo>
                  <a:cubicBezTo>
                    <a:pt x="349123" y="0"/>
                    <a:pt x="357632" y="8509"/>
                    <a:pt x="357632" y="19050"/>
                  </a:cubicBezTo>
                  <a:lnTo>
                    <a:pt x="357632" y="25654"/>
                  </a:lnTo>
                  <a:cubicBezTo>
                    <a:pt x="357632" y="36195"/>
                    <a:pt x="349123" y="44704"/>
                    <a:pt x="338582" y="44704"/>
                  </a:cubicBezTo>
                  <a:lnTo>
                    <a:pt x="19050" y="44704"/>
                  </a:lnTo>
                  <a:cubicBezTo>
                    <a:pt x="8509" y="44704"/>
                    <a:pt x="0" y="36195"/>
                    <a:pt x="0" y="25654"/>
                  </a:cubicBezTo>
                  <a:lnTo>
                    <a:pt x="0" y="19050"/>
                  </a:lnTo>
                  <a:cubicBezTo>
                    <a:pt x="0" y="8509"/>
                    <a:pt x="8509" y="0"/>
                    <a:pt x="19050" y="0"/>
                  </a:cubicBezTo>
                  <a:close/>
                </a:path>
              </a:pathLst>
            </a:custGeom>
            <a:solidFill>
              <a:srgbClr val="FFFFFF"/>
            </a:solidFill>
          </p:spPr>
        </p:sp>
      </p:grpSp>
      <p:grpSp>
        <p:nvGrpSpPr>
          <p:cNvPr name="Group 11" id="11"/>
          <p:cNvGrpSpPr/>
          <p:nvPr/>
        </p:nvGrpSpPr>
        <p:grpSpPr>
          <a:xfrm rot="0">
            <a:off x="2962466" y="4890516"/>
            <a:ext cx="100584" cy="100584"/>
            <a:chOff x="0" y="0"/>
            <a:chExt cx="134112" cy="134112"/>
          </a:xfrm>
        </p:grpSpPr>
        <p:sp>
          <p:nvSpPr>
            <p:cNvPr name="Freeform 12" id="12"/>
            <p:cNvSpPr/>
            <p:nvPr/>
          </p:nvSpPr>
          <p:spPr>
            <a:xfrm flipH="false" flipV="false" rot="0">
              <a:off x="0" y="0"/>
              <a:ext cx="134112" cy="134112"/>
            </a:xfrm>
            <a:custGeom>
              <a:avLst/>
              <a:gdLst/>
              <a:ahLst/>
              <a:cxnLst/>
              <a:rect r="r" b="b" t="t" l="l"/>
              <a:pathLst>
                <a:path h="134112" w="134112">
                  <a:moveTo>
                    <a:pt x="67056" y="0"/>
                  </a:moveTo>
                  <a:cubicBezTo>
                    <a:pt x="104140" y="0"/>
                    <a:pt x="134112" y="29972"/>
                    <a:pt x="134112" y="67056"/>
                  </a:cubicBezTo>
                  <a:cubicBezTo>
                    <a:pt x="134112" y="104140"/>
                    <a:pt x="104140" y="134112"/>
                    <a:pt x="67056" y="134112"/>
                  </a:cubicBezTo>
                  <a:cubicBezTo>
                    <a:pt x="29972" y="134112"/>
                    <a:pt x="0" y="104140"/>
                    <a:pt x="0" y="67056"/>
                  </a:cubicBezTo>
                  <a:cubicBezTo>
                    <a:pt x="0" y="29972"/>
                    <a:pt x="29972" y="0"/>
                    <a:pt x="67056" y="0"/>
                  </a:cubicBezTo>
                  <a:close/>
                </a:path>
              </a:pathLst>
            </a:custGeom>
            <a:solidFill>
              <a:srgbClr val="FFFFFF"/>
            </a:solidFill>
          </p:spPr>
        </p:sp>
      </p:grpSp>
      <p:sp>
        <p:nvSpPr>
          <p:cNvPr name="AutoShape 13" id="13"/>
          <p:cNvSpPr/>
          <p:nvPr/>
        </p:nvSpPr>
        <p:spPr>
          <a:xfrm rot="0">
            <a:off x="2699480" y="3684556"/>
            <a:ext cx="217932" cy="217932"/>
          </a:xfrm>
          <a:prstGeom prst="rect">
            <a:avLst/>
          </a:prstGeom>
          <a:solidFill>
            <a:srgbClr val="173A45"/>
          </a:solidFill>
        </p:spPr>
      </p:sp>
      <p:sp>
        <p:nvSpPr>
          <p:cNvPr name="AutoShape 14" id="14"/>
          <p:cNvSpPr/>
          <p:nvPr/>
        </p:nvSpPr>
        <p:spPr>
          <a:xfrm rot="0">
            <a:off x="3076670" y="3684556"/>
            <a:ext cx="217932" cy="217932"/>
          </a:xfrm>
          <a:prstGeom prst="rect">
            <a:avLst/>
          </a:prstGeom>
          <a:solidFill>
            <a:srgbClr val="173A45"/>
          </a:solidFill>
        </p:spPr>
      </p:sp>
      <p:sp>
        <p:nvSpPr>
          <p:cNvPr name="AutoShape 15" id="15"/>
          <p:cNvSpPr/>
          <p:nvPr/>
        </p:nvSpPr>
        <p:spPr>
          <a:xfrm rot="0">
            <a:off x="2699480" y="4061746"/>
            <a:ext cx="217932" cy="217932"/>
          </a:xfrm>
          <a:prstGeom prst="rect">
            <a:avLst/>
          </a:prstGeom>
          <a:solidFill>
            <a:srgbClr val="173A45"/>
          </a:solidFill>
        </p:spPr>
      </p:sp>
      <p:sp>
        <p:nvSpPr>
          <p:cNvPr name="AutoShape 16" id="16"/>
          <p:cNvSpPr/>
          <p:nvPr/>
        </p:nvSpPr>
        <p:spPr>
          <a:xfrm rot="0">
            <a:off x="3075622" y="4060698"/>
            <a:ext cx="100584" cy="100584"/>
          </a:xfrm>
          <a:prstGeom prst="rect">
            <a:avLst/>
          </a:prstGeom>
          <a:solidFill>
            <a:srgbClr val="173A45"/>
          </a:solidFill>
        </p:spPr>
      </p:sp>
      <p:sp>
        <p:nvSpPr>
          <p:cNvPr name="AutoShape 17" id="17"/>
          <p:cNvSpPr/>
          <p:nvPr/>
        </p:nvSpPr>
        <p:spPr>
          <a:xfrm rot="0">
            <a:off x="3187732" y="4179094"/>
            <a:ext cx="108966" cy="108966"/>
          </a:xfrm>
          <a:prstGeom prst="rect">
            <a:avLst/>
          </a:prstGeom>
          <a:solidFill>
            <a:srgbClr val="173A45"/>
          </a:solidFill>
        </p:spPr>
      </p:sp>
      <p:sp>
        <p:nvSpPr>
          <p:cNvPr name="AutoShape 18" id="18"/>
          <p:cNvSpPr/>
          <p:nvPr/>
        </p:nvSpPr>
        <p:spPr>
          <a:xfrm rot="0">
            <a:off x="2960370" y="3939159"/>
            <a:ext cx="92202" cy="92202"/>
          </a:xfrm>
          <a:prstGeom prst="rect">
            <a:avLst/>
          </a:prstGeom>
          <a:solidFill>
            <a:srgbClr val="173A45"/>
          </a:solidFill>
        </p:spPr>
      </p:sp>
      <p:sp>
        <p:nvSpPr>
          <p:cNvPr name="TextBox 19" id="19"/>
          <p:cNvSpPr txBox="true"/>
          <p:nvPr/>
        </p:nvSpPr>
        <p:spPr>
          <a:xfrm rot="0">
            <a:off x="4490085" y="3350895"/>
            <a:ext cx="1844040" cy="609219"/>
          </a:xfrm>
          <a:prstGeom prst="rect">
            <a:avLst/>
          </a:prstGeom>
        </p:spPr>
        <p:txBody>
          <a:bodyPr anchor="t" rtlCol="false" tIns="0" lIns="0" bIns="0" rIns="0">
            <a:spAutoFit/>
          </a:bodyPr>
          <a:lstStyle/>
          <a:p>
            <a:pPr algn="ctr">
              <a:lnSpc>
                <a:spcPts val="4422"/>
              </a:lnSpc>
            </a:pPr>
            <a:r>
              <a:rPr lang="en-US" b="true" sz="3300">
                <a:solidFill>
                  <a:srgbClr val="AC4D31"/>
                </a:solidFill>
                <a:latin typeface="Sarabun Semi-Bold"/>
                <a:ea typeface="Sarabun Semi-Bold"/>
                <a:cs typeface="Sarabun Semi-Bold"/>
                <a:sym typeface="Sarabun Semi-Bold"/>
              </a:rPr>
              <a:t>POST</a:t>
            </a:r>
          </a:p>
        </p:txBody>
      </p:sp>
      <p:sp>
        <p:nvSpPr>
          <p:cNvPr name="TextBox 20" id="20"/>
          <p:cNvSpPr txBox="true"/>
          <p:nvPr/>
        </p:nvSpPr>
        <p:spPr>
          <a:xfrm rot="0">
            <a:off x="6334125" y="3340322"/>
            <a:ext cx="134112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TextBox 21" id="21"/>
          <p:cNvSpPr txBox="true"/>
          <p:nvPr/>
        </p:nvSpPr>
        <p:spPr>
          <a:xfrm rot="0">
            <a:off x="8387715" y="2554796"/>
            <a:ext cx="3771900" cy="2308860"/>
          </a:xfrm>
          <a:prstGeom prst="rect">
            <a:avLst/>
          </a:prstGeom>
        </p:spPr>
        <p:txBody>
          <a:bodyPr anchor="t" rtlCol="false" tIns="0" lIns="0" bIns="0" rIns="0">
            <a:spAutoFit/>
          </a:bodyPr>
          <a:lstStyle/>
          <a:p>
            <a:pPr algn="ctr">
              <a:lnSpc>
                <a:spcPts val="16803"/>
              </a:lnSpc>
            </a:pPr>
            <a:r>
              <a:rPr lang="en-US" b="true" sz="12540">
                <a:solidFill>
                  <a:srgbClr val="28766D"/>
                </a:solidFill>
                <a:latin typeface="Sarabun Bold"/>
                <a:ea typeface="Sarabun Bold"/>
                <a:cs typeface="Sarabun Bold"/>
                <a:sym typeface="Sarabun Bold"/>
              </a:rPr>
              <a:t>201</a:t>
            </a:r>
          </a:p>
        </p:txBody>
      </p:sp>
      <p:sp>
        <p:nvSpPr>
          <p:cNvPr name="TextBox 22" id="22"/>
          <p:cNvSpPr txBox="true"/>
          <p:nvPr/>
        </p:nvSpPr>
        <p:spPr>
          <a:xfrm rot="0">
            <a:off x="8974455" y="4618958"/>
            <a:ext cx="2682240" cy="541020"/>
          </a:xfrm>
          <a:prstGeom prst="rect">
            <a:avLst/>
          </a:prstGeom>
        </p:spPr>
        <p:txBody>
          <a:bodyPr anchor="t" rtlCol="false" tIns="0" lIns="0" bIns="0" rIns="0">
            <a:spAutoFit/>
          </a:bodyPr>
          <a:lstStyle/>
          <a:p>
            <a:pPr algn="ctr">
              <a:lnSpc>
                <a:spcPts val="3979"/>
              </a:lnSpc>
            </a:pPr>
            <a:r>
              <a:rPr lang="en-US" b="true" sz="2970">
                <a:solidFill>
                  <a:srgbClr val="28766D"/>
                </a:solidFill>
                <a:latin typeface="Sarabun Semi-Bold"/>
                <a:ea typeface="Sarabun Semi-Bold"/>
                <a:cs typeface="Sarabun Semi-Bold"/>
                <a:sym typeface="Sarabun Semi-Bold"/>
              </a:rPr>
              <a:t>Created</a:t>
            </a:r>
          </a:p>
        </p:txBody>
      </p:sp>
      <p:grpSp>
        <p:nvGrpSpPr>
          <p:cNvPr name="Group 23" id="23"/>
          <p:cNvGrpSpPr/>
          <p:nvPr/>
        </p:nvGrpSpPr>
        <p:grpSpPr>
          <a:xfrm rot="0">
            <a:off x="13249275" y="3190018"/>
            <a:ext cx="1424940" cy="1885950"/>
            <a:chOff x="0" y="0"/>
            <a:chExt cx="1899920" cy="2514600"/>
          </a:xfrm>
        </p:grpSpPr>
        <p:sp>
          <p:nvSpPr>
            <p:cNvPr name="Freeform 24" id="24"/>
            <p:cNvSpPr/>
            <p:nvPr/>
          </p:nvSpPr>
          <p:spPr>
            <a:xfrm flipH="false" flipV="false" rot="0">
              <a:off x="0" y="0"/>
              <a:ext cx="1899920" cy="2514600"/>
            </a:xfrm>
            <a:custGeom>
              <a:avLst/>
              <a:gdLst/>
              <a:ahLst/>
              <a:cxnLst/>
              <a:rect r="r" b="b" t="t" l="l"/>
              <a:pathLst>
                <a:path h="2514600" w="1899920">
                  <a:moveTo>
                    <a:pt x="43180" y="0"/>
                  </a:moveTo>
                  <a:lnTo>
                    <a:pt x="1856740" y="0"/>
                  </a:lnTo>
                  <a:cubicBezTo>
                    <a:pt x="1880616" y="0"/>
                    <a:pt x="1899920" y="19304"/>
                    <a:pt x="1899920" y="43180"/>
                  </a:cubicBezTo>
                  <a:lnTo>
                    <a:pt x="1899920" y="2471420"/>
                  </a:lnTo>
                  <a:cubicBezTo>
                    <a:pt x="1899920" y="2495296"/>
                    <a:pt x="1880616" y="2514600"/>
                    <a:pt x="1856740" y="2514600"/>
                  </a:cubicBezTo>
                  <a:lnTo>
                    <a:pt x="43180" y="2514600"/>
                  </a:lnTo>
                  <a:cubicBezTo>
                    <a:pt x="19304" y="2514600"/>
                    <a:pt x="0" y="2495296"/>
                    <a:pt x="0" y="2471420"/>
                  </a:cubicBezTo>
                  <a:lnTo>
                    <a:pt x="0" y="43180"/>
                  </a:lnTo>
                  <a:cubicBezTo>
                    <a:pt x="0" y="19304"/>
                    <a:pt x="19304" y="0"/>
                    <a:pt x="43180" y="0"/>
                  </a:cubicBezTo>
                  <a:close/>
                </a:path>
              </a:pathLst>
            </a:custGeom>
            <a:solidFill>
              <a:srgbClr val="FFFFFF"/>
            </a:solidFill>
          </p:spPr>
        </p:sp>
        <p:sp>
          <p:nvSpPr>
            <p:cNvPr name="Freeform 25" id="25"/>
            <p:cNvSpPr/>
            <p:nvPr/>
          </p:nvSpPr>
          <p:spPr>
            <a:xfrm flipH="false" flipV="false" rot="0">
              <a:off x="0" y="0"/>
              <a:ext cx="1899920" cy="2514600"/>
            </a:xfrm>
            <a:custGeom>
              <a:avLst/>
              <a:gdLst/>
              <a:ahLst/>
              <a:cxnLst/>
              <a:rect r="r" b="b" t="t" l="l"/>
              <a:pathLst>
                <a:path h="2514600" w="1899920">
                  <a:moveTo>
                    <a:pt x="43180" y="0"/>
                  </a:moveTo>
                  <a:lnTo>
                    <a:pt x="1856740" y="0"/>
                  </a:lnTo>
                  <a:cubicBezTo>
                    <a:pt x="1880616" y="0"/>
                    <a:pt x="1899920" y="19304"/>
                    <a:pt x="1899920" y="43180"/>
                  </a:cubicBezTo>
                  <a:lnTo>
                    <a:pt x="1899920" y="2471420"/>
                  </a:lnTo>
                  <a:cubicBezTo>
                    <a:pt x="1899920" y="2495296"/>
                    <a:pt x="1880616" y="2514600"/>
                    <a:pt x="1856740" y="2514600"/>
                  </a:cubicBezTo>
                  <a:lnTo>
                    <a:pt x="43180" y="2514600"/>
                  </a:lnTo>
                  <a:cubicBezTo>
                    <a:pt x="19304" y="2514600"/>
                    <a:pt x="0" y="2495296"/>
                    <a:pt x="0" y="2471420"/>
                  </a:cubicBezTo>
                  <a:lnTo>
                    <a:pt x="0" y="43180"/>
                  </a:lnTo>
                  <a:cubicBezTo>
                    <a:pt x="0" y="19304"/>
                    <a:pt x="19304" y="0"/>
                    <a:pt x="43180" y="0"/>
                  </a:cubicBezTo>
                  <a:close/>
                </a:path>
              </a:pathLst>
            </a:custGeom>
            <a:solidFill>
              <a:srgbClr val="000000">
                <a:alpha val="0"/>
              </a:srgbClr>
            </a:solidFill>
            <a:ln w="28575" cap="sq">
              <a:solidFill>
                <a:srgbClr val="173A45"/>
              </a:solidFill>
              <a:prstDash val="solid"/>
              <a:miter/>
            </a:ln>
          </p:spPr>
        </p:sp>
      </p:grpSp>
      <p:sp>
        <p:nvSpPr>
          <p:cNvPr name="TextBox 26" id="26"/>
          <p:cNvSpPr txBox="true"/>
          <p:nvPr/>
        </p:nvSpPr>
        <p:spPr>
          <a:xfrm rot="0">
            <a:off x="13425297" y="3248311"/>
            <a:ext cx="1072896" cy="667893"/>
          </a:xfrm>
          <a:prstGeom prst="rect">
            <a:avLst/>
          </a:prstGeom>
        </p:spPr>
        <p:txBody>
          <a:bodyPr anchor="t" rtlCol="false" tIns="0" lIns="0" bIns="0" rIns="0">
            <a:spAutoFit/>
          </a:bodyPr>
          <a:lstStyle/>
          <a:p>
            <a:pPr algn="ctr">
              <a:lnSpc>
                <a:spcPts val="4886"/>
              </a:lnSpc>
            </a:pPr>
            <a:r>
              <a:rPr lang="en-US" b="true" sz="3646">
                <a:solidFill>
                  <a:srgbClr val="28766D"/>
                </a:solidFill>
                <a:latin typeface="Sarabun Semi-Bold"/>
                <a:ea typeface="Sarabun Semi-Bold"/>
                <a:cs typeface="Sarabun Semi-Bold"/>
                <a:sym typeface="Sarabun Semi-Bold"/>
              </a:rPr>
              <a:t>{ }</a:t>
            </a:r>
          </a:p>
        </p:txBody>
      </p:sp>
      <p:sp>
        <p:nvSpPr>
          <p:cNvPr name="AutoShape 27" id="27"/>
          <p:cNvSpPr/>
          <p:nvPr/>
        </p:nvSpPr>
        <p:spPr>
          <a:xfrm rot="0">
            <a:off x="13463016" y="4150804"/>
            <a:ext cx="997458" cy="33528"/>
          </a:xfrm>
          <a:prstGeom prst="rect">
            <a:avLst/>
          </a:prstGeom>
          <a:solidFill>
            <a:srgbClr val="173A45"/>
          </a:solidFill>
        </p:spPr>
      </p:sp>
      <p:sp>
        <p:nvSpPr>
          <p:cNvPr name="AutoShape 28" id="28"/>
          <p:cNvSpPr/>
          <p:nvPr/>
        </p:nvSpPr>
        <p:spPr>
          <a:xfrm rot="0">
            <a:off x="13463016" y="4400169"/>
            <a:ext cx="997458" cy="33528"/>
          </a:xfrm>
          <a:prstGeom prst="rect">
            <a:avLst/>
          </a:prstGeom>
          <a:solidFill>
            <a:srgbClr val="173A45"/>
          </a:solidFill>
        </p:spPr>
      </p:sp>
      <p:sp>
        <p:nvSpPr>
          <p:cNvPr name="AutoShape 29" id="29"/>
          <p:cNvSpPr/>
          <p:nvPr/>
        </p:nvSpPr>
        <p:spPr>
          <a:xfrm rot="0">
            <a:off x="13461968" y="4649534"/>
            <a:ext cx="678942" cy="33528"/>
          </a:xfrm>
          <a:prstGeom prst="rect">
            <a:avLst/>
          </a:prstGeom>
          <a:solidFill>
            <a:srgbClr val="173A45"/>
          </a:solidFill>
        </p:spPr>
      </p:sp>
      <p:grpSp>
        <p:nvGrpSpPr>
          <p:cNvPr name="Group 30" id="30"/>
          <p:cNvGrpSpPr/>
          <p:nvPr/>
        </p:nvGrpSpPr>
        <p:grpSpPr>
          <a:xfrm rot="0">
            <a:off x="7675245" y="6290310"/>
            <a:ext cx="2346960" cy="502920"/>
            <a:chOff x="0" y="0"/>
            <a:chExt cx="3129280" cy="670560"/>
          </a:xfrm>
        </p:grpSpPr>
        <p:sp>
          <p:nvSpPr>
            <p:cNvPr name="Freeform 31" id="31"/>
            <p:cNvSpPr/>
            <p:nvPr/>
          </p:nvSpPr>
          <p:spPr>
            <a:xfrm flipH="false" flipV="false" rot="0">
              <a:off x="0" y="0"/>
              <a:ext cx="3129280" cy="670560"/>
            </a:xfrm>
            <a:custGeom>
              <a:avLst/>
              <a:gdLst/>
              <a:ahLst/>
              <a:cxnLst/>
              <a:rect r="r" b="b" t="t" l="l"/>
              <a:pathLst>
                <a:path h="670560" w="3129280">
                  <a:moveTo>
                    <a:pt x="335280" y="0"/>
                  </a:moveTo>
                  <a:lnTo>
                    <a:pt x="2794000" y="0"/>
                  </a:lnTo>
                  <a:cubicBezTo>
                    <a:pt x="2979166" y="0"/>
                    <a:pt x="3129280" y="150114"/>
                    <a:pt x="3129280" y="335280"/>
                  </a:cubicBezTo>
                  <a:cubicBezTo>
                    <a:pt x="3129280" y="520446"/>
                    <a:pt x="2979166" y="670560"/>
                    <a:pt x="279400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32" id="32"/>
          <p:cNvSpPr txBox="true"/>
          <p:nvPr/>
        </p:nvSpPr>
        <p:spPr>
          <a:xfrm rot="0">
            <a:off x="7775829" y="6347460"/>
            <a:ext cx="214579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DTO</a:t>
            </a:r>
          </a:p>
        </p:txBody>
      </p:sp>
      <p:grpSp>
        <p:nvGrpSpPr>
          <p:cNvPr name="Group 33" id="33"/>
          <p:cNvGrpSpPr/>
          <p:nvPr/>
        </p:nvGrpSpPr>
        <p:grpSpPr>
          <a:xfrm rot="0">
            <a:off x="10902315" y="6290310"/>
            <a:ext cx="2933700" cy="502920"/>
            <a:chOff x="0" y="0"/>
            <a:chExt cx="3911600" cy="670560"/>
          </a:xfrm>
        </p:grpSpPr>
        <p:sp>
          <p:nvSpPr>
            <p:cNvPr name="Freeform 34" id="34"/>
            <p:cNvSpPr/>
            <p:nvPr/>
          </p:nvSpPr>
          <p:spPr>
            <a:xfrm flipH="false" flipV="false" rot="0">
              <a:off x="0" y="0"/>
              <a:ext cx="3911600" cy="670560"/>
            </a:xfrm>
            <a:custGeom>
              <a:avLst/>
              <a:gdLst/>
              <a:ahLst/>
              <a:cxnLst/>
              <a:rect r="r" b="b" t="t" l="l"/>
              <a:pathLst>
                <a:path h="670560" w="3911600">
                  <a:moveTo>
                    <a:pt x="335280" y="0"/>
                  </a:moveTo>
                  <a:lnTo>
                    <a:pt x="3576320" y="0"/>
                  </a:lnTo>
                  <a:cubicBezTo>
                    <a:pt x="3761486" y="0"/>
                    <a:pt x="3911600" y="150114"/>
                    <a:pt x="3911600" y="335280"/>
                  </a:cubicBezTo>
                  <a:cubicBezTo>
                    <a:pt x="3911600" y="520446"/>
                    <a:pt x="3761486" y="670560"/>
                    <a:pt x="357632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35" id="35"/>
          <p:cNvSpPr txBox="true"/>
          <p:nvPr/>
        </p:nvSpPr>
        <p:spPr>
          <a:xfrm rot="0">
            <a:off x="11002899" y="6347460"/>
            <a:ext cx="273253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Location</a:t>
            </a:r>
          </a:p>
        </p:txBody>
      </p:sp>
      <p:sp>
        <p:nvSpPr>
          <p:cNvPr name="TextBox 36" id="36"/>
          <p:cNvSpPr txBox="true"/>
          <p:nvPr/>
        </p:nvSpPr>
        <p:spPr>
          <a:xfrm rot="0">
            <a:off x="2017395" y="8103679"/>
            <a:ext cx="14249400" cy="313563"/>
          </a:xfrm>
          <a:prstGeom prst="rect">
            <a:avLst/>
          </a:prstGeom>
        </p:spPr>
        <p:txBody>
          <a:bodyPr anchor="t" rtlCol="false" tIns="0" lIns="0" bIns="0" rIns="0">
            <a:spAutoFit/>
          </a:bodyPr>
          <a:lstStyle/>
          <a:p>
            <a:pPr algn="l">
              <a:lnSpc>
                <a:spcPts val="2211"/>
              </a:lnSpc>
            </a:pPr>
            <a:r>
              <a:rPr lang="en-US" sz="1650">
                <a:solidFill>
                  <a:srgbClr val="647477"/>
                </a:solidFill>
                <a:latin typeface="Sarabun"/>
                <a:ea typeface="Sarabun"/>
                <a:cs typeface="Sarabun"/>
                <a:sym typeface="Sarabun"/>
              </a:rPr>
              <a:t>PR52 · ผ่าน local / CI · public retest ของการแก้ยังไม่ยืนยัน</a:t>
            </a:r>
          </a:p>
        </p:txBody>
      </p:sp>
      <p:sp>
        <p:nvSpPr>
          <p:cNvPr name="TextBox 37" id="37"/>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PR52 ประกาศ 201 พร้อม DTO และ Location ให้ตรงกับ API จริง และแก้ตัวอย่าง ErrorResponse ที่เคยแสดงข้อมูลข้าม Operation</a:t>
            </a:r>
          </a:p>
        </p:txBody>
      </p:sp>
      <p:sp>
        <p:nvSpPr>
          <p:cNvPr name="TextBox 38" id="38"/>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sirapat_673380293-3_01</a:t>
            </a:r>
          </a:p>
        </p:txBody>
      </p:sp>
      <p:sp>
        <p:nvSpPr>
          <p:cNvPr name="TextBox 39" id="39"/>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30 วินาที · 8/10</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Live Demo · 3:30</a:t>
            </a:r>
          </a:p>
        </p:txBody>
      </p:sp>
      <p:grpSp>
        <p:nvGrpSpPr>
          <p:cNvPr name="Group 5" id="5"/>
          <p:cNvGrpSpPr/>
          <p:nvPr/>
        </p:nvGrpSpPr>
        <p:grpSpPr>
          <a:xfrm rot="0">
            <a:off x="2771775" y="2895600"/>
            <a:ext cx="1139952" cy="1911096"/>
            <a:chOff x="0" y="0"/>
            <a:chExt cx="1519936" cy="2548128"/>
          </a:xfrm>
        </p:grpSpPr>
        <p:sp>
          <p:nvSpPr>
            <p:cNvPr name="Freeform 6" id="6"/>
            <p:cNvSpPr/>
            <p:nvPr/>
          </p:nvSpPr>
          <p:spPr>
            <a:xfrm flipH="false" flipV="false" rot="0">
              <a:off x="0" y="0"/>
              <a:ext cx="1519936" cy="2548128"/>
            </a:xfrm>
            <a:custGeom>
              <a:avLst/>
              <a:gdLst/>
              <a:ahLst/>
              <a:cxnLst/>
              <a:rect r="r" b="b" t="t" l="l"/>
              <a:pathLst>
                <a:path h="2548128" w="1519936">
                  <a:moveTo>
                    <a:pt x="243840" y="0"/>
                  </a:moveTo>
                  <a:lnTo>
                    <a:pt x="1276096" y="0"/>
                  </a:lnTo>
                  <a:cubicBezTo>
                    <a:pt x="1410716" y="0"/>
                    <a:pt x="1519936" y="109220"/>
                    <a:pt x="1519936" y="243840"/>
                  </a:cubicBezTo>
                  <a:lnTo>
                    <a:pt x="1519936" y="2304288"/>
                  </a:lnTo>
                  <a:cubicBezTo>
                    <a:pt x="1519936" y="2438908"/>
                    <a:pt x="1410716" y="2548128"/>
                    <a:pt x="1276096" y="2548128"/>
                  </a:cubicBezTo>
                  <a:lnTo>
                    <a:pt x="243840" y="2548128"/>
                  </a:lnTo>
                  <a:cubicBezTo>
                    <a:pt x="109220" y="2548128"/>
                    <a:pt x="0" y="2438908"/>
                    <a:pt x="0" y="2304288"/>
                  </a:cubicBezTo>
                  <a:lnTo>
                    <a:pt x="0" y="243840"/>
                  </a:lnTo>
                  <a:cubicBezTo>
                    <a:pt x="0" y="109220"/>
                    <a:pt x="109220" y="0"/>
                    <a:pt x="243840" y="0"/>
                  </a:cubicBezTo>
                  <a:close/>
                </a:path>
              </a:pathLst>
            </a:custGeom>
            <a:solidFill>
              <a:srgbClr val="173A45"/>
            </a:solidFill>
          </p:spPr>
        </p:sp>
      </p:grpSp>
      <p:grpSp>
        <p:nvGrpSpPr>
          <p:cNvPr name="Group 7" id="7"/>
          <p:cNvGrpSpPr/>
          <p:nvPr/>
        </p:nvGrpSpPr>
        <p:grpSpPr>
          <a:xfrm rot="0">
            <a:off x="2859691" y="3063240"/>
            <a:ext cx="963930" cy="1542288"/>
            <a:chOff x="0" y="0"/>
            <a:chExt cx="1285240" cy="2056384"/>
          </a:xfrm>
        </p:grpSpPr>
        <p:sp>
          <p:nvSpPr>
            <p:cNvPr name="Freeform 8" id="8"/>
            <p:cNvSpPr/>
            <p:nvPr/>
          </p:nvSpPr>
          <p:spPr>
            <a:xfrm flipH="false" flipV="false" rot="0">
              <a:off x="0" y="0"/>
              <a:ext cx="1285240" cy="2056384"/>
            </a:xfrm>
            <a:custGeom>
              <a:avLst/>
              <a:gdLst/>
              <a:ahLst/>
              <a:cxnLst/>
              <a:rect r="r" b="b" t="t" l="l"/>
              <a:pathLst>
                <a:path h="2056384" w="1285240">
                  <a:moveTo>
                    <a:pt x="81280" y="0"/>
                  </a:moveTo>
                  <a:lnTo>
                    <a:pt x="1203960" y="0"/>
                  </a:lnTo>
                  <a:cubicBezTo>
                    <a:pt x="1248791" y="0"/>
                    <a:pt x="1285240" y="36449"/>
                    <a:pt x="1285240" y="81280"/>
                  </a:cubicBezTo>
                  <a:lnTo>
                    <a:pt x="1285240" y="1975104"/>
                  </a:lnTo>
                  <a:cubicBezTo>
                    <a:pt x="1285240" y="2019935"/>
                    <a:pt x="1248791" y="2056384"/>
                    <a:pt x="1203960" y="2056384"/>
                  </a:cubicBezTo>
                  <a:lnTo>
                    <a:pt x="81280" y="2056384"/>
                  </a:lnTo>
                  <a:cubicBezTo>
                    <a:pt x="36449" y="2056384"/>
                    <a:pt x="0" y="2019935"/>
                    <a:pt x="0" y="1975104"/>
                  </a:cubicBezTo>
                  <a:lnTo>
                    <a:pt x="0" y="81280"/>
                  </a:lnTo>
                  <a:cubicBezTo>
                    <a:pt x="0" y="36449"/>
                    <a:pt x="36449" y="0"/>
                    <a:pt x="81280" y="0"/>
                  </a:cubicBezTo>
                  <a:close/>
                </a:path>
              </a:pathLst>
            </a:custGeom>
            <a:solidFill>
              <a:srgbClr val="FFFFFF"/>
            </a:solidFill>
          </p:spPr>
        </p:sp>
      </p:grpSp>
      <p:grpSp>
        <p:nvGrpSpPr>
          <p:cNvPr name="Group 9" id="9"/>
          <p:cNvGrpSpPr/>
          <p:nvPr/>
        </p:nvGrpSpPr>
        <p:grpSpPr>
          <a:xfrm rot="0">
            <a:off x="3199162" y="2962656"/>
            <a:ext cx="284988" cy="33528"/>
            <a:chOff x="0" y="0"/>
            <a:chExt cx="379984" cy="44704"/>
          </a:xfrm>
        </p:grpSpPr>
        <p:sp>
          <p:nvSpPr>
            <p:cNvPr name="Freeform 10" id="10"/>
            <p:cNvSpPr/>
            <p:nvPr/>
          </p:nvSpPr>
          <p:spPr>
            <a:xfrm flipH="false" flipV="false" rot="0">
              <a:off x="0" y="0"/>
              <a:ext cx="379984" cy="44704"/>
            </a:xfrm>
            <a:custGeom>
              <a:avLst/>
              <a:gdLst/>
              <a:ahLst/>
              <a:cxnLst/>
              <a:rect r="r" b="b" t="t" l="l"/>
              <a:pathLst>
                <a:path h="44704" w="379984">
                  <a:moveTo>
                    <a:pt x="20320" y="0"/>
                  </a:moveTo>
                  <a:lnTo>
                    <a:pt x="359664" y="0"/>
                  </a:lnTo>
                  <a:cubicBezTo>
                    <a:pt x="370840" y="0"/>
                    <a:pt x="379984" y="9144"/>
                    <a:pt x="379984" y="20320"/>
                  </a:cubicBezTo>
                  <a:lnTo>
                    <a:pt x="379984" y="24384"/>
                  </a:lnTo>
                  <a:cubicBezTo>
                    <a:pt x="379984" y="35560"/>
                    <a:pt x="370840" y="44704"/>
                    <a:pt x="359664" y="44704"/>
                  </a:cubicBezTo>
                  <a:lnTo>
                    <a:pt x="20320" y="44704"/>
                  </a:lnTo>
                  <a:cubicBezTo>
                    <a:pt x="9144" y="44704"/>
                    <a:pt x="0" y="35560"/>
                    <a:pt x="0" y="24384"/>
                  </a:cubicBezTo>
                  <a:lnTo>
                    <a:pt x="0" y="20320"/>
                  </a:lnTo>
                  <a:cubicBezTo>
                    <a:pt x="0" y="9144"/>
                    <a:pt x="9144" y="0"/>
                    <a:pt x="20320" y="0"/>
                  </a:cubicBezTo>
                  <a:close/>
                </a:path>
              </a:pathLst>
            </a:custGeom>
            <a:solidFill>
              <a:srgbClr val="FFFFFF"/>
            </a:solidFill>
          </p:spPr>
        </p:sp>
      </p:grpSp>
      <p:grpSp>
        <p:nvGrpSpPr>
          <p:cNvPr name="Group 11" id="11"/>
          <p:cNvGrpSpPr/>
          <p:nvPr/>
        </p:nvGrpSpPr>
        <p:grpSpPr>
          <a:xfrm rot="0">
            <a:off x="3287173" y="4664964"/>
            <a:ext cx="108966" cy="108966"/>
            <a:chOff x="0" y="0"/>
            <a:chExt cx="145288" cy="145288"/>
          </a:xfrm>
        </p:grpSpPr>
        <p:sp>
          <p:nvSpPr>
            <p:cNvPr name="Freeform 12" id="12"/>
            <p:cNvSpPr/>
            <p:nvPr/>
          </p:nvSpPr>
          <p:spPr>
            <a:xfrm flipH="false" flipV="false" rot="0">
              <a:off x="0" y="0"/>
              <a:ext cx="145288" cy="145288"/>
            </a:xfrm>
            <a:custGeom>
              <a:avLst/>
              <a:gdLst/>
              <a:ahLst/>
              <a:cxnLst/>
              <a:rect r="r" b="b" t="t" l="l"/>
              <a:pathLst>
                <a:path h="145288" w="145288">
                  <a:moveTo>
                    <a:pt x="72644" y="0"/>
                  </a:moveTo>
                  <a:cubicBezTo>
                    <a:pt x="112776" y="0"/>
                    <a:pt x="145288" y="32512"/>
                    <a:pt x="145288" y="72644"/>
                  </a:cubicBezTo>
                  <a:cubicBezTo>
                    <a:pt x="145288" y="112776"/>
                    <a:pt x="112776" y="145288"/>
                    <a:pt x="72644" y="145288"/>
                  </a:cubicBezTo>
                  <a:cubicBezTo>
                    <a:pt x="32512" y="145288"/>
                    <a:pt x="0" y="112776"/>
                    <a:pt x="0" y="72644"/>
                  </a:cubicBezTo>
                  <a:cubicBezTo>
                    <a:pt x="0" y="32512"/>
                    <a:pt x="32512" y="0"/>
                    <a:pt x="72644" y="0"/>
                  </a:cubicBezTo>
                  <a:close/>
                </a:path>
              </a:pathLst>
            </a:custGeom>
            <a:solidFill>
              <a:srgbClr val="FFFFFF"/>
            </a:solidFill>
          </p:spPr>
        </p:sp>
      </p:grpSp>
      <p:sp>
        <p:nvSpPr>
          <p:cNvPr name="AutoShape 13" id="13"/>
          <p:cNvSpPr/>
          <p:nvPr/>
        </p:nvSpPr>
        <p:spPr>
          <a:xfrm rot="0">
            <a:off x="3006471" y="3378327"/>
            <a:ext cx="234696" cy="234696"/>
          </a:xfrm>
          <a:prstGeom prst="rect">
            <a:avLst/>
          </a:prstGeom>
          <a:solidFill>
            <a:srgbClr val="173A45"/>
          </a:solidFill>
        </p:spPr>
      </p:sp>
      <p:sp>
        <p:nvSpPr>
          <p:cNvPr name="AutoShape 14" id="14"/>
          <p:cNvSpPr/>
          <p:nvPr/>
        </p:nvSpPr>
        <p:spPr>
          <a:xfrm rot="0">
            <a:off x="3408807" y="3378327"/>
            <a:ext cx="234696" cy="234696"/>
          </a:xfrm>
          <a:prstGeom prst="rect">
            <a:avLst/>
          </a:prstGeom>
          <a:solidFill>
            <a:srgbClr val="173A45"/>
          </a:solidFill>
        </p:spPr>
      </p:sp>
      <p:sp>
        <p:nvSpPr>
          <p:cNvPr name="AutoShape 15" id="15"/>
          <p:cNvSpPr/>
          <p:nvPr/>
        </p:nvSpPr>
        <p:spPr>
          <a:xfrm rot="0">
            <a:off x="3006471" y="3780663"/>
            <a:ext cx="234696" cy="234696"/>
          </a:xfrm>
          <a:prstGeom prst="rect">
            <a:avLst/>
          </a:prstGeom>
          <a:solidFill>
            <a:srgbClr val="173A45"/>
          </a:solidFill>
        </p:spPr>
      </p:sp>
      <p:sp>
        <p:nvSpPr>
          <p:cNvPr name="AutoShape 16" id="16"/>
          <p:cNvSpPr/>
          <p:nvPr/>
        </p:nvSpPr>
        <p:spPr>
          <a:xfrm rot="0">
            <a:off x="3407950" y="3779806"/>
            <a:ext cx="108966" cy="108966"/>
          </a:xfrm>
          <a:prstGeom prst="rect">
            <a:avLst/>
          </a:prstGeom>
          <a:solidFill>
            <a:srgbClr val="173A45"/>
          </a:solidFill>
        </p:spPr>
      </p:sp>
      <p:sp>
        <p:nvSpPr>
          <p:cNvPr name="AutoShape 17" id="17"/>
          <p:cNvSpPr/>
          <p:nvPr/>
        </p:nvSpPr>
        <p:spPr>
          <a:xfrm rot="0">
            <a:off x="3527774" y="3906393"/>
            <a:ext cx="117348" cy="117348"/>
          </a:xfrm>
          <a:prstGeom prst="rect">
            <a:avLst/>
          </a:prstGeom>
          <a:solidFill>
            <a:srgbClr val="173A45"/>
          </a:solidFill>
        </p:spPr>
      </p:sp>
      <p:sp>
        <p:nvSpPr>
          <p:cNvPr name="AutoShape 18" id="18"/>
          <p:cNvSpPr/>
          <p:nvPr/>
        </p:nvSpPr>
        <p:spPr>
          <a:xfrm rot="0">
            <a:off x="3288887" y="3654076"/>
            <a:ext cx="92202" cy="92202"/>
          </a:xfrm>
          <a:prstGeom prst="rect">
            <a:avLst/>
          </a:prstGeom>
          <a:solidFill>
            <a:srgbClr val="173A45"/>
          </a:solidFill>
        </p:spPr>
      </p:sp>
      <p:grpSp>
        <p:nvGrpSpPr>
          <p:cNvPr name="Group 19" id="19"/>
          <p:cNvGrpSpPr/>
          <p:nvPr/>
        </p:nvGrpSpPr>
        <p:grpSpPr>
          <a:xfrm rot="0">
            <a:off x="8136255" y="3859530"/>
            <a:ext cx="1760220" cy="1047750"/>
            <a:chOff x="0" y="0"/>
            <a:chExt cx="2346960" cy="1397000"/>
          </a:xfrm>
        </p:grpSpPr>
        <p:sp>
          <p:nvSpPr>
            <p:cNvPr name="Freeform 20" id="20"/>
            <p:cNvSpPr/>
            <p:nvPr/>
          </p:nvSpPr>
          <p:spPr>
            <a:xfrm flipH="false" flipV="false" rot="0">
              <a:off x="0" y="0"/>
              <a:ext cx="2346960" cy="1397000"/>
            </a:xfrm>
            <a:custGeom>
              <a:avLst/>
              <a:gdLst/>
              <a:ahLst/>
              <a:cxnLst/>
              <a:rect r="r" b="b" t="t" l="l"/>
              <a:pathLst>
                <a:path h="1397000" w="2346960">
                  <a:moveTo>
                    <a:pt x="317500" y="0"/>
                  </a:moveTo>
                  <a:lnTo>
                    <a:pt x="2029460" y="0"/>
                  </a:lnTo>
                  <a:cubicBezTo>
                    <a:pt x="2204847" y="0"/>
                    <a:pt x="2346960" y="142113"/>
                    <a:pt x="2346960" y="317500"/>
                  </a:cubicBezTo>
                  <a:lnTo>
                    <a:pt x="2346960" y="1079500"/>
                  </a:lnTo>
                  <a:cubicBezTo>
                    <a:pt x="2346960" y="1254887"/>
                    <a:pt x="2204847" y="1397000"/>
                    <a:pt x="2029460" y="1397000"/>
                  </a:cubicBezTo>
                  <a:lnTo>
                    <a:pt x="317500" y="1397000"/>
                  </a:lnTo>
                  <a:cubicBezTo>
                    <a:pt x="142113" y="1397000"/>
                    <a:pt x="0" y="1254887"/>
                    <a:pt x="0" y="1079500"/>
                  </a:cubicBezTo>
                  <a:lnTo>
                    <a:pt x="0" y="317500"/>
                  </a:lnTo>
                  <a:cubicBezTo>
                    <a:pt x="0" y="142113"/>
                    <a:pt x="142113" y="0"/>
                    <a:pt x="317500" y="0"/>
                  </a:cubicBezTo>
                  <a:close/>
                </a:path>
              </a:pathLst>
            </a:custGeom>
            <a:solidFill>
              <a:srgbClr val="28766D"/>
            </a:solidFill>
          </p:spPr>
        </p:sp>
      </p:grpSp>
      <p:grpSp>
        <p:nvGrpSpPr>
          <p:cNvPr name="Group 21" id="21"/>
          <p:cNvGrpSpPr/>
          <p:nvPr/>
        </p:nvGrpSpPr>
        <p:grpSpPr>
          <a:xfrm rot="0">
            <a:off x="8010525" y="4069080"/>
            <a:ext cx="251460" cy="167640"/>
            <a:chOff x="0" y="0"/>
            <a:chExt cx="335280" cy="223520"/>
          </a:xfrm>
        </p:grpSpPr>
        <p:sp>
          <p:nvSpPr>
            <p:cNvPr name="Freeform 22" id="22"/>
            <p:cNvSpPr/>
            <p:nvPr/>
          </p:nvSpPr>
          <p:spPr>
            <a:xfrm flipH="false" flipV="false" rot="0">
              <a:off x="0" y="0"/>
              <a:ext cx="335280" cy="223520"/>
            </a:xfrm>
            <a:custGeom>
              <a:avLst/>
              <a:gdLst/>
              <a:ahLst/>
              <a:cxnLst/>
              <a:rect r="r" b="b" t="t" l="l"/>
              <a:pathLst>
                <a:path h="223520" w="335280">
                  <a:moveTo>
                    <a:pt x="101600" y="0"/>
                  </a:moveTo>
                  <a:lnTo>
                    <a:pt x="233680" y="0"/>
                  </a:lnTo>
                  <a:cubicBezTo>
                    <a:pt x="289814" y="0"/>
                    <a:pt x="335280" y="45466"/>
                    <a:pt x="335280" y="101600"/>
                  </a:cubicBezTo>
                  <a:lnTo>
                    <a:pt x="335280" y="121920"/>
                  </a:lnTo>
                  <a:cubicBezTo>
                    <a:pt x="335280" y="178054"/>
                    <a:pt x="289814" y="223520"/>
                    <a:pt x="233680" y="223520"/>
                  </a:cubicBezTo>
                  <a:lnTo>
                    <a:pt x="101600" y="223520"/>
                  </a:lnTo>
                  <a:cubicBezTo>
                    <a:pt x="45466" y="223520"/>
                    <a:pt x="0" y="178054"/>
                    <a:pt x="0" y="121920"/>
                  </a:cubicBezTo>
                  <a:lnTo>
                    <a:pt x="0" y="101600"/>
                  </a:lnTo>
                  <a:cubicBezTo>
                    <a:pt x="0" y="45466"/>
                    <a:pt x="45466" y="0"/>
                    <a:pt x="101600" y="0"/>
                  </a:cubicBezTo>
                  <a:close/>
                </a:path>
              </a:pathLst>
            </a:custGeom>
            <a:solidFill>
              <a:srgbClr val="28766D"/>
            </a:solidFill>
          </p:spPr>
        </p:sp>
      </p:grpSp>
      <p:grpSp>
        <p:nvGrpSpPr>
          <p:cNvPr name="Group 23" id="23"/>
          <p:cNvGrpSpPr/>
          <p:nvPr/>
        </p:nvGrpSpPr>
        <p:grpSpPr>
          <a:xfrm rot="0">
            <a:off x="9812655" y="4069080"/>
            <a:ext cx="251460" cy="167640"/>
            <a:chOff x="0" y="0"/>
            <a:chExt cx="335280" cy="223520"/>
          </a:xfrm>
        </p:grpSpPr>
        <p:sp>
          <p:nvSpPr>
            <p:cNvPr name="Freeform 24" id="24"/>
            <p:cNvSpPr/>
            <p:nvPr/>
          </p:nvSpPr>
          <p:spPr>
            <a:xfrm flipH="false" flipV="false" rot="0">
              <a:off x="0" y="0"/>
              <a:ext cx="335280" cy="223520"/>
            </a:xfrm>
            <a:custGeom>
              <a:avLst/>
              <a:gdLst/>
              <a:ahLst/>
              <a:cxnLst/>
              <a:rect r="r" b="b" t="t" l="l"/>
              <a:pathLst>
                <a:path h="223520" w="335280">
                  <a:moveTo>
                    <a:pt x="101600" y="0"/>
                  </a:moveTo>
                  <a:lnTo>
                    <a:pt x="233680" y="0"/>
                  </a:lnTo>
                  <a:cubicBezTo>
                    <a:pt x="289814" y="0"/>
                    <a:pt x="335280" y="45466"/>
                    <a:pt x="335280" y="101600"/>
                  </a:cubicBezTo>
                  <a:lnTo>
                    <a:pt x="335280" y="121920"/>
                  </a:lnTo>
                  <a:cubicBezTo>
                    <a:pt x="335280" y="178054"/>
                    <a:pt x="289814" y="223520"/>
                    <a:pt x="233680" y="223520"/>
                  </a:cubicBezTo>
                  <a:lnTo>
                    <a:pt x="101600" y="223520"/>
                  </a:lnTo>
                  <a:cubicBezTo>
                    <a:pt x="45466" y="223520"/>
                    <a:pt x="0" y="178054"/>
                    <a:pt x="0" y="121920"/>
                  </a:cubicBezTo>
                  <a:lnTo>
                    <a:pt x="0" y="101600"/>
                  </a:lnTo>
                  <a:cubicBezTo>
                    <a:pt x="0" y="45466"/>
                    <a:pt x="45466" y="0"/>
                    <a:pt x="101600" y="0"/>
                  </a:cubicBezTo>
                  <a:close/>
                </a:path>
              </a:pathLst>
            </a:custGeom>
            <a:solidFill>
              <a:srgbClr val="28766D"/>
            </a:solidFill>
          </p:spPr>
        </p:sp>
      </p:grpSp>
      <p:grpSp>
        <p:nvGrpSpPr>
          <p:cNvPr name="Group 25" id="25"/>
          <p:cNvGrpSpPr/>
          <p:nvPr/>
        </p:nvGrpSpPr>
        <p:grpSpPr>
          <a:xfrm rot="0">
            <a:off x="8052435" y="3750564"/>
            <a:ext cx="1927860" cy="117348"/>
            <a:chOff x="0" y="0"/>
            <a:chExt cx="2570480" cy="156464"/>
          </a:xfrm>
        </p:grpSpPr>
        <p:sp>
          <p:nvSpPr>
            <p:cNvPr name="Freeform 26" id="26"/>
            <p:cNvSpPr/>
            <p:nvPr/>
          </p:nvSpPr>
          <p:spPr>
            <a:xfrm flipH="false" flipV="false" rot="0">
              <a:off x="0" y="0"/>
              <a:ext cx="2570480" cy="156464"/>
            </a:xfrm>
            <a:custGeom>
              <a:avLst/>
              <a:gdLst/>
              <a:ahLst/>
              <a:cxnLst/>
              <a:rect r="r" b="b" t="t" l="l"/>
              <a:pathLst>
                <a:path h="156464" w="2570480">
                  <a:moveTo>
                    <a:pt x="78232" y="0"/>
                  </a:moveTo>
                  <a:lnTo>
                    <a:pt x="2492248" y="0"/>
                  </a:lnTo>
                  <a:cubicBezTo>
                    <a:pt x="2535428" y="0"/>
                    <a:pt x="2570480" y="35052"/>
                    <a:pt x="2570480" y="78232"/>
                  </a:cubicBezTo>
                  <a:cubicBezTo>
                    <a:pt x="2570480" y="121412"/>
                    <a:pt x="2535428" y="156464"/>
                    <a:pt x="2492248" y="156464"/>
                  </a:cubicBezTo>
                  <a:lnTo>
                    <a:pt x="78232" y="156464"/>
                  </a:lnTo>
                  <a:cubicBezTo>
                    <a:pt x="35052" y="156464"/>
                    <a:pt x="0" y="121412"/>
                    <a:pt x="0" y="78232"/>
                  </a:cubicBezTo>
                  <a:cubicBezTo>
                    <a:pt x="0" y="35052"/>
                    <a:pt x="35052" y="0"/>
                    <a:pt x="78232" y="0"/>
                  </a:cubicBezTo>
                  <a:close/>
                </a:path>
              </a:pathLst>
            </a:custGeom>
            <a:solidFill>
              <a:srgbClr val="173A45"/>
            </a:solidFill>
          </p:spPr>
        </p:sp>
      </p:grpSp>
      <p:grpSp>
        <p:nvGrpSpPr>
          <p:cNvPr name="Group 27" id="27"/>
          <p:cNvGrpSpPr/>
          <p:nvPr/>
        </p:nvGrpSpPr>
        <p:grpSpPr>
          <a:xfrm rot="0">
            <a:off x="8806815" y="3591306"/>
            <a:ext cx="461010" cy="167640"/>
            <a:chOff x="0" y="0"/>
            <a:chExt cx="614680" cy="223520"/>
          </a:xfrm>
        </p:grpSpPr>
        <p:sp>
          <p:nvSpPr>
            <p:cNvPr name="Freeform 28" id="28"/>
            <p:cNvSpPr/>
            <p:nvPr/>
          </p:nvSpPr>
          <p:spPr>
            <a:xfrm flipH="false" flipV="false" rot="0">
              <a:off x="0" y="0"/>
              <a:ext cx="614680" cy="223520"/>
            </a:xfrm>
            <a:custGeom>
              <a:avLst/>
              <a:gdLst/>
              <a:ahLst/>
              <a:cxnLst/>
              <a:rect r="r" b="b" t="t" l="l"/>
              <a:pathLst>
                <a:path h="223520" w="614680">
                  <a:moveTo>
                    <a:pt x="111760" y="0"/>
                  </a:moveTo>
                  <a:lnTo>
                    <a:pt x="502920" y="0"/>
                  </a:lnTo>
                  <a:cubicBezTo>
                    <a:pt x="564642" y="0"/>
                    <a:pt x="614680" y="50038"/>
                    <a:pt x="614680" y="111760"/>
                  </a:cubicBezTo>
                  <a:cubicBezTo>
                    <a:pt x="614680" y="173482"/>
                    <a:pt x="564642" y="223520"/>
                    <a:pt x="502920" y="223520"/>
                  </a:cubicBezTo>
                  <a:lnTo>
                    <a:pt x="111760" y="223520"/>
                  </a:lnTo>
                  <a:cubicBezTo>
                    <a:pt x="50038" y="223520"/>
                    <a:pt x="0" y="173482"/>
                    <a:pt x="0" y="111760"/>
                  </a:cubicBezTo>
                  <a:cubicBezTo>
                    <a:pt x="0" y="50038"/>
                    <a:pt x="50038" y="0"/>
                    <a:pt x="111760" y="0"/>
                  </a:cubicBezTo>
                  <a:close/>
                </a:path>
              </a:pathLst>
            </a:custGeom>
            <a:solidFill>
              <a:srgbClr val="173A45"/>
            </a:solidFill>
          </p:spPr>
        </p:sp>
      </p:grpSp>
      <p:grpSp>
        <p:nvGrpSpPr>
          <p:cNvPr name="Group 29" id="29"/>
          <p:cNvGrpSpPr/>
          <p:nvPr/>
        </p:nvGrpSpPr>
        <p:grpSpPr>
          <a:xfrm rot="0">
            <a:off x="8555355" y="3314700"/>
            <a:ext cx="67056" cy="209550"/>
            <a:chOff x="0" y="0"/>
            <a:chExt cx="89408" cy="279400"/>
          </a:xfrm>
        </p:grpSpPr>
        <p:sp>
          <p:nvSpPr>
            <p:cNvPr name="Freeform 30" id="30"/>
            <p:cNvSpPr/>
            <p:nvPr/>
          </p:nvSpPr>
          <p:spPr>
            <a:xfrm flipH="false" flipV="false" rot="0">
              <a:off x="0" y="0"/>
              <a:ext cx="89408" cy="279400"/>
            </a:xfrm>
            <a:custGeom>
              <a:avLst/>
              <a:gdLst/>
              <a:ahLst/>
              <a:cxnLst/>
              <a:rect r="r" b="b" t="t" l="l"/>
              <a:pathLst>
                <a:path h="279400" w="89408">
                  <a:moveTo>
                    <a:pt x="44704" y="0"/>
                  </a:moveTo>
                  <a:cubicBezTo>
                    <a:pt x="69342" y="0"/>
                    <a:pt x="89408" y="20066"/>
                    <a:pt x="89408" y="44704"/>
                  </a:cubicBezTo>
                  <a:lnTo>
                    <a:pt x="89408" y="234696"/>
                  </a:lnTo>
                  <a:cubicBezTo>
                    <a:pt x="89408" y="259334"/>
                    <a:pt x="69342" y="279400"/>
                    <a:pt x="44704" y="279400"/>
                  </a:cubicBezTo>
                  <a:cubicBezTo>
                    <a:pt x="20066" y="279400"/>
                    <a:pt x="0" y="259334"/>
                    <a:pt x="0" y="234696"/>
                  </a:cubicBezTo>
                  <a:lnTo>
                    <a:pt x="0" y="44704"/>
                  </a:lnTo>
                  <a:cubicBezTo>
                    <a:pt x="0" y="20066"/>
                    <a:pt x="20066" y="0"/>
                    <a:pt x="44704" y="0"/>
                  </a:cubicBezTo>
                  <a:close/>
                </a:path>
              </a:pathLst>
            </a:custGeom>
            <a:solidFill>
              <a:srgbClr val="AC4D31"/>
            </a:solidFill>
          </p:spPr>
        </p:sp>
      </p:grpSp>
      <p:grpSp>
        <p:nvGrpSpPr>
          <p:cNvPr name="Group 31" id="31"/>
          <p:cNvGrpSpPr/>
          <p:nvPr/>
        </p:nvGrpSpPr>
        <p:grpSpPr>
          <a:xfrm rot="0">
            <a:off x="8974455" y="3230880"/>
            <a:ext cx="67056" cy="293370"/>
            <a:chOff x="0" y="0"/>
            <a:chExt cx="89408" cy="391160"/>
          </a:xfrm>
        </p:grpSpPr>
        <p:sp>
          <p:nvSpPr>
            <p:cNvPr name="Freeform 32" id="32"/>
            <p:cNvSpPr/>
            <p:nvPr/>
          </p:nvSpPr>
          <p:spPr>
            <a:xfrm flipH="false" flipV="false" rot="0">
              <a:off x="0" y="0"/>
              <a:ext cx="89408" cy="391160"/>
            </a:xfrm>
            <a:custGeom>
              <a:avLst/>
              <a:gdLst/>
              <a:ahLst/>
              <a:cxnLst/>
              <a:rect r="r" b="b" t="t" l="l"/>
              <a:pathLst>
                <a:path h="391160" w="89408">
                  <a:moveTo>
                    <a:pt x="44704" y="0"/>
                  </a:moveTo>
                  <a:cubicBezTo>
                    <a:pt x="69342" y="0"/>
                    <a:pt x="89408" y="20066"/>
                    <a:pt x="89408" y="44704"/>
                  </a:cubicBezTo>
                  <a:lnTo>
                    <a:pt x="89408" y="346456"/>
                  </a:lnTo>
                  <a:cubicBezTo>
                    <a:pt x="89408" y="371094"/>
                    <a:pt x="69342" y="391160"/>
                    <a:pt x="44704" y="391160"/>
                  </a:cubicBezTo>
                  <a:cubicBezTo>
                    <a:pt x="20066" y="391160"/>
                    <a:pt x="0" y="371094"/>
                    <a:pt x="0" y="346456"/>
                  </a:cubicBezTo>
                  <a:lnTo>
                    <a:pt x="0" y="44704"/>
                  </a:lnTo>
                  <a:cubicBezTo>
                    <a:pt x="0" y="20066"/>
                    <a:pt x="20066" y="0"/>
                    <a:pt x="44704" y="0"/>
                  </a:cubicBezTo>
                  <a:close/>
                </a:path>
              </a:pathLst>
            </a:custGeom>
            <a:solidFill>
              <a:srgbClr val="AC4D31"/>
            </a:solidFill>
          </p:spPr>
        </p:sp>
      </p:grpSp>
      <p:grpSp>
        <p:nvGrpSpPr>
          <p:cNvPr name="Group 33" id="33"/>
          <p:cNvGrpSpPr/>
          <p:nvPr/>
        </p:nvGrpSpPr>
        <p:grpSpPr>
          <a:xfrm rot="0">
            <a:off x="9393555" y="3314700"/>
            <a:ext cx="67056" cy="209550"/>
            <a:chOff x="0" y="0"/>
            <a:chExt cx="89408" cy="279400"/>
          </a:xfrm>
        </p:grpSpPr>
        <p:sp>
          <p:nvSpPr>
            <p:cNvPr name="Freeform 34" id="34"/>
            <p:cNvSpPr/>
            <p:nvPr/>
          </p:nvSpPr>
          <p:spPr>
            <a:xfrm flipH="false" flipV="false" rot="0">
              <a:off x="0" y="0"/>
              <a:ext cx="89408" cy="279400"/>
            </a:xfrm>
            <a:custGeom>
              <a:avLst/>
              <a:gdLst/>
              <a:ahLst/>
              <a:cxnLst/>
              <a:rect r="r" b="b" t="t" l="l"/>
              <a:pathLst>
                <a:path h="279400" w="89408">
                  <a:moveTo>
                    <a:pt x="44704" y="0"/>
                  </a:moveTo>
                  <a:cubicBezTo>
                    <a:pt x="69342" y="0"/>
                    <a:pt x="89408" y="20066"/>
                    <a:pt x="89408" y="44704"/>
                  </a:cubicBezTo>
                  <a:lnTo>
                    <a:pt x="89408" y="234696"/>
                  </a:lnTo>
                  <a:cubicBezTo>
                    <a:pt x="89408" y="259334"/>
                    <a:pt x="69342" y="279400"/>
                    <a:pt x="44704" y="279400"/>
                  </a:cubicBezTo>
                  <a:cubicBezTo>
                    <a:pt x="20066" y="279400"/>
                    <a:pt x="0" y="259334"/>
                    <a:pt x="0" y="234696"/>
                  </a:cubicBezTo>
                  <a:lnTo>
                    <a:pt x="0" y="44704"/>
                  </a:lnTo>
                  <a:cubicBezTo>
                    <a:pt x="0" y="20066"/>
                    <a:pt x="20066" y="0"/>
                    <a:pt x="44704" y="0"/>
                  </a:cubicBezTo>
                  <a:close/>
                </a:path>
              </a:pathLst>
            </a:custGeom>
            <a:solidFill>
              <a:srgbClr val="AC4D31"/>
            </a:solidFill>
          </p:spPr>
        </p:sp>
      </p:grpSp>
      <p:grpSp>
        <p:nvGrpSpPr>
          <p:cNvPr name="Group 35" id="35"/>
          <p:cNvGrpSpPr/>
          <p:nvPr/>
        </p:nvGrpSpPr>
        <p:grpSpPr>
          <a:xfrm rot="0">
            <a:off x="13333095" y="2938558"/>
            <a:ext cx="1424940" cy="1885950"/>
            <a:chOff x="0" y="0"/>
            <a:chExt cx="1899920" cy="2514600"/>
          </a:xfrm>
        </p:grpSpPr>
        <p:sp>
          <p:nvSpPr>
            <p:cNvPr name="Freeform 36" id="36"/>
            <p:cNvSpPr/>
            <p:nvPr/>
          </p:nvSpPr>
          <p:spPr>
            <a:xfrm flipH="false" flipV="false" rot="0">
              <a:off x="0" y="0"/>
              <a:ext cx="1899920" cy="2514600"/>
            </a:xfrm>
            <a:custGeom>
              <a:avLst/>
              <a:gdLst/>
              <a:ahLst/>
              <a:cxnLst/>
              <a:rect r="r" b="b" t="t" l="l"/>
              <a:pathLst>
                <a:path h="2514600" w="1899920">
                  <a:moveTo>
                    <a:pt x="43180" y="0"/>
                  </a:moveTo>
                  <a:lnTo>
                    <a:pt x="1856740" y="0"/>
                  </a:lnTo>
                  <a:cubicBezTo>
                    <a:pt x="1880616" y="0"/>
                    <a:pt x="1899920" y="19304"/>
                    <a:pt x="1899920" y="43180"/>
                  </a:cubicBezTo>
                  <a:lnTo>
                    <a:pt x="1899920" y="2471420"/>
                  </a:lnTo>
                  <a:cubicBezTo>
                    <a:pt x="1899920" y="2495296"/>
                    <a:pt x="1880616" y="2514600"/>
                    <a:pt x="1856740" y="2514600"/>
                  </a:cubicBezTo>
                  <a:lnTo>
                    <a:pt x="43180" y="2514600"/>
                  </a:lnTo>
                  <a:cubicBezTo>
                    <a:pt x="19304" y="2514600"/>
                    <a:pt x="0" y="2495296"/>
                    <a:pt x="0" y="2471420"/>
                  </a:cubicBezTo>
                  <a:lnTo>
                    <a:pt x="0" y="43180"/>
                  </a:lnTo>
                  <a:cubicBezTo>
                    <a:pt x="0" y="19304"/>
                    <a:pt x="19304" y="0"/>
                    <a:pt x="43180" y="0"/>
                  </a:cubicBezTo>
                  <a:close/>
                </a:path>
              </a:pathLst>
            </a:custGeom>
            <a:solidFill>
              <a:srgbClr val="FFFFFF"/>
            </a:solidFill>
          </p:spPr>
        </p:sp>
        <p:sp>
          <p:nvSpPr>
            <p:cNvPr name="Freeform 37" id="37"/>
            <p:cNvSpPr/>
            <p:nvPr/>
          </p:nvSpPr>
          <p:spPr>
            <a:xfrm flipH="false" flipV="false" rot="0">
              <a:off x="0" y="0"/>
              <a:ext cx="1899920" cy="2514600"/>
            </a:xfrm>
            <a:custGeom>
              <a:avLst/>
              <a:gdLst/>
              <a:ahLst/>
              <a:cxnLst/>
              <a:rect r="r" b="b" t="t" l="l"/>
              <a:pathLst>
                <a:path h="2514600" w="1899920">
                  <a:moveTo>
                    <a:pt x="43180" y="0"/>
                  </a:moveTo>
                  <a:lnTo>
                    <a:pt x="1856740" y="0"/>
                  </a:lnTo>
                  <a:cubicBezTo>
                    <a:pt x="1880616" y="0"/>
                    <a:pt x="1899920" y="19304"/>
                    <a:pt x="1899920" y="43180"/>
                  </a:cubicBezTo>
                  <a:lnTo>
                    <a:pt x="1899920" y="2471420"/>
                  </a:lnTo>
                  <a:cubicBezTo>
                    <a:pt x="1899920" y="2495296"/>
                    <a:pt x="1880616" y="2514600"/>
                    <a:pt x="1856740" y="2514600"/>
                  </a:cubicBezTo>
                  <a:lnTo>
                    <a:pt x="43180" y="2514600"/>
                  </a:lnTo>
                  <a:cubicBezTo>
                    <a:pt x="19304" y="2514600"/>
                    <a:pt x="0" y="2495296"/>
                    <a:pt x="0" y="2471420"/>
                  </a:cubicBezTo>
                  <a:lnTo>
                    <a:pt x="0" y="43180"/>
                  </a:lnTo>
                  <a:cubicBezTo>
                    <a:pt x="0" y="19304"/>
                    <a:pt x="19304" y="0"/>
                    <a:pt x="43180" y="0"/>
                  </a:cubicBezTo>
                  <a:close/>
                </a:path>
              </a:pathLst>
            </a:custGeom>
            <a:solidFill>
              <a:srgbClr val="000000">
                <a:alpha val="0"/>
              </a:srgbClr>
            </a:solidFill>
            <a:ln w="28575" cap="sq">
              <a:solidFill>
                <a:srgbClr val="173A45"/>
              </a:solidFill>
              <a:prstDash val="solid"/>
              <a:miter/>
            </a:ln>
          </p:spPr>
        </p:sp>
      </p:grpSp>
      <p:sp>
        <p:nvSpPr>
          <p:cNvPr name="TextBox 38" id="38"/>
          <p:cNvSpPr txBox="true"/>
          <p:nvPr/>
        </p:nvSpPr>
        <p:spPr>
          <a:xfrm rot="0">
            <a:off x="13689330" y="2956655"/>
            <a:ext cx="712470" cy="829437"/>
          </a:xfrm>
          <a:prstGeom prst="rect">
            <a:avLst/>
          </a:prstGeom>
        </p:spPr>
        <p:txBody>
          <a:bodyPr anchor="t" rtlCol="false" tIns="0" lIns="0" bIns="0" rIns="0">
            <a:spAutoFit/>
          </a:bodyPr>
          <a:lstStyle/>
          <a:p>
            <a:pPr algn="ctr">
              <a:lnSpc>
                <a:spcPts val="6013"/>
              </a:lnSpc>
            </a:pPr>
            <a:r>
              <a:rPr lang="en-US" b="true" sz="4488">
                <a:solidFill>
                  <a:srgbClr val="AC4D31"/>
                </a:solidFill>
                <a:latin typeface="Sarabun Semi-Bold"/>
                <a:ea typeface="Sarabun Semi-Bold"/>
                <a:cs typeface="Sarabun Semi-Bold"/>
                <a:sym typeface="Sarabun Semi-Bold"/>
              </a:rPr>
              <a:t>฿</a:t>
            </a:r>
          </a:p>
        </p:txBody>
      </p:sp>
      <p:sp>
        <p:nvSpPr>
          <p:cNvPr name="AutoShape 39" id="39"/>
          <p:cNvSpPr/>
          <p:nvPr/>
        </p:nvSpPr>
        <p:spPr>
          <a:xfrm rot="0">
            <a:off x="13546836" y="3899344"/>
            <a:ext cx="997458" cy="33528"/>
          </a:xfrm>
          <a:prstGeom prst="rect">
            <a:avLst/>
          </a:prstGeom>
          <a:solidFill>
            <a:srgbClr val="173A45"/>
          </a:solidFill>
        </p:spPr>
      </p:sp>
      <p:sp>
        <p:nvSpPr>
          <p:cNvPr name="AutoShape 40" id="40"/>
          <p:cNvSpPr/>
          <p:nvPr/>
        </p:nvSpPr>
        <p:spPr>
          <a:xfrm rot="0">
            <a:off x="13546836" y="4148709"/>
            <a:ext cx="997458" cy="33528"/>
          </a:xfrm>
          <a:prstGeom prst="rect">
            <a:avLst/>
          </a:prstGeom>
          <a:solidFill>
            <a:srgbClr val="173A45"/>
          </a:solidFill>
        </p:spPr>
      </p:sp>
      <p:sp>
        <p:nvSpPr>
          <p:cNvPr name="AutoShape 41" id="41"/>
          <p:cNvSpPr/>
          <p:nvPr/>
        </p:nvSpPr>
        <p:spPr>
          <a:xfrm rot="0">
            <a:off x="13545788" y="4398074"/>
            <a:ext cx="678942" cy="33528"/>
          </a:xfrm>
          <a:prstGeom prst="rect">
            <a:avLst/>
          </a:prstGeom>
          <a:solidFill>
            <a:srgbClr val="173A45"/>
          </a:solidFill>
        </p:spPr>
      </p:sp>
      <p:sp>
        <p:nvSpPr>
          <p:cNvPr name="TextBox 42" id="42"/>
          <p:cNvSpPr txBox="true"/>
          <p:nvPr/>
        </p:nvSpPr>
        <p:spPr>
          <a:xfrm rot="0">
            <a:off x="5118735" y="3591782"/>
            <a:ext cx="192786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TextBox 43" id="43"/>
          <p:cNvSpPr txBox="true"/>
          <p:nvPr/>
        </p:nvSpPr>
        <p:spPr>
          <a:xfrm rot="0">
            <a:off x="10483215" y="3591782"/>
            <a:ext cx="192786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TextBox 44" id="44"/>
          <p:cNvSpPr txBox="true"/>
          <p:nvPr/>
        </p:nvSpPr>
        <p:spPr>
          <a:xfrm rot="0">
            <a:off x="2143125" y="5632895"/>
            <a:ext cx="3604260" cy="523113"/>
          </a:xfrm>
          <a:prstGeom prst="rect">
            <a:avLst/>
          </a:prstGeom>
        </p:spPr>
        <p:txBody>
          <a:bodyPr anchor="t" rtlCol="false" tIns="0" lIns="0" bIns="0" rIns="0">
            <a:spAutoFit/>
          </a:bodyPr>
          <a:lstStyle/>
          <a:p>
            <a:pPr algn="ctr">
              <a:lnSpc>
                <a:spcPts val="3891"/>
              </a:lnSpc>
            </a:pPr>
            <a:r>
              <a:rPr lang="en-US" b="true" sz="2904">
                <a:solidFill>
                  <a:srgbClr val="173A45"/>
                </a:solidFill>
                <a:latin typeface="Sarabun Semi-Bold"/>
                <a:ea typeface="Sarabun Semi-Bold"/>
                <a:cs typeface="Sarabun Semi-Bold"/>
                <a:sym typeface="Sarabun Semi-Bold"/>
              </a:rPr>
              <a:t>เปิดโต๊ะ + QR</a:t>
            </a:r>
          </a:p>
        </p:txBody>
      </p:sp>
      <p:sp>
        <p:nvSpPr>
          <p:cNvPr name="TextBox 45" id="45"/>
          <p:cNvSpPr txBox="true"/>
          <p:nvPr/>
        </p:nvSpPr>
        <p:spPr>
          <a:xfrm rot="0">
            <a:off x="7298055" y="5632895"/>
            <a:ext cx="3855720" cy="523113"/>
          </a:xfrm>
          <a:prstGeom prst="rect">
            <a:avLst/>
          </a:prstGeom>
        </p:spPr>
        <p:txBody>
          <a:bodyPr anchor="t" rtlCol="false" tIns="0" lIns="0" bIns="0" rIns="0">
            <a:spAutoFit/>
          </a:bodyPr>
          <a:lstStyle/>
          <a:p>
            <a:pPr algn="ctr">
              <a:lnSpc>
                <a:spcPts val="3891"/>
              </a:lnSpc>
            </a:pPr>
            <a:r>
              <a:rPr lang="en-US" b="true" sz="2904">
                <a:solidFill>
                  <a:srgbClr val="173A45"/>
                </a:solidFill>
                <a:latin typeface="Sarabun Semi-Bold"/>
                <a:ea typeface="Sarabun Semi-Bold"/>
                <a:cs typeface="Sarabun Semi-Bold"/>
                <a:sym typeface="Sarabun Semi-Bold"/>
              </a:rPr>
              <a:t>สั่ง · ครัว · สต๊อก</a:t>
            </a:r>
          </a:p>
        </p:txBody>
      </p:sp>
      <p:sp>
        <p:nvSpPr>
          <p:cNvPr name="TextBox 46" id="46"/>
          <p:cNvSpPr txBox="true"/>
          <p:nvPr/>
        </p:nvSpPr>
        <p:spPr>
          <a:xfrm rot="0">
            <a:off x="12285345" y="5632895"/>
            <a:ext cx="3855720" cy="523113"/>
          </a:xfrm>
          <a:prstGeom prst="rect">
            <a:avLst/>
          </a:prstGeom>
        </p:spPr>
        <p:txBody>
          <a:bodyPr anchor="t" rtlCol="false" tIns="0" lIns="0" bIns="0" rIns="0">
            <a:spAutoFit/>
          </a:bodyPr>
          <a:lstStyle/>
          <a:p>
            <a:pPr algn="ctr">
              <a:lnSpc>
                <a:spcPts val="3891"/>
              </a:lnSpc>
            </a:pPr>
            <a:r>
              <a:rPr lang="en-US" b="true" sz="2904">
                <a:solidFill>
                  <a:srgbClr val="173A45"/>
                </a:solidFill>
                <a:latin typeface="Sarabun Semi-Bold"/>
                <a:ea typeface="Sarabun Semi-Bold"/>
                <a:cs typeface="Sarabun Semi-Bold"/>
                <a:sym typeface="Sarabun Semi-Bold"/>
              </a:rPr>
              <a:t>ชำระ + ปิดรอบ</a:t>
            </a:r>
          </a:p>
        </p:txBody>
      </p:sp>
      <p:grpSp>
        <p:nvGrpSpPr>
          <p:cNvPr name="Group 47" id="47"/>
          <p:cNvGrpSpPr/>
          <p:nvPr/>
        </p:nvGrpSpPr>
        <p:grpSpPr>
          <a:xfrm rot="0">
            <a:off x="2981325" y="6625590"/>
            <a:ext cx="2011680" cy="502920"/>
            <a:chOff x="0" y="0"/>
            <a:chExt cx="2682240" cy="670560"/>
          </a:xfrm>
        </p:grpSpPr>
        <p:sp>
          <p:nvSpPr>
            <p:cNvPr name="Freeform 48" id="48"/>
            <p:cNvSpPr/>
            <p:nvPr/>
          </p:nvSpPr>
          <p:spPr>
            <a:xfrm flipH="false" flipV="false" rot="0">
              <a:off x="0" y="0"/>
              <a:ext cx="2682240" cy="670560"/>
            </a:xfrm>
            <a:custGeom>
              <a:avLst/>
              <a:gdLst/>
              <a:ahLst/>
              <a:cxnLst/>
              <a:rect r="r" b="b" t="t" l="l"/>
              <a:pathLst>
                <a:path h="670560" w="2682240">
                  <a:moveTo>
                    <a:pt x="335280" y="0"/>
                  </a:moveTo>
                  <a:lnTo>
                    <a:pt x="2346960" y="0"/>
                  </a:lnTo>
                  <a:cubicBezTo>
                    <a:pt x="2532126" y="0"/>
                    <a:pt x="2682240" y="150114"/>
                    <a:pt x="2682240" y="335280"/>
                  </a:cubicBezTo>
                  <a:cubicBezTo>
                    <a:pt x="2682240" y="520446"/>
                    <a:pt x="2532126" y="670560"/>
                    <a:pt x="234696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49" id="49"/>
          <p:cNvSpPr txBox="true"/>
          <p:nvPr/>
        </p:nvSpPr>
        <p:spPr>
          <a:xfrm rot="0">
            <a:off x="3081909" y="6682740"/>
            <a:ext cx="181051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0:00–0:55</a:t>
            </a:r>
          </a:p>
        </p:txBody>
      </p:sp>
      <p:grpSp>
        <p:nvGrpSpPr>
          <p:cNvPr name="Group 50" id="50"/>
          <p:cNvGrpSpPr/>
          <p:nvPr/>
        </p:nvGrpSpPr>
        <p:grpSpPr>
          <a:xfrm rot="0">
            <a:off x="8220075" y="6625590"/>
            <a:ext cx="2011680" cy="502920"/>
            <a:chOff x="0" y="0"/>
            <a:chExt cx="2682240" cy="670560"/>
          </a:xfrm>
        </p:grpSpPr>
        <p:sp>
          <p:nvSpPr>
            <p:cNvPr name="Freeform 51" id="51"/>
            <p:cNvSpPr/>
            <p:nvPr/>
          </p:nvSpPr>
          <p:spPr>
            <a:xfrm flipH="false" flipV="false" rot="0">
              <a:off x="0" y="0"/>
              <a:ext cx="2682240" cy="670560"/>
            </a:xfrm>
            <a:custGeom>
              <a:avLst/>
              <a:gdLst/>
              <a:ahLst/>
              <a:cxnLst/>
              <a:rect r="r" b="b" t="t" l="l"/>
              <a:pathLst>
                <a:path h="670560" w="2682240">
                  <a:moveTo>
                    <a:pt x="335280" y="0"/>
                  </a:moveTo>
                  <a:lnTo>
                    <a:pt x="2346960" y="0"/>
                  </a:lnTo>
                  <a:cubicBezTo>
                    <a:pt x="2532126" y="0"/>
                    <a:pt x="2682240" y="150114"/>
                    <a:pt x="2682240" y="335280"/>
                  </a:cubicBezTo>
                  <a:cubicBezTo>
                    <a:pt x="2682240" y="520446"/>
                    <a:pt x="2532126" y="670560"/>
                    <a:pt x="234696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52" id="52"/>
          <p:cNvSpPr txBox="true"/>
          <p:nvPr/>
        </p:nvSpPr>
        <p:spPr>
          <a:xfrm rot="0">
            <a:off x="8320659" y="6682740"/>
            <a:ext cx="181051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0:55–2:15</a:t>
            </a:r>
          </a:p>
        </p:txBody>
      </p:sp>
      <p:grpSp>
        <p:nvGrpSpPr>
          <p:cNvPr name="Group 53" id="53"/>
          <p:cNvGrpSpPr/>
          <p:nvPr/>
        </p:nvGrpSpPr>
        <p:grpSpPr>
          <a:xfrm rot="0">
            <a:off x="13249275" y="6625590"/>
            <a:ext cx="2011680" cy="502920"/>
            <a:chOff x="0" y="0"/>
            <a:chExt cx="2682240" cy="670560"/>
          </a:xfrm>
        </p:grpSpPr>
        <p:sp>
          <p:nvSpPr>
            <p:cNvPr name="Freeform 54" id="54"/>
            <p:cNvSpPr/>
            <p:nvPr/>
          </p:nvSpPr>
          <p:spPr>
            <a:xfrm flipH="false" flipV="false" rot="0">
              <a:off x="0" y="0"/>
              <a:ext cx="2682240" cy="670560"/>
            </a:xfrm>
            <a:custGeom>
              <a:avLst/>
              <a:gdLst/>
              <a:ahLst/>
              <a:cxnLst/>
              <a:rect r="r" b="b" t="t" l="l"/>
              <a:pathLst>
                <a:path h="670560" w="2682240">
                  <a:moveTo>
                    <a:pt x="335280" y="0"/>
                  </a:moveTo>
                  <a:lnTo>
                    <a:pt x="2346960" y="0"/>
                  </a:lnTo>
                  <a:cubicBezTo>
                    <a:pt x="2532126" y="0"/>
                    <a:pt x="2682240" y="150114"/>
                    <a:pt x="2682240" y="335280"/>
                  </a:cubicBezTo>
                  <a:cubicBezTo>
                    <a:pt x="2682240" y="520446"/>
                    <a:pt x="2532126" y="670560"/>
                    <a:pt x="234696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55" id="55"/>
          <p:cNvSpPr txBox="true"/>
          <p:nvPr/>
        </p:nvSpPr>
        <p:spPr>
          <a:xfrm rot="0">
            <a:off x="13349859" y="6682740"/>
            <a:ext cx="181051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2:15–3:30</a:t>
            </a:r>
          </a:p>
        </p:txBody>
      </p:sp>
      <p:sp>
        <p:nvSpPr>
          <p:cNvPr name="TextBox 56" id="56"/>
          <p:cNvSpPr txBox="true"/>
          <p:nvPr/>
        </p:nvSpPr>
        <p:spPr>
          <a:xfrm rot="0">
            <a:off x="2017395" y="8103679"/>
            <a:ext cx="14249400" cy="313563"/>
          </a:xfrm>
          <a:prstGeom prst="rect">
            <a:avLst/>
          </a:prstGeom>
        </p:spPr>
        <p:txBody>
          <a:bodyPr anchor="t" rtlCol="false" tIns="0" lIns="0" bIns="0" rIns="0">
            <a:spAutoFit/>
          </a:bodyPr>
          <a:lstStyle/>
          <a:p>
            <a:pPr algn="l">
              <a:lnSpc>
                <a:spcPts val="2211"/>
              </a:lnSpc>
            </a:pPr>
            <a:r>
              <a:rPr lang="en-US" sz="1650">
                <a:solidFill>
                  <a:srgbClr val="647477"/>
                </a:solidFill>
                <a:latin typeface="Sarabun"/>
                <a:ea typeface="Sarabun"/>
                <a:cs typeface="Sarabun"/>
                <a:sym typeface="Sarabun"/>
              </a:rPr>
              <a:t>buffet-restaurant-management.onrender.com · เตรียมข้อมูลและซ้อมก่อนใช้งานจริง</a:t>
            </a:r>
          </a:p>
        </p:txBody>
      </p:sp>
      <p:sp>
        <p:nvSpPr>
          <p:cNvPr name="TextBox 57" id="57"/>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สาธิตหนึ่งรอบโต๊ะ ตั้งแต่เปิด QR จนชำระเงินและปิดรอบ ระหว่างทางแสดงว่าสต๊อกลดลงตอนครัวเริ่มทำอาหาร</a:t>
            </a:r>
          </a:p>
        </p:txBody>
      </p:sp>
      <p:sp>
        <p:nvSpPr>
          <p:cNvPr name="TextBox 58" id="58"/>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sirapat_673380293-3_01</a:t>
            </a:r>
          </a:p>
        </p:txBody>
      </p:sp>
      <p:sp>
        <p:nvSpPr>
          <p:cNvPr name="TextBox 59" id="59"/>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210 วินาที · 9/10</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กฎชัด ทดสอบได้ หลักฐานตามรุ่น</a:t>
            </a:r>
          </a:p>
        </p:txBody>
      </p:sp>
      <p:grpSp>
        <p:nvGrpSpPr>
          <p:cNvPr name="Group 5" id="5"/>
          <p:cNvGrpSpPr/>
          <p:nvPr/>
        </p:nvGrpSpPr>
        <p:grpSpPr>
          <a:xfrm rot="0">
            <a:off x="3718941" y="2895600"/>
            <a:ext cx="922020" cy="1014222"/>
            <a:chOff x="0" y="0"/>
            <a:chExt cx="1229360" cy="1352296"/>
          </a:xfrm>
        </p:grpSpPr>
        <p:sp>
          <p:nvSpPr>
            <p:cNvPr name="Freeform 6" id="6"/>
            <p:cNvSpPr/>
            <p:nvPr/>
          </p:nvSpPr>
          <p:spPr>
            <a:xfrm flipH="false" flipV="false" rot="0">
              <a:off x="0" y="0"/>
              <a:ext cx="1229360" cy="1352296"/>
            </a:xfrm>
            <a:custGeom>
              <a:avLst/>
              <a:gdLst/>
              <a:ahLst/>
              <a:cxnLst/>
              <a:rect r="r" b="b" t="t" l="l"/>
              <a:pathLst>
                <a:path h="1352296" w="1229360">
                  <a:moveTo>
                    <a:pt x="614680" y="0"/>
                  </a:moveTo>
                  <a:cubicBezTo>
                    <a:pt x="954151" y="0"/>
                    <a:pt x="1229360" y="275209"/>
                    <a:pt x="1229360" y="614680"/>
                  </a:cubicBezTo>
                  <a:lnTo>
                    <a:pt x="1229360" y="737616"/>
                  </a:lnTo>
                  <a:cubicBezTo>
                    <a:pt x="1229360" y="1077087"/>
                    <a:pt x="954151" y="1352296"/>
                    <a:pt x="614680" y="1352296"/>
                  </a:cubicBezTo>
                  <a:cubicBezTo>
                    <a:pt x="275209" y="1352296"/>
                    <a:pt x="0" y="1077087"/>
                    <a:pt x="0" y="737616"/>
                  </a:cubicBezTo>
                  <a:lnTo>
                    <a:pt x="0" y="614680"/>
                  </a:lnTo>
                  <a:cubicBezTo>
                    <a:pt x="0" y="275209"/>
                    <a:pt x="275209" y="0"/>
                    <a:pt x="614680" y="0"/>
                  </a:cubicBezTo>
                  <a:close/>
                </a:path>
              </a:pathLst>
            </a:custGeom>
            <a:solidFill>
              <a:srgbClr val="000000">
                <a:alpha val="0"/>
              </a:srgbClr>
            </a:solidFill>
            <a:ln w="28575" cap="sq">
              <a:solidFill>
                <a:srgbClr val="173A45"/>
              </a:solidFill>
              <a:prstDash val="solid"/>
              <a:miter/>
            </a:ln>
          </p:spPr>
        </p:sp>
      </p:grpSp>
      <p:grpSp>
        <p:nvGrpSpPr>
          <p:cNvPr name="Group 7" id="7"/>
          <p:cNvGrpSpPr/>
          <p:nvPr/>
        </p:nvGrpSpPr>
        <p:grpSpPr>
          <a:xfrm rot="0">
            <a:off x="3442335" y="3494913"/>
            <a:ext cx="1475232" cy="1198626"/>
            <a:chOff x="0" y="0"/>
            <a:chExt cx="1966976" cy="1598168"/>
          </a:xfrm>
        </p:grpSpPr>
        <p:sp>
          <p:nvSpPr>
            <p:cNvPr name="Freeform 8" id="8"/>
            <p:cNvSpPr/>
            <p:nvPr/>
          </p:nvSpPr>
          <p:spPr>
            <a:xfrm flipH="false" flipV="false" rot="0">
              <a:off x="0" y="0"/>
              <a:ext cx="1966976" cy="1598168"/>
            </a:xfrm>
            <a:custGeom>
              <a:avLst/>
              <a:gdLst/>
              <a:ahLst/>
              <a:cxnLst/>
              <a:rect r="r" b="b" t="t" l="l"/>
              <a:pathLst>
                <a:path h="1598168" w="1966976">
                  <a:moveTo>
                    <a:pt x="209550" y="0"/>
                  </a:moveTo>
                  <a:lnTo>
                    <a:pt x="1757426" y="0"/>
                  </a:lnTo>
                  <a:cubicBezTo>
                    <a:pt x="1873123" y="0"/>
                    <a:pt x="1966976" y="93853"/>
                    <a:pt x="1966976" y="209550"/>
                  </a:cubicBezTo>
                  <a:lnTo>
                    <a:pt x="1966976" y="1388618"/>
                  </a:lnTo>
                  <a:cubicBezTo>
                    <a:pt x="1966976" y="1504315"/>
                    <a:pt x="1873123" y="1598168"/>
                    <a:pt x="1757426" y="1598168"/>
                  </a:cubicBezTo>
                  <a:lnTo>
                    <a:pt x="209550" y="1598168"/>
                  </a:lnTo>
                  <a:cubicBezTo>
                    <a:pt x="93853" y="1598168"/>
                    <a:pt x="0" y="1504315"/>
                    <a:pt x="0" y="1388618"/>
                  </a:cubicBezTo>
                  <a:lnTo>
                    <a:pt x="0" y="209550"/>
                  </a:lnTo>
                  <a:cubicBezTo>
                    <a:pt x="0" y="93853"/>
                    <a:pt x="93853" y="0"/>
                    <a:pt x="209550" y="0"/>
                  </a:cubicBezTo>
                  <a:close/>
                </a:path>
              </a:pathLst>
            </a:custGeom>
            <a:solidFill>
              <a:srgbClr val="28766D"/>
            </a:solidFill>
          </p:spPr>
        </p:sp>
      </p:grpSp>
      <p:grpSp>
        <p:nvGrpSpPr>
          <p:cNvPr name="Group 9" id="9"/>
          <p:cNvGrpSpPr/>
          <p:nvPr/>
        </p:nvGrpSpPr>
        <p:grpSpPr>
          <a:xfrm rot="0">
            <a:off x="4067556" y="3862006"/>
            <a:ext cx="243078" cy="243078"/>
            <a:chOff x="0" y="0"/>
            <a:chExt cx="324104" cy="324104"/>
          </a:xfrm>
        </p:grpSpPr>
        <p:sp>
          <p:nvSpPr>
            <p:cNvPr name="Freeform 10" id="10"/>
            <p:cNvSpPr/>
            <p:nvPr/>
          </p:nvSpPr>
          <p:spPr>
            <a:xfrm flipH="false" flipV="false" rot="0">
              <a:off x="0" y="0"/>
              <a:ext cx="324104" cy="324104"/>
            </a:xfrm>
            <a:custGeom>
              <a:avLst/>
              <a:gdLst/>
              <a:ahLst/>
              <a:cxnLst/>
              <a:rect r="r" b="b" t="t" l="l"/>
              <a:pathLst>
                <a:path h="324104" w="324104">
                  <a:moveTo>
                    <a:pt x="162052" y="0"/>
                  </a:moveTo>
                  <a:cubicBezTo>
                    <a:pt x="251587" y="0"/>
                    <a:pt x="324104" y="72517"/>
                    <a:pt x="324104" y="162052"/>
                  </a:cubicBezTo>
                  <a:cubicBezTo>
                    <a:pt x="324104" y="251587"/>
                    <a:pt x="251587" y="324104"/>
                    <a:pt x="162052" y="324104"/>
                  </a:cubicBezTo>
                  <a:cubicBezTo>
                    <a:pt x="72517" y="324104"/>
                    <a:pt x="0" y="251587"/>
                    <a:pt x="0" y="162052"/>
                  </a:cubicBezTo>
                  <a:cubicBezTo>
                    <a:pt x="0" y="72517"/>
                    <a:pt x="72517" y="0"/>
                    <a:pt x="162052" y="0"/>
                  </a:cubicBezTo>
                  <a:close/>
                </a:path>
              </a:pathLst>
            </a:custGeom>
            <a:solidFill>
              <a:srgbClr val="FFFFFF"/>
            </a:solidFill>
          </p:spPr>
        </p:sp>
      </p:grpSp>
      <p:sp>
        <p:nvSpPr>
          <p:cNvPr name="AutoShape 11" id="11"/>
          <p:cNvSpPr/>
          <p:nvPr/>
        </p:nvSpPr>
        <p:spPr>
          <a:xfrm rot="0">
            <a:off x="4151757" y="4028789"/>
            <a:ext cx="83820" cy="352044"/>
          </a:xfrm>
          <a:prstGeom prst="rect">
            <a:avLst/>
          </a:prstGeom>
          <a:solidFill>
            <a:srgbClr val="FFFFFF"/>
          </a:solidFill>
        </p:spPr>
      </p:sp>
      <p:grpSp>
        <p:nvGrpSpPr>
          <p:cNvPr name="Group 12" id="12"/>
          <p:cNvGrpSpPr/>
          <p:nvPr/>
        </p:nvGrpSpPr>
        <p:grpSpPr>
          <a:xfrm rot="0">
            <a:off x="8052435" y="2895600"/>
            <a:ext cx="2095500" cy="2095500"/>
            <a:chOff x="0" y="0"/>
            <a:chExt cx="2794000" cy="2794000"/>
          </a:xfrm>
        </p:grpSpPr>
        <p:sp>
          <p:nvSpPr>
            <p:cNvPr name="Freeform 13" id="13"/>
            <p:cNvSpPr/>
            <p:nvPr/>
          </p:nvSpPr>
          <p:spPr>
            <a:xfrm flipH="false" flipV="false" rot="0">
              <a:off x="0" y="0"/>
              <a:ext cx="2794000" cy="2794000"/>
            </a:xfrm>
            <a:custGeom>
              <a:avLst/>
              <a:gdLst/>
              <a:ahLst/>
              <a:cxnLst/>
              <a:rect r="r" b="b" t="t" l="l"/>
              <a:pathLst>
                <a:path h="2794000" w="2794000">
                  <a:moveTo>
                    <a:pt x="1397000" y="0"/>
                  </a:moveTo>
                  <a:cubicBezTo>
                    <a:pt x="2168525" y="0"/>
                    <a:pt x="2794000" y="625475"/>
                    <a:pt x="2794000" y="1397000"/>
                  </a:cubicBezTo>
                  <a:cubicBezTo>
                    <a:pt x="2794000" y="2168525"/>
                    <a:pt x="2168525" y="2794000"/>
                    <a:pt x="1397000" y="2794000"/>
                  </a:cubicBezTo>
                  <a:cubicBezTo>
                    <a:pt x="625475" y="2794000"/>
                    <a:pt x="0" y="2168525"/>
                    <a:pt x="0" y="1397000"/>
                  </a:cubicBezTo>
                  <a:cubicBezTo>
                    <a:pt x="0" y="625475"/>
                    <a:pt x="625475" y="0"/>
                    <a:pt x="1397000" y="0"/>
                  </a:cubicBezTo>
                  <a:close/>
                </a:path>
              </a:pathLst>
            </a:custGeom>
            <a:solidFill>
              <a:srgbClr val="DAEBE4"/>
            </a:solidFill>
          </p:spPr>
        </p:sp>
      </p:grpSp>
      <p:sp>
        <p:nvSpPr>
          <p:cNvPr name="TextBox 14" id="14"/>
          <p:cNvSpPr txBox="true"/>
          <p:nvPr/>
        </p:nvSpPr>
        <p:spPr>
          <a:xfrm rot="0">
            <a:off x="8362569" y="2795873"/>
            <a:ext cx="1475232" cy="1768983"/>
          </a:xfrm>
          <a:prstGeom prst="rect">
            <a:avLst/>
          </a:prstGeom>
        </p:spPr>
        <p:txBody>
          <a:bodyPr anchor="t" rtlCol="false" tIns="0" lIns="0" bIns="0" rIns="0">
            <a:spAutoFit/>
          </a:bodyPr>
          <a:lstStyle/>
          <a:p>
            <a:pPr algn="ctr">
              <a:lnSpc>
                <a:spcPts val="12823"/>
              </a:lnSpc>
            </a:pPr>
            <a:r>
              <a:rPr lang="en-US" b="true" sz="9569">
                <a:solidFill>
                  <a:srgbClr val="28766D"/>
                </a:solidFill>
                <a:latin typeface="DejaVu Sans Bold"/>
                <a:ea typeface="DejaVu Sans Bold"/>
                <a:cs typeface="DejaVu Sans Bold"/>
                <a:sym typeface="DejaVu Sans Bold"/>
              </a:rPr>
              <a:t>✓</a:t>
            </a:r>
          </a:p>
        </p:txBody>
      </p:sp>
      <p:grpSp>
        <p:nvGrpSpPr>
          <p:cNvPr name="Group 15" id="15"/>
          <p:cNvGrpSpPr/>
          <p:nvPr/>
        </p:nvGrpSpPr>
        <p:grpSpPr>
          <a:xfrm rot="0">
            <a:off x="13081635" y="2894552"/>
            <a:ext cx="1592580" cy="2112264"/>
            <a:chOff x="0" y="0"/>
            <a:chExt cx="2123440" cy="2816352"/>
          </a:xfrm>
        </p:grpSpPr>
        <p:sp>
          <p:nvSpPr>
            <p:cNvPr name="Freeform 16" id="16"/>
            <p:cNvSpPr/>
            <p:nvPr/>
          </p:nvSpPr>
          <p:spPr>
            <a:xfrm flipH="false" flipV="false" rot="0">
              <a:off x="0" y="0"/>
              <a:ext cx="2123440" cy="2816352"/>
            </a:xfrm>
            <a:custGeom>
              <a:avLst/>
              <a:gdLst/>
              <a:ahLst/>
              <a:cxnLst/>
              <a:rect r="r" b="b" t="t" l="l"/>
              <a:pathLst>
                <a:path h="2816352" w="2123440">
                  <a:moveTo>
                    <a:pt x="48260" y="0"/>
                  </a:moveTo>
                  <a:lnTo>
                    <a:pt x="2075180" y="0"/>
                  </a:lnTo>
                  <a:cubicBezTo>
                    <a:pt x="2101850" y="0"/>
                    <a:pt x="2123440" y="21590"/>
                    <a:pt x="2123440" y="48260"/>
                  </a:cubicBezTo>
                  <a:lnTo>
                    <a:pt x="2123440" y="2768092"/>
                  </a:lnTo>
                  <a:cubicBezTo>
                    <a:pt x="2123440" y="2794762"/>
                    <a:pt x="2101850" y="2816352"/>
                    <a:pt x="2075180" y="2816352"/>
                  </a:cubicBezTo>
                  <a:lnTo>
                    <a:pt x="48260" y="2816352"/>
                  </a:lnTo>
                  <a:cubicBezTo>
                    <a:pt x="21590" y="2816352"/>
                    <a:pt x="0" y="2794762"/>
                    <a:pt x="0" y="2768092"/>
                  </a:cubicBezTo>
                  <a:lnTo>
                    <a:pt x="0" y="48260"/>
                  </a:lnTo>
                  <a:cubicBezTo>
                    <a:pt x="0" y="21590"/>
                    <a:pt x="21590" y="0"/>
                    <a:pt x="48260" y="0"/>
                  </a:cubicBezTo>
                  <a:close/>
                </a:path>
              </a:pathLst>
            </a:custGeom>
            <a:solidFill>
              <a:srgbClr val="FFFFFF"/>
            </a:solidFill>
          </p:spPr>
        </p:sp>
        <p:sp>
          <p:nvSpPr>
            <p:cNvPr name="Freeform 17" id="17"/>
            <p:cNvSpPr/>
            <p:nvPr/>
          </p:nvSpPr>
          <p:spPr>
            <a:xfrm flipH="false" flipV="false" rot="0">
              <a:off x="0" y="0"/>
              <a:ext cx="2123440" cy="2816352"/>
            </a:xfrm>
            <a:custGeom>
              <a:avLst/>
              <a:gdLst/>
              <a:ahLst/>
              <a:cxnLst/>
              <a:rect r="r" b="b" t="t" l="l"/>
              <a:pathLst>
                <a:path h="2816352" w="2123440">
                  <a:moveTo>
                    <a:pt x="48260" y="0"/>
                  </a:moveTo>
                  <a:lnTo>
                    <a:pt x="2075180" y="0"/>
                  </a:lnTo>
                  <a:cubicBezTo>
                    <a:pt x="2101850" y="0"/>
                    <a:pt x="2123440" y="21590"/>
                    <a:pt x="2123440" y="48260"/>
                  </a:cubicBezTo>
                  <a:lnTo>
                    <a:pt x="2123440" y="2768092"/>
                  </a:lnTo>
                  <a:cubicBezTo>
                    <a:pt x="2123440" y="2794762"/>
                    <a:pt x="2101850" y="2816352"/>
                    <a:pt x="2075180" y="2816352"/>
                  </a:cubicBezTo>
                  <a:lnTo>
                    <a:pt x="48260" y="2816352"/>
                  </a:lnTo>
                  <a:cubicBezTo>
                    <a:pt x="21590" y="2816352"/>
                    <a:pt x="0" y="2794762"/>
                    <a:pt x="0" y="2768092"/>
                  </a:cubicBezTo>
                  <a:lnTo>
                    <a:pt x="0" y="48260"/>
                  </a:lnTo>
                  <a:cubicBezTo>
                    <a:pt x="0" y="21590"/>
                    <a:pt x="21590" y="0"/>
                    <a:pt x="48260" y="0"/>
                  </a:cubicBezTo>
                  <a:close/>
                </a:path>
              </a:pathLst>
            </a:custGeom>
            <a:solidFill>
              <a:srgbClr val="000000">
                <a:alpha val="0"/>
              </a:srgbClr>
            </a:solidFill>
            <a:ln w="28575" cap="sq">
              <a:solidFill>
                <a:srgbClr val="173A45"/>
              </a:solidFill>
              <a:prstDash val="solid"/>
              <a:miter/>
            </a:ln>
          </p:spPr>
        </p:sp>
      </p:grpSp>
      <p:sp>
        <p:nvSpPr>
          <p:cNvPr name="TextBox 18" id="18"/>
          <p:cNvSpPr txBox="true"/>
          <p:nvPr/>
        </p:nvSpPr>
        <p:spPr>
          <a:xfrm rot="0">
            <a:off x="13278612" y="2947225"/>
            <a:ext cx="1198626" cy="762381"/>
          </a:xfrm>
          <a:prstGeom prst="rect">
            <a:avLst/>
          </a:prstGeom>
        </p:spPr>
        <p:txBody>
          <a:bodyPr anchor="t" rtlCol="false" tIns="0" lIns="0" bIns="0" rIns="0">
            <a:spAutoFit/>
          </a:bodyPr>
          <a:lstStyle/>
          <a:p>
            <a:pPr algn="ctr">
              <a:lnSpc>
                <a:spcPts val="5461"/>
              </a:lnSpc>
            </a:pPr>
            <a:r>
              <a:rPr lang="en-US" b="true" sz="4075">
                <a:solidFill>
                  <a:srgbClr val="28766D"/>
                </a:solidFill>
                <a:latin typeface="DejaVu Sans Bold"/>
                <a:ea typeface="DejaVu Sans Bold"/>
                <a:cs typeface="DejaVu Sans Bold"/>
                <a:sym typeface="DejaVu Sans Bold"/>
              </a:rPr>
              <a:t>✓</a:t>
            </a:r>
          </a:p>
        </p:txBody>
      </p:sp>
      <p:sp>
        <p:nvSpPr>
          <p:cNvPr name="AutoShape 19" id="19"/>
          <p:cNvSpPr/>
          <p:nvPr/>
        </p:nvSpPr>
        <p:spPr>
          <a:xfrm rot="0">
            <a:off x="13320522" y="3970592"/>
            <a:ext cx="1114806" cy="33528"/>
          </a:xfrm>
          <a:prstGeom prst="rect">
            <a:avLst/>
          </a:prstGeom>
          <a:solidFill>
            <a:srgbClr val="173A45"/>
          </a:solidFill>
        </p:spPr>
      </p:sp>
      <p:sp>
        <p:nvSpPr>
          <p:cNvPr name="AutoShape 20" id="20"/>
          <p:cNvSpPr/>
          <p:nvPr/>
        </p:nvSpPr>
        <p:spPr>
          <a:xfrm rot="0">
            <a:off x="13320522" y="4249293"/>
            <a:ext cx="1114806" cy="33528"/>
          </a:xfrm>
          <a:prstGeom prst="rect">
            <a:avLst/>
          </a:prstGeom>
          <a:solidFill>
            <a:srgbClr val="173A45"/>
          </a:solidFill>
        </p:spPr>
      </p:sp>
      <p:sp>
        <p:nvSpPr>
          <p:cNvPr name="AutoShape 21" id="21"/>
          <p:cNvSpPr/>
          <p:nvPr/>
        </p:nvSpPr>
        <p:spPr>
          <a:xfrm rot="0">
            <a:off x="13321570" y="4527994"/>
            <a:ext cx="754380" cy="33528"/>
          </a:xfrm>
          <a:prstGeom prst="rect">
            <a:avLst/>
          </a:prstGeom>
          <a:solidFill>
            <a:srgbClr val="173A45"/>
          </a:solidFill>
        </p:spPr>
      </p:sp>
      <p:sp>
        <p:nvSpPr>
          <p:cNvPr name="TextBox 22" id="22"/>
          <p:cNvSpPr txBox="true"/>
          <p:nvPr/>
        </p:nvSpPr>
        <p:spPr>
          <a:xfrm rot="0">
            <a:off x="5454015" y="3717512"/>
            <a:ext cx="192786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TextBox 23" id="23"/>
          <p:cNvSpPr txBox="true"/>
          <p:nvPr/>
        </p:nvSpPr>
        <p:spPr>
          <a:xfrm rot="0">
            <a:off x="10483215" y="3717512"/>
            <a:ext cx="192786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TextBox 24" id="24"/>
          <p:cNvSpPr txBox="true"/>
          <p:nvPr/>
        </p:nvSpPr>
        <p:spPr>
          <a:xfrm rot="0">
            <a:off x="2310765" y="6034469"/>
            <a:ext cx="3688080" cy="584073"/>
          </a:xfrm>
          <a:prstGeom prst="rect">
            <a:avLst/>
          </a:prstGeom>
        </p:spPr>
        <p:txBody>
          <a:bodyPr anchor="t" rtlCol="false" tIns="0" lIns="0" bIns="0" rIns="0">
            <a:spAutoFit/>
          </a:bodyPr>
          <a:lstStyle/>
          <a:p>
            <a:pPr algn="ctr">
              <a:lnSpc>
                <a:spcPts val="4245"/>
              </a:lnSpc>
            </a:pPr>
            <a:r>
              <a:rPr lang="en-US" b="true" sz="3168">
                <a:solidFill>
                  <a:srgbClr val="173A45"/>
                </a:solidFill>
                <a:latin typeface="Sarabun Semi-Bold"/>
                <a:ea typeface="Sarabun Semi-Bold"/>
                <a:cs typeface="Sarabun Semi-Bold"/>
                <a:sym typeface="Sarabun Semi-Bold"/>
              </a:rPr>
              <a:t>สัญญาร่วม</a:t>
            </a:r>
          </a:p>
        </p:txBody>
      </p:sp>
      <p:sp>
        <p:nvSpPr>
          <p:cNvPr name="TextBox 25" id="25"/>
          <p:cNvSpPr txBox="true"/>
          <p:nvPr/>
        </p:nvSpPr>
        <p:spPr>
          <a:xfrm rot="0">
            <a:off x="7256145" y="6034469"/>
            <a:ext cx="3688080" cy="584073"/>
          </a:xfrm>
          <a:prstGeom prst="rect">
            <a:avLst/>
          </a:prstGeom>
        </p:spPr>
        <p:txBody>
          <a:bodyPr anchor="t" rtlCol="false" tIns="0" lIns="0" bIns="0" rIns="0">
            <a:spAutoFit/>
          </a:bodyPr>
          <a:lstStyle/>
          <a:p>
            <a:pPr algn="ctr">
              <a:lnSpc>
                <a:spcPts val="4245"/>
              </a:lnSpc>
            </a:pPr>
            <a:r>
              <a:rPr lang="en-US" b="true" sz="3168">
                <a:solidFill>
                  <a:srgbClr val="173A45"/>
                </a:solidFill>
                <a:latin typeface="Sarabun Semi-Bold"/>
                <a:ea typeface="Sarabun Semi-Bold"/>
                <a:cs typeface="Sarabun Semi-Bold"/>
                <a:sym typeface="Sarabun Semi-Bold"/>
              </a:rPr>
              <a:t>Regression</a:t>
            </a:r>
          </a:p>
        </p:txBody>
      </p:sp>
      <p:sp>
        <p:nvSpPr>
          <p:cNvPr name="TextBox 26" id="26"/>
          <p:cNvSpPr txBox="true"/>
          <p:nvPr/>
        </p:nvSpPr>
        <p:spPr>
          <a:xfrm rot="0">
            <a:off x="11908155" y="6043803"/>
            <a:ext cx="4442460" cy="507492"/>
          </a:xfrm>
          <a:prstGeom prst="rect">
            <a:avLst/>
          </a:prstGeom>
        </p:spPr>
        <p:txBody>
          <a:bodyPr anchor="t" rtlCol="false" tIns="0" lIns="0" bIns="0" rIns="0">
            <a:spAutoFit/>
          </a:bodyPr>
          <a:lstStyle/>
          <a:p>
            <a:pPr algn="ctr">
              <a:lnSpc>
                <a:spcPts val="3714"/>
              </a:lnSpc>
            </a:pPr>
            <a:r>
              <a:rPr lang="en-US" b="true" sz="2772">
                <a:solidFill>
                  <a:srgbClr val="173A45"/>
                </a:solidFill>
                <a:latin typeface="Sarabun Semi-Bold"/>
                <a:ea typeface="Sarabun Semi-Bold"/>
                <a:cs typeface="Sarabun Semi-Bold"/>
                <a:sym typeface="Sarabun Semi-Bold"/>
              </a:rPr>
              <a:t>Revision + Environment</a:t>
            </a:r>
          </a:p>
        </p:txBody>
      </p:sp>
      <p:sp>
        <p:nvSpPr>
          <p:cNvPr name="TextBox 27" id="27"/>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ใช้สัญญาร่วมและ Regression ลดปัญหาระหว่างโมดูล ระบุรุ่นโค้ดและสภาพแวดล้อมของผลทดสอบ เพื่อให้ตรวจสอบย้อนกลับได้</a:t>
            </a:r>
          </a:p>
        </p:txBody>
      </p:sp>
      <p:sp>
        <p:nvSpPr>
          <p:cNvPr name="TextBox 28" id="28"/>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sirapat_673380293-3_01</a:t>
            </a:r>
          </a:p>
        </p:txBody>
      </p:sp>
      <p:sp>
        <p:nvSpPr>
          <p:cNvPr name="TextBox 29" id="29"/>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60 วินาที · 10/10</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หลักฐานคนละรุ่น ต้องอ่านแยกกัน</a:t>
            </a:r>
          </a:p>
        </p:txBody>
      </p:sp>
      <p:sp>
        <p:nvSpPr>
          <p:cNvPr name="TextBox 5" id="5"/>
          <p:cNvSpPr txBox="true"/>
          <p:nvPr/>
        </p:nvSpPr>
        <p:spPr>
          <a:xfrm rot="0">
            <a:off x="2017395" y="2188083"/>
            <a:ext cx="4358640" cy="507492"/>
          </a:xfrm>
          <a:prstGeom prst="rect">
            <a:avLst/>
          </a:prstGeom>
        </p:spPr>
        <p:txBody>
          <a:bodyPr anchor="t" rtlCol="false" tIns="0" lIns="0" bIns="0" rIns="0">
            <a:spAutoFit/>
          </a:bodyPr>
          <a:lstStyle/>
          <a:p>
            <a:pPr algn="ctr">
              <a:lnSpc>
                <a:spcPts val="3714"/>
              </a:lnSpc>
            </a:pPr>
            <a:r>
              <a:rPr lang="en-US" b="true" sz="2772">
                <a:solidFill>
                  <a:srgbClr val="28766D"/>
                </a:solidFill>
                <a:latin typeface="Sarabun Bold"/>
                <a:ea typeface="Sarabun Bold"/>
                <a:cs typeface="Sarabun Bold"/>
                <a:sym typeface="Sarabun Bold"/>
              </a:rPr>
              <a:t>PUBLIC</a:t>
            </a:r>
          </a:p>
        </p:txBody>
      </p:sp>
      <p:sp>
        <p:nvSpPr>
          <p:cNvPr name="TextBox 6" id="6"/>
          <p:cNvSpPr txBox="true"/>
          <p:nvPr/>
        </p:nvSpPr>
        <p:spPr>
          <a:xfrm rot="0">
            <a:off x="6962775" y="2188083"/>
            <a:ext cx="4358640" cy="507492"/>
          </a:xfrm>
          <a:prstGeom prst="rect">
            <a:avLst/>
          </a:prstGeom>
        </p:spPr>
        <p:txBody>
          <a:bodyPr anchor="t" rtlCol="false" tIns="0" lIns="0" bIns="0" rIns="0">
            <a:spAutoFit/>
          </a:bodyPr>
          <a:lstStyle/>
          <a:p>
            <a:pPr algn="ctr">
              <a:lnSpc>
                <a:spcPts val="3714"/>
              </a:lnSpc>
            </a:pPr>
            <a:r>
              <a:rPr lang="en-US" b="true" sz="2772">
                <a:solidFill>
                  <a:srgbClr val="28766D"/>
                </a:solidFill>
                <a:latin typeface="Sarabun Bold"/>
                <a:ea typeface="Sarabun Bold"/>
                <a:cs typeface="Sarabun Bold"/>
                <a:sym typeface="Sarabun Bold"/>
              </a:rPr>
              <a:t>CI</a:t>
            </a:r>
          </a:p>
        </p:txBody>
      </p:sp>
      <p:sp>
        <p:nvSpPr>
          <p:cNvPr name="TextBox 7" id="7"/>
          <p:cNvSpPr txBox="true"/>
          <p:nvPr/>
        </p:nvSpPr>
        <p:spPr>
          <a:xfrm rot="0">
            <a:off x="11908155" y="2188083"/>
            <a:ext cx="4358640" cy="507492"/>
          </a:xfrm>
          <a:prstGeom prst="rect">
            <a:avLst/>
          </a:prstGeom>
        </p:spPr>
        <p:txBody>
          <a:bodyPr anchor="t" rtlCol="false" tIns="0" lIns="0" bIns="0" rIns="0">
            <a:spAutoFit/>
          </a:bodyPr>
          <a:lstStyle/>
          <a:p>
            <a:pPr algn="ctr">
              <a:lnSpc>
                <a:spcPts val="3714"/>
              </a:lnSpc>
            </a:pPr>
            <a:r>
              <a:rPr lang="en-US" b="true" sz="2772">
                <a:solidFill>
                  <a:srgbClr val="AC4D31"/>
                </a:solidFill>
                <a:latin typeface="Sarabun Bold"/>
                <a:ea typeface="Sarabun Bold"/>
                <a:cs typeface="Sarabun Bold"/>
                <a:sym typeface="Sarabun Bold"/>
              </a:rPr>
              <a:t>MERGED CODE</a:t>
            </a:r>
          </a:p>
        </p:txBody>
      </p:sp>
      <p:grpSp>
        <p:nvGrpSpPr>
          <p:cNvPr name="Group 8" id="8"/>
          <p:cNvGrpSpPr/>
          <p:nvPr/>
        </p:nvGrpSpPr>
        <p:grpSpPr>
          <a:xfrm rot="0">
            <a:off x="3358515" y="2979420"/>
            <a:ext cx="1760220" cy="502920"/>
            <a:chOff x="0" y="0"/>
            <a:chExt cx="2346960" cy="670560"/>
          </a:xfrm>
        </p:grpSpPr>
        <p:sp>
          <p:nvSpPr>
            <p:cNvPr name="Freeform 9" id="9"/>
            <p:cNvSpPr/>
            <p:nvPr/>
          </p:nvSpPr>
          <p:spPr>
            <a:xfrm flipH="false" flipV="false" rot="0">
              <a:off x="0" y="0"/>
              <a:ext cx="2346960" cy="670560"/>
            </a:xfrm>
            <a:custGeom>
              <a:avLst/>
              <a:gdLst/>
              <a:ahLst/>
              <a:cxnLst/>
              <a:rect r="r" b="b" t="t" l="l"/>
              <a:pathLst>
                <a:path h="670560" w="2346960">
                  <a:moveTo>
                    <a:pt x="335280" y="0"/>
                  </a:moveTo>
                  <a:lnTo>
                    <a:pt x="2011680" y="0"/>
                  </a:lnTo>
                  <a:cubicBezTo>
                    <a:pt x="2196846" y="0"/>
                    <a:pt x="2346960" y="150114"/>
                    <a:pt x="2346960" y="335280"/>
                  </a:cubicBezTo>
                  <a:cubicBezTo>
                    <a:pt x="2346960" y="520446"/>
                    <a:pt x="2196846" y="670560"/>
                    <a:pt x="201168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10" id="10"/>
          <p:cNvSpPr txBox="true"/>
          <p:nvPr/>
        </p:nvSpPr>
        <p:spPr>
          <a:xfrm rot="0">
            <a:off x="3459099" y="3036570"/>
            <a:ext cx="155905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af2b45b</a:t>
            </a:r>
          </a:p>
        </p:txBody>
      </p:sp>
      <p:grpSp>
        <p:nvGrpSpPr>
          <p:cNvPr name="Group 11" id="11"/>
          <p:cNvGrpSpPr/>
          <p:nvPr/>
        </p:nvGrpSpPr>
        <p:grpSpPr>
          <a:xfrm rot="0">
            <a:off x="8261985" y="2979420"/>
            <a:ext cx="1760220" cy="502920"/>
            <a:chOff x="0" y="0"/>
            <a:chExt cx="2346960" cy="670560"/>
          </a:xfrm>
        </p:grpSpPr>
        <p:sp>
          <p:nvSpPr>
            <p:cNvPr name="Freeform 12" id="12"/>
            <p:cNvSpPr/>
            <p:nvPr/>
          </p:nvSpPr>
          <p:spPr>
            <a:xfrm flipH="false" flipV="false" rot="0">
              <a:off x="0" y="0"/>
              <a:ext cx="2346960" cy="670560"/>
            </a:xfrm>
            <a:custGeom>
              <a:avLst/>
              <a:gdLst/>
              <a:ahLst/>
              <a:cxnLst/>
              <a:rect r="r" b="b" t="t" l="l"/>
              <a:pathLst>
                <a:path h="670560" w="2346960">
                  <a:moveTo>
                    <a:pt x="335280" y="0"/>
                  </a:moveTo>
                  <a:lnTo>
                    <a:pt x="2011680" y="0"/>
                  </a:lnTo>
                  <a:cubicBezTo>
                    <a:pt x="2196846" y="0"/>
                    <a:pt x="2346960" y="150114"/>
                    <a:pt x="2346960" y="335280"/>
                  </a:cubicBezTo>
                  <a:cubicBezTo>
                    <a:pt x="2346960" y="520446"/>
                    <a:pt x="2196846" y="670560"/>
                    <a:pt x="201168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13" id="13"/>
          <p:cNvSpPr txBox="true"/>
          <p:nvPr/>
        </p:nvSpPr>
        <p:spPr>
          <a:xfrm rot="0">
            <a:off x="8362569" y="3036570"/>
            <a:ext cx="155905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25c7a40</a:t>
            </a:r>
          </a:p>
        </p:txBody>
      </p:sp>
      <p:grpSp>
        <p:nvGrpSpPr>
          <p:cNvPr name="Group 14" id="14"/>
          <p:cNvGrpSpPr/>
          <p:nvPr/>
        </p:nvGrpSpPr>
        <p:grpSpPr>
          <a:xfrm rot="0">
            <a:off x="13207365" y="2979420"/>
            <a:ext cx="1760220" cy="502920"/>
            <a:chOff x="0" y="0"/>
            <a:chExt cx="2346960" cy="670560"/>
          </a:xfrm>
        </p:grpSpPr>
        <p:sp>
          <p:nvSpPr>
            <p:cNvPr name="Freeform 15" id="15"/>
            <p:cNvSpPr/>
            <p:nvPr/>
          </p:nvSpPr>
          <p:spPr>
            <a:xfrm flipH="false" flipV="false" rot="0">
              <a:off x="0" y="0"/>
              <a:ext cx="2346960" cy="670560"/>
            </a:xfrm>
            <a:custGeom>
              <a:avLst/>
              <a:gdLst/>
              <a:ahLst/>
              <a:cxnLst/>
              <a:rect r="r" b="b" t="t" l="l"/>
              <a:pathLst>
                <a:path h="670560" w="2346960">
                  <a:moveTo>
                    <a:pt x="335280" y="0"/>
                  </a:moveTo>
                  <a:lnTo>
                    <a:pt x="2011680" y="0"/>
                  </a:lnTo>
                  <a:cubicBezTo>
                    <a:pt x="2196846" y="0"/>
                    <a:pt x="2346960" y="150114"/>
                    <a:pt x="2346960" y="335280"/>
                  </a:cubicBezTo>
                  <a:cubicBezTo>
                    <a:pt x="2346960" y="520446"/>
                    <a:pt x="2196846" y="670560"/>
                    <a:pt x="2011680" y="670560"/>
                  </a:cubicBezTo>
                  <a:lnTo>
                    <a:pt x="335280" y="670560"/>
                  </a:lnTo>
                  <a:cubicBezTo>
                    <a:pt x="150114" y="670560"/>
                    <a:pt x="0" y="520446"/>
                    <a:pt x="0" y="335280"/>
                  </a:cubicBezTo>
                  <a:cubicBezTo>
                    <a:pt x="0" y="150114"/>
                    <a:pt x="150114" y="0"/>
                    <a:pt x="335280" y="0"/>
                  </a:cubicBezTo>
                  <a:close/>
                </a:path>
              </a:pathLst>
            </a:custGeom>
            <a:solidFill>
              <a:srgbClr val="F6DFD6"/>
            </a:solidFill>
          </p:spPr>
        </p:sp>
      </p:grpSp>
      <p:sp>
        <p:nvSpPr>
          <p:cNvPr name="TextBox 16" id="16"/>
          <p:cNvSpPr txBox="true"/>
          <p:nvPr/>
        </p:nvSpPr>
        <p:spPr>
          <a:xfrm rot="0">
            <a:off x="13307949" y="3036570"/>
            <a:ext cx="1559052" cy="354330"/>
          </a:xfrm>
          <a:prstGeom prst="rect">
            <a:avLst/>
          </a:prstGeom>
        </p:spPr>
        <p:txBody>
          <a:bodyPr anchor="t" rtlCol="false" tIns="0" lIns="0" bIns="0" rIns="0">
            <a:spAutoFit/>
          </a:bodyPr>
          <a:lstStyle/>
          <a:p>
            <a:pPr algn="ctr">
              <a:lnSpc>
                <a:spcPts val="2653"/>
              </a:lnSpc>
            </a:pPr>
            <a:r>
              <a:rPr lang="en-US" b="true" sz="1979">
                <a:solidFill>
                  <a:srgbClr val="AC4D31"/>
                </a:solidFill>
                <a:latin typeface="Sarabun Semi-Bold"/>
                <a:ea typeface="Sarabun Semi-Bold"/>
                <a:cs typeface="Sarabun Semi-Bold"/>
                <a:sym typeface="Sarabun Semi-Bold"/>
              </a:rPr>
              <a:t>855a954</a:t>
            </a:r>
          </a:p>
        </p:txBody>
      </p:sp>
      <p:sp>
        <p:nvSpPr>
          <p:cNvPr name="TextBox 17" id="17"/>
          <p:cNvSpPr txBox="true"/>
          <p:nvPr/>
        </p:nvSpPr>
        <p:spPr>
          <a:xfrm rot="0">
            <a:off x="2729865" y="4068318"/>
            <a:ext cx="2933700" cy="1116711"/>
          </a:xfrm>
          <a:prstGeom prst="rect">
            <a:avLst/>
          </a:prstGeom>
        </p:spPr>
        <p:txBody>
          <a:bodyPr anchor="t" rtlCol="false" tIns="0" lIns="0" bIns="0" rIns="0">
            <a:spAutoFit/>
          </a:bodyPr>
          <a:lstStyle/>
          <a:p>
            <a:pPr algn="ctr">
              <a:lnSpc>
                <a:spcPts val="8136"/>
              </a:lnSpc>
            </a:pPr>
            <a:r>
              <a:rPr lang="en-US" b="true" sz="6072">
                <a:solidFill>
                  <a:srgbClr val="173A45"/>
                </a:solidFill>
                <a:latin typeface="Sarabun Bold"/>
                <a:ea typeface="Sarabun Bold"/>
                <a:cs typeface="Sarabun Bold"/>
                <a:sym typeface="Sarabun Bold"/>
              </a:rPr>
              <a:t>8 UI</a:t>
            </a:r>
          </a:p>
        </p:txBody>
      </p:sp>
      <p:sp>
        <p:nvSpPr>
          <p:cNvPr name="TextBox 18" id="18"/>
          <p:cNvSpPr txBox="true"/>
          <p:nvPr/>
        </p:nvSpPr>
        <p:spPr>
          <a:xfrm rot="0">
            <a:off x="2729865" y="5157978"/>
            <a:ext cx="2933700" cy="1116711"/>
          </a:xfrm>
          <a:prstGeom prst="rect">
            <a:avLst/>
          </a:prstGeom>
        </p:spPr>
        <p:txBody>
          <a:bodyPr anchor="t" rtlCol="false" tIns="0" lIns="0" bIns="0" rIns="0">
            <a:spAutoFit/>
          </a:bodyPr>
          <a:lstStyle/>
          <a:p>
            <a:pPr algn="ctr">
              <a:lnSpc>
                <a:spcPts val="8136"/>
              </a:lnSpc>
            </a:pPr>
            <a:r>
              <a:rPr lang="en-US" b="true" sz="6072">
                <a:solidFill>
                  <a:srgbClr val="173A45"/>
                </a:solidFill>
                <a:latin typeface="Sarabun Bold"/>
                <a:ea typeface="Sarabun Bold"/>
                <a:cs typeface="Sarabun Bold"/>
                <a:sym typeface="Sarabun Bold"/>
              </a:rPr>
              <a:t>12 API</a:t>
            </a:r>
          </a:p>
        </p:txBody>
      </p:sp>
      <p:sp>
        <p:nvSpPr>
          <p:cNvPr name="TextBox 19" id="19"/>
          <p:cNvSpPr txBox="true"/>
          <p:nvPr/>
        </p:nvSpPr>
        <p:spPr>
          <a:xfrm rot="0">
            <a:off x="7675245" y="4068318"/>
            <a:ext cx="2933700" cy="1116711"/>
          </a:xfrm>
          <a:prstGeom prst="rect">
            <a:avLst/>
          </a:prstGeom>
        </p:spPr>
        <p:txBody>
          <a:bodyPr anchor="t" rtlCol="false" tIns="0" lIns="0" bIns="0" rIns="0">
            <a:spAutoFit/>
          </a:bodyPr>
          <a:lstStyle/>
          <a:p>
            <a:pPr algn="ctr">
              <a:lnSpc>
                <a:spcPts val="8136"/>
              </a:lnSpc>
            </a:pPr>
            <a:r>
              <a:rPr lang="en-US" b="true" sz="6072">
                <a:solidFill>
                  <a:srgbClr val="173A45"/>
                </a:solidFill>
                <a:latin typeface="Sarabun Bold"/>
                <a:ea typeface="Sarabun Bold"/>
                <a:cs typeface="Sarabun Bold"/>
                <a:sym typeface="Sarabun Bold"/>
              </a:rPr>
              <a:t>431</a:t>
            </a:r>
          </a:p>
        </p:txBody>
      </p:sp>
      <p:sp>
        <p:nvSpPr>
          <p:cNvPr name="TextBox 20" id="20"/>
          <p:cNvSpPr txBox="true"/>
          <p:nvPr/>
        </p:nvSpPr>
        <p:spPr>
          <a:xfrm rot="0">
            <a:off x="7675245" y="5214937"/>
            <a:ext cx="2933700" cy="430911"/>
          </a:xfrm>
          <a:prstGeom prst="rect">
            <a:avLst/>
          </a:prstGeom>
        </p:spPr>
        <p:txBody>
          <a:bodyPr anchor="t" rtlCol="false" tIns="0" lIns="0" bIns="0" rIns="0">
            <a:spAutoFit/>
          </a:bodyPr>
          <a:lstStyle/>
          <a:p>
            <a:pPr algn="ctr">
              <a:lnSpc>
                <a:spcPts val="3183"/>
              </a:lnSpc>
            </a:pPr>
            <a:r>
              <a:rPr lang="en-US" sz="2376">
                <a:solidFill>
                  <a:srgbClr val="647477"/>
                </a:solidFill>
                <a:latin typeface="Sarabun"/>
                <a:ea typeface="Sarabun"/>
                <a:cs typeface="Sarabun"/>
                <a:sym typeface="Sarabun"/>
              </a:rPr>
              <a:t>Backend</a:t>
            </a:r>
          </a:p>
        </p:txBody>
      </p:sp>
      <p:sp>
        <p:nvSpPr>
          <p:cNvPr name="TextBox 21" id="21"/>
          <p:cNvSpPr txBox="true"/>
          <p:nvPr/>
        </p:nvSpPr>
        <p:spPr>
          <a:xfrm rot="0">
            <a:off x="7046595" y="6136957"/>
            <a:ext cx="4191000" cy="430911"/>
          </a:xfrm>
          <a:prstGeom prst="rect">
            <a:avLst/>
          </a:prstGeom>
        </p:spPr>
        <p:txBody>
          <a:bodyPr anchor="t" rtlCol="false" tIns="0" lIns="0" bIns="0" rIns="0">
            <a:spAutoFit/>
          </a:bodyPr>
          <a:lstStyle/>
          <a:p>
            <a:pPr algn="ctr">
              <a:lnSpc>
                <a:spcPts val="3183"/>
              </a:lnSpc>
            </a:pPr>
            <a:r>
              <a:rPr lang="en-US" sz="2376">
                <a:solidFill>
                  <a:srgbClr val="647477"/>
                </a:solidFill>
                <a:latin typeface="Sarabun"/>
                <a:ea typeface="Sarabun"/>
                <a:cs typeface="Sarabun"/>
                <a:sym typeface="Sarabun"/>
              </a:rPr>
              <a:t>187 + 6 Frontend</a:t>
            </a:r>
          </a:p>
        </p:txBody>
      </p:sp>
      <p:sp>
        <p:nvSpPr>
          <p:cNvPr name="TextBox 22" id="22"/>
          <p:cNvSpPr txBox="true"/>
          <p:nvPr/>
        </p:nvSpPr>
        <p:spPr>
          <a:xfrm rot="0">
            <a:off x="12536805" y="4074986"/>
            <a:ext cx="2933700" cy="1090422"/>
          </a:xfrm>
          <a:prstGeom prst="rect">
            <a:avLst/>
          </a:prstGeom>
        </p:spPr>
        <p:txBody>
          <a:bodyPr anchor="t" rtlCol="false" tIns="0" lIns="0" bIns="0" rIns="0">
            <a:spAutoFit/>
          </a:bodyPr>
          <a:lstStyle/>
          <a:p>
            <a:pPr algn="ctr">
              <a:lnSpc>
                <a:spcPts val="7959"/>
              </a:lnSpc>
            </a:pPr>
            <a:r>
              <a:rPr lang="en-US" b="true" sz="5940">
                <a:solidFill>
                  <a:srgbClr val="AC4D31"/>
                </a:solidFill>
                <a:latin typeface="Sarabun Bold"/>
                <a:ea typeface="Sarabun Bold"/>
                <a:cs typeface="Sarabun Bold"/>
                <a:sym typeface="Sarabun Bold"/>
              </a:rPr>
              <a:t>PR52</a:t>
            </a:r>
          </a:p>
        </p:txBody>
      </p:sp>
      <p:sp>
        <p:nvSpPr>
          <p:cNvPr name="TextBox 23" id="23"/>
          <p:cNvSpPr txBox="true"/>
          <p:nvPr/>
        </p:nvSpPr>
        <p:spPr>
          <a:xfrm rot="0">
            <a:off x="12536805" y="5205603"/>
            <a:ext cx="2933700" cy="507492"/>
          </a:xfrm>
          <a:prstGeom prst="rect">
            <a:avLst/>
          </a:prstGeom>
        </p:spPr>
        <p:txBody>
          <a:bodyPr anchor="t" rtlCol="false" tIns="0" lIns="0" bIns="0" rIns="0">
            <a:spAutoFit/>
          </a:bodyPr>
          <a:lstStyle/>
          <a:p>
            <a:pPr algn="ctr">
              <a:lnSpc>
                <a:spcPts val="3714"/>
              </a:lnSpc>
            </a:pPr>
            <a:r>
              <a:rPr lang="en-US" sz="2772">
                <a:solidFill>
                  <a:srgbClr val="647477"/>
                </a:solidFill>
                <a:latin typeface="Sarabun"/>
                <a:ea typeface="Sarabun"/>
                <a:cs typeface="Sarabun"/>
                <a:sym typeface="Sarabun"/>
              </a:rPr>
              <a:t>Swagger</a:t>
            </a:r>
          </a:p>
        </p:txBody>
      </p:sp>
      <p:sp>
        <p:nvSpPr>
          <p:cNvPr name="TextBox 24" id="24"/>
          <p:cNvSpPr txBox="true"/>
          <p:nvPr/>
        </p:nvSpPr>
        <p:spPr>
          <a:xfrm rot="0">
            <a:off x="2017395" y="8103679"/>
            <a:ext cx="14249400" cy="313563"/>
          </a:xfrm>
          <a:prstGeom prst="rect">
            <a:avLst/>
          </a:prstGeom>
        </p:spPr>
        <p:txBody>
          <a:bodyPr anchor="t" rtlCol="false" tIns="0" lIns="0" bIns="0" rIns="0">
            <a:spAutoFit/>
          </a:bodyPr>
          <a:lstStyle/>
          <a:p>
            <a:pPr algn="l">
              <a:lnSpc>
                <a:spcPts val="2211"/>
              </a:lnSpc>
            </a:pPr>
            <a:r>
              <a:rPr lang="en-US" sz="1650">
                <a:solidFill>
                  <a:srgbClr val="647477"/>
                </a:solidFill>
                <a:latin typeface="Sarabun"/>
                <a:ea typeface="Sarabun"/>
                <a:cs typeface="Sarabun"/>
                <a:sym typeface="Sarabun"/>
              </a:rPr>
              <a:t>UI load-failure ไม่ได้รัน · Swagger public retest ยังไม่ยืนยัน</a:t>
            </a:r>
          </a:p>
        </p:txBody>
      </p:sp>
      <p:sp>
        <p:nvSpPr>
          <p:cNvPr name="TextBox 25" id="25"/>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UAT แสดงผลบนเว็บจริง ส่วน CI ตรวจโค้ดในรุ่นที่ระบุ การ merge ยืนยันว่าโค้ดรวมแล้ว ยังต้องทดสอบการแก้ Swagger บนเว็บจริง</a:t>
            </a:r>
          </a:p>
        </p:txBody>
      </p:sp>
      <p:sp>
        <p:nvSpPr>
          <p:cNvPr name="TextBox 26" id="26"/>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pavarit_673380278-9_01</a:t>
            </a:r>
          </a:p>
        </p:txBody>
      </p:sp>
      <p:sp>
        <p:nvSpPr>
          <p:cNvPr name="TextBox 27" id="27"/>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Q&amp;A · 11/24</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SOLID ผ่านหน้าที่และสัญญา</a:t>
            </a:r>
          </a:p>
        </p:txBody>
      </p:sp>
      <p:grpSp>
        <p:nvGrpSpPr>
          <p:cNvPr name="Group 5" id="5"/>
          <p:cNvGrpSpPr/>
          <p:nvPr/>
        </p:nvGrpSpPr>
        <p:grpSpPr>
          <a:xfrm rot="0">
            <a:off x="2436495" y="2895600"/>
            <a:ext cx="1676400" cy="1676400"/>
            <a:chOff x="0" y="0"/>
            <a:chExt cx="2235200" cy="2235200"/>
          </a:xfrm>
        </p:grpSpPr>
        <p:sp>
          <p:nvSpPr>
            <p:cNvPr name="Freeform 6" id="6"/>
            <p:cNvSpPr/>
            <p:nvPr/>
          </p:nvSpPr>
          <p:spPr>
            <a:xfrm flipH="false" flipV="false" rot="0">
              <a:off x="0" y="0"/>
              <a:ext cx="2235200" cy="2235200"/>
            </a:xfrm>
            <a:custGeom>
              <a:avLst/>
              <a:gdLst/>
              <a:ahLst/>
              <a:cxnLst/>
              <a:rect r="r" b="b" t="t" l="l"/>
              <a:pathLst>
                <a:path h="2235200" w="2235200">
                  <a:moveTo>
                    <a:pt x="1117600" y="0"/>
                  </a:moveTo>
                  <a:cubicBezTo>
                    <a:pt x="1734820" y="0"/>
                    <a:pt x="2235200" y="500380"/>
                    <a:pt x="2235200" y="1117600"/>
                  </a:cubicBezTo>
                  <a:cubicBezTo>
                    <a:pt x="2235200" y="1734820"/>
                    <a:pt x="1734820" y="2235200"/>
                    <a:pt x="1117600" y="2235200"/>
                  </a:cubicBezTo>
                  <a:cubicBezTo>
                    <a:pt x="500380" y="2235200"/>
                    <a:pt x="0" y="1734820"/>
                    <a:pt x="0" y="1117600"/>
                  </a:cubicBezTo>
                  <a:cubicBezTo>
                    <a:pt x="0" y="500380"/>
                    <a:pt x="500380" y="0"/>
                    <a:pt x="1117600" y="0"/>
                  </a:cubicBezTo>
                  <a:close/>
                </a:path>
              </a:pathLst>
            </a:custGeom>
            <a:solidFill>
              <a:srgbClr val="F1E3CB"/>
            </a:solidFill>
          </p:spPr>
        </p:sp>
      </p:grpSp>
      <p:sp>
        <p:nvSpPr>
          <p:cNvPr name="TextBox 7" id="7"/>
          <p:cNvSpPr txBox="true"/>
          <p:nvPr/>
        </p:nvSpPr>
        <p:spPr>
          <a:xfrm rot="0">
            <a:off x="2562225" y="3002471"/>
            <a:ext cx="1424940" cy="1258062"/>
          </a:xfrm>
          <a:prstGeom prst="rect">
            <a:avLst/>
          </a:prstGeom>
        </p:spPr>
        <p:txBody>
          <a:bodyPr anchor="t" rtlCol="false" tIns="0" lIns="0" bIns="0" rIns="0">
            <a:spAutoFit/>
          </a:bodyPr>
          <a:lstStyle/>
          <a:p>
            <a:pPr algn="ctr">
              <a:lnSpc>
                <a:spcPts val="9286"/>
              </a:lnSpc>
            </a:pPr>
            <a:r>
              <a:rPr lang="en-US" b="true" sz="6930">
                <a:solidFill>
                  <a:srgbClr val="173A45"/>
                </a:solidFill>
                <a:latin typeface="Sarabun Bold"/>
                <a:ea typeface="Sarabun Bold"/>
                <a:cs typeface="Sarabun Bold"/>
                <a:sym typeface="Sarabun Bold"/>
              </a:rPr>
              <a:t>S</a:t>
            </a:r>
          </a:p>
        </p:txBody>
      </p:sp>
      <p:sp>
        <p:nvSpPr>
          <p:cNvPr name="TextBox 8" id="8"/>
          <p:cNvSpPr txBox="true"/>
          <p:nvPr/>
        </p:nvSpPr>
        <p:spPr>
          <a:xfrm rot="0">
            <a:off x="1891665" y="5286375"/>
            <a:ext cx="2766060" cy="423672"/>
          </a:xfrm>
          <a:prstGeom prst="rect">
            <a:avLst/>
          </a:prstGeom>
        </p:spPr>
        <p:txBody>
          <a:bodyPr anchor="t" rtlCol="false" tIns="0" lIns="0" bIns="0" rIns="0">
            <a:spAutoFit/>
          </a:bodyPr>
          <a:lstStyle/>
          <a:p>
            <a:pPr algn="ctr">
              <a:lnSpc>
                <a:spcPts val="3006"/>
              </a:lnSpc>
            </a:pPr>
            <a:r>
              <a:rPr lang="en-US" b="true" sz="2244">
                <a:solidFill>
                  <a:srgbClr val="173A45"/>
                </a:solidFill>
                <a:latin typeface="Sarabun Semi-Bold"/>
                <a:ea typeface="Sarabun Semi-Bold"/>
                <a:cs typeface="Sarabun Semi-Bold"/>
                <a:sym typeface="Sarabun Semi-Bold"/>
              </a:rPr>
              <a:t>แยกหน้าที่</a:t>
            </a:r>
          </a:p>
        </p:txBody>
      </p:sp>
      <p:grpSp>
        <p:nvGrpSpPr>
          <p:cNvPr name="Group 9" id="9"/>
          <p:cNvGrpSpPr/>
          <p:nvPr/>
        </p:nvGrpSpPr>
        <p:grpSpPr>
          <a:xfrm rot="0">
            <a:off x="5370195" y="2895600"/>
            <a:ext cx="1676400" cy="1676400"/>
            <a:chOff x="0" y="0"/>
            <a:chExt cx="2235200" cy="2235200"/>
          </a:xfrm>
        </p:grpSpPr>
        <p:sp>
          <p:nvSpPr>
            <p:cNvPr name="Freeform 10" id="10"/>
            <p:cNvSpPr/>
            <p:nvPr/>
          </p:nvSpPr>
          <p:spPr>
            <a:xfrm flipH="false" flipV="false" rot="0">
              <a:off x="0" y="0"/>
              <a:ext cx="2235200" cy="2235200"/>
            </a:xfrm>
            <a:custGeom>
              <a:avLst/>
              <a:gdLst/>
              <a:ahLst/>
              <a:cxnLst/>
              <a:rect r="r" b="b" t="t" l="l"/>
              <a:pathLst>
                <a:path h="2235200" w="2235200">
                  <a:moveTo>
                    <a:pt x="1117600" y="0"/>
                  </a:moveTo>
                  <a:cubicBezTo>
                    <a:pt x="1734820" y="0"/>
                    <a:pt x="2235200" y="500380"/>
                    <a:pt x="2235200" y="1117600"/>
                  </a:cubicBezTo>
                  <a:cubicBezTo>
                    <a:pt x="2235200" y="1734820"/>
                    <a:pt x="1734820" y="2235200"/>
                    <a:pt x="1117600" y="2235200"/>
                  </a:cubicBezTo>
                  <a:cubicBezTo>
                    <a:pt x="500380" y="2235200"/>
                    <a:pt x="0" y="1734820"/>
                    <a:pt x="0" y="1117600"/>
                  </a:cubicBezTo>
                  <a:cubicBezTo>
                    <a:pt x="0" y="500380"/>
                    <a:pt x="500380" y="0"/>
                    <a:pt x="1117600" y="0"/>
                  </a:cubicBezTo>
                  <a:close/>
                </a:path>
              </a:pathLst>
            </a:custGeom>
            <a:solidFill>
              <a:srgbClr val="DAEBE4"/>
            </a:solidFill>
          </p:spPr>
        </p:sp>
      </p:grpSp>
      <p:sp>
        <p:nvSpPr>
          <p:cNvPr name="TextBox 11" id="11"/>
          <p:cNvSpPr txBox="true"/>
          <p:nvPr/>
        </p:nvSpPr>
        <p:spPr>
          <a:xfrm rot="0">
            <a:off x="5495925" y="3002471"/>
            <a:ext cx="1424940" cy="1258062"/>
          </a:xfrm>
          <a:prstGeom prst="rect">
            <a:avLst/>
          </a:prstGeom>
        </p:spPr>
        <p:txBody>
          <a:bodyPr anchor="t" rtlCol="false" tIns="0" lIns="0" bIns="0" rIns="0">
            <a:spAutoFit/>
          </a:bodyPr>
          <a:lstStyle/>
          <a:p>
            <a:pPr algn="ctr">
              <a:lnSpc>
                <a:spcPts val="9286"/>
              </a:lnSpc>
            </a:pPr>
            <a:r>
              <a:rPr lang="en-US" b="true" sz="6930">
                <a:solidFill>
                  <a:srgbClr val="173A45"/>
                </a:solidFill>
                <a:latin typeface="Sarabun Bold"/>
                <a:ea typeface="Sarabun Bold"/>
                <a:cs typeface="Sarabun Bold"/>
                <a:sym typeface="Sarabun Bold"/>
              </a:rPr>
              <a:t>O</a:t>
            </a:r>
          </a:p>
        </p:txBody>
      </p:sp>
      <p:sp>
        <p:nvSpPr>
          <p:cNvPr name="TextBox 12" id="12"/>
          <p:cNvSpPr txBox="true"/>
          <p:nvPr/>
        </p:nvSpPr>
        <p:spPr>
          <a:xfrm rot="0">
            <a:off x="4825365" y="5286375"/>
            <a:ext cx="2766060" cy="423672"/>
          </a:xfrm>
          <a:prstGeom prst="rect">
            <a:avLst/>
          </a:prstGeom>
        </p:spPr>
        <p:txBody>
          <a:bodyPr anchor="t" rtlCol="false" tIns="0" lIns="0" bIns="0" rIns="0">
            <a:spAutoFit/>
          </a:bodyPr>
          <a:lstStyle/>
          <a:p>
            <a:pPr algn="ctr">
              <a:lnSpc>
                <a:spcPts val="3006"/>
              </a:lnSpc>
            </a:pPr>
            <a:r>
              <a:rPr lang="en-US" b="true" sz="2244">
                <a:solidFill>
                  <a:srgbClr val="173A45"/>
                </a:solidFill>
                <a:latin typeface="Sarabun Semi-Bold"/>
                <a:ea typeface="Sarabun Semi-Bold"/>
                <a:cs typeface="Sarabun Semi-Bold"/>
                <a:sym typeface="Sarabun Semi-Bold"/>
              </a:rPr>
              <a:t>เพิ่มผ่าน Hook</a:t>
            </a:r>
          </a:p>
        </p:txBody>
      </p:sp>
      <p:grpSp>
        <p:nvGrpSpPr>
          <p:cNvPr name="Group 13" id="13"/>
          <p:cNvGrpSpPr/>
          <p:nvPr/>
        </p:nvGrpSpPr>
        <p:grpSpPr>
          <a:xfrm rot="0">
            <a:off x="8303895" y="2895600"/>
            <a:ext cx="1676400" cy="1676400"/>
            <a:chOff x="0" y="0"/>
            <a:chExt cx="2235200" cy="2235200"/>
          </a:xfrm>
        </p:grpSpPr>
        <p:sp>
          <p:nvSpPr>
            <p:cNvPr name="Freeform 14" id="14"/>
            <p:cNvSpPr/>
            <p:nvPr/>
          </p:nvSpPr>
          <p:spPr>
            <a:xfrm flipH="false" flipV="false" rot="0">
              <a:off x="0" y="0"/>
              <a:ext cx="2235200" cy="2235200"/>
            </a:xfrm>
            <a:custGeom>
              <a:avLst/>
              <a:gdLst/>
              <a:ahLst/>
              <a:cxnLst/>
              <a:rect r="r" b="b" t="t" l="l"/>
              <a:pathLst>
                <a:path h="2235200" w="2235200">
                  <a:moveTo>
                    <a:pt x="1117600" y="0"/>
                  </a:moveTo>
                  <a:cubicBezTo>
                    <a:pt x="1734820" y="0"/>
                    <a:pt x="2235200" y="500380"/>
                    <a:pt x="2235200" y="1117600"/>
                  </a:cubicBezTo>
                  <a:cubicBezTo>
                    <a:pt x="2235200" y="1734820"/>
                    <a:pt x="1734820" y="2235200"/>
                    <a:pt x="1117600" y="2235200"/>
                  </a:cubicBezTo>
                  <a:cubicBezTo>
                    <a:pt x="500380" y="2235200"/>
                    <a:pt x="0" y="1734820"/>
                    <a:pt x="0" y="1117600"/>
                  </a:cubicBezTo>
                  <a:cubicBezTo>
                    <a:pt x="0" y="500380"/>
                    <a:pt x="500380" y="0"/>
                    <a:pt x="1117600" y="0"/>
                  </a:cubicBezTo>
                  <a:close/>
                </a:path>
              </a:pathLst>
            </a:custGeom>
            <a:solidFill>
              <a:srgbClr val="F1E3CB"/>
            </a:solidFill>
          </p:spPr>
        </p:sp>
      </p:grpSp>
      <p:sp>
        <p:nvSpPr>
          <p:cNvPr name="TextBox 15" id="15"/>
          <p:cNvSpPr txBox="true"/>
          <p:nvPr/>
        </p:nvSpPr>
        <p:spPr>
          <a:xfrm rot="0">
            <a:off x="8429625" y="3002471"/>
            <a:ext cx="1424940" cy="1258062"/>
          </a:xfrm>
          <a:prstGeom prst="rect">
            <a:avLst/>
          </a:prstGeom>
        </p:spPr>
        <p:txBody>
          <a:bodyPr anchor="t" rtlCol="false" tIns="0" lIns="0" bIns="0" rIns="0">
            <a:spAutoFit/>
          </a:bodyPr>
          <a:lstStyle/>
          <a:p>
            <a:pPr algn="ctr">
              <a:lnSpc>
                <a:spcPts val="9286"/>
              </a:lnSpc>
            </a:pPr>
            <a:r>
              <a:rPr lang="en-US" b="true" sz="6930">
                <a:solidFill>
                  <a:srgbClr val="173A45"/>
                </a:solidFill>
                <a:latin typeface="Sarabun Bold"/>
                <a:ea typeface="Sarabun Bold"/>
                <a:cs typeface="Sarabun Bold"/>
                <a:sym typeface="Sarabun Bold"/>
              </a:rPr>
              <a:t>L</a:t>
            </a:r>
          </a:p>
        </p:txBody>
      </p:sp>
      <p:sp>
        <p:nvSpPr>
          <p:cNvPr name="TextBox 16" id="16"/>
          <p:cNvSpPr txBox="true"/>
          <p:nvPr/>
        </p:nvSpPr>
        <p:spPr>
          <a:xfrm rot="0">
            <a:off x="7759065" y="5286375"/>
            <a:ext cx="2766060" cy="423672"/>
          </a:xfrm>
          <a:prstGeom prst="rect">
            <a:avLst/>
          </a:prstGeom>
        </p:spPr>
        <p:txBody>
          <a:bodyPr anchor="t" rtlCol="false" tIns="0" lIns="0" bIns="0" rIns="0">
            <a:spAutoFit/>
          </a:bodyPr>
          <a:lstStyle/>
          <a:p>
            <a:pPr algn="ctr">
              <a:lnSpc>
                <a:spcPts val="3006"/>
              </a:lnSpc>
            </a:pPr>
            <a:r>
              <a:rPr lang="en-US" b="true" sz="2244">
                <a:solidFill>
                  <a:srgbClr val="173A45"/>
                </a:solidFill>
                <a:latin typeface="Sarabun Semi-Bold"/>
                <a:ea typeface="Sarabun Semi-Bold"/>
                <a:cs typeface="Sarabun Semi-Bold"/>
                <a:sym typeface="Sarabun Semi-Bold"/>
              </a:rPr>
              <a:t>รักษาสัญญา</a:t>
            </a:r>
          </a:p>
        </p:txBody>
      </p:sp>
      <p:grpSp>
        <p:nvGrpSpPr>
          <p:cNvPr name="Group 17" id="17"/>
          <p:cNvGrpSpPr/>
          <p:nvPr/>
        </p:nvGrpSpPr>
        <p:grpSpPr>
          <a:xfrm rot="0">
            <a:off x="11237595" y="2895600"/>
            <a:ext cx="1676400" cy="1676400"/>
            <a:chOff x="0" y="0"/>
            <a:chExt cx="2235200" cy="2235200"/>
          </a:xfrm>
        </p:grpSpPr>
        <p:sp>
          <p:nvSpPr>
            <p:cNvPr name="Freeform 18" id="18"/>
            <p:cNvSpPr/>
            <p:nvPr/>
          </p:nvSpPr>
          <p:spPr>
            <a:xfrm flipH="false" flipV="false" rot="0">
              <a:off x="0" y="0"/>
              <a:ext cx="2235200" cy="2235200"/>
            </a:xfrm>
            <a:custGeom>
              <a:avLst/>
              <a:gdLst/>
              <a:ahLst/>
              <a:cxnLst/>
              <a:rect r="r" b="b" t="t" l="l"/>
              <a:pathLst>
                <a:path h="2235200" w="2235200">
                  <a:moveTo>
                    <a:pt x="1117600" y="0"/>
                  </a:moveTo>
                  <a:cubicBezTo>
                    <a:pt x="1734820" y="0"/>
                    <a:pt x="2235200" y="500380"/>
                    <a:pt x="2235200" y="1117600"/>
                  </a:cubicBezTo>
                  <a:cubicBezTo>
                    <a:pt x="2235200" y="1734820"/>
                    <a:pt x="1734820" y="2235200"/>
                    <a:pt x="1117600" y="2235200"/>
                  </a:cubicBezTo>
                  <a:cubicBezTo>
                    <a:pt x="500380" y="2235200"/>
                    <a:pt x="0" y="1734820"/>
                    <a:pt x="0" y="1117600"/>
                  </a:cubicBezTo>
                  <a:cubicBezTo>
                    <a:pt x="0" y="500380"/>
                    <a:pt x="500380" y="0"/>
                    <a:pt x="1117600" y="0"/>
                  </a:cubicBezTo>
                  <a:close/>
                </a:path>
              </a:pathLst>
            </a:custGeom>
            <a:solidFill>
              <a:srgbClr val="DAEBE4"/>
            </a:solidFill>
          </p:spPr>
        </p:sp>
      </p:grpSp>
      <p:sp>
        <p:nvSpPr>
          <p:cNvPr name="TextBox 19" id="19"/>
          <p:cNvSpPr txBox="true"/>
          <p:nvPr/>
        </p:nvSpPr>
        <p:spPr>
          <a:xfrm rot="0">
            <a:off x="11363325" y="3002471"/>
            <a:ext cx="1424940" cy="1258062"/>
          </a:xfrm>
          <a:prstGeom prst="rect">
            <a:avLst/>
          </a:prstGeom>
        </p:spPr>
        <p:txBody>
          <a:bodyPr anchor="t" rtlCol="false" tIns="0" lIns="0" bIns="0" rIns="0">
            <a:spAutoFit/>
          </a:bodyPr>
          <a:lstStyle/>
          <a:p>
            <a:pPr algn="ctr">
              <a:lnSpc>
                <a:spcPts val="9286"/>
              </a:lnSpc>
            </a:pPr>
            <a:r>
              <a:rPr lang="en-US" b="true" sz="6930">
                <a:solidFill>
                  <a:srgbClr val="173A45"/>
                </a:solidFill>
                <a:latin typeface="Sarabun Bold"/>
                <a:ea typeface="Sarabun Bold"/>
                <a:cs typeface="Sarabun Bold"/>
                <a:sym typeface="Sarabun Bold"/>
              </a:rPr>
              <a:t>I</a:t>
            </a:r>
          </a:p>
        </p:txBody>
      </p:sp>
      <p:sp>
        <p:nvSpPr>
          <p:cNvPr name="TextBox 20" id="20"/>
          <p:cNvSpPr txBox="true"/>
          <p:nvPr/>
        </p:nvSpPr>
        <p:spPr>
          <a:xfrm rot="0">
            <a:off x="10692765" y="5286375"/>
            <a:ext cx="2766060" cy="423672"/>
          </a:xfrm>
          <a:prstGeom prst="rect">
            <a:avLst/>
          </a:prstGeom>
        </p:spPr>
        <p:txBody>
          <a:bodyPr anchor="t" rtlCol="false" tIns="0" lIns="0" bIns="0" rIns="0">
            <a:spAutoFit/>
          </a:bodyPr>
          <a:lstStyle/>
          <a:p>
            <a:pPr algn="ctr">
              <a:lnSpc>
                <a:spcPts val="3006"/>
              </a:lnSpc>
            </a:pPr>
            <a:r>
              <a:rPr lang="en-US" b="true" sz="2244">
                <a:solidFill>
                  <a:srgbClr val="173A45"/>
                </a:solidFill>
                <a:latin typeface="Sarabun Semi-Bold"/>
                <a:ea typeface="Sarabun Semi-Bold"/>
                <a:cs typeface="Sarabun Semi-Bold"/>
                <a:sym typeface="Sarabun Semi-Bold"/>
              </a:rPr>
              <a:t>Interface พอดี</a:t>
            </a:r>
          </a:p>
        </p:txBody>
      </p:sp>
      <p:grpSp>
        <p:nvGrpSpPr>
          <p:cNvPr name="Group 21" id="21"/>
          <p:cNvGrpSpPr/>
          <p:nvPr/>
        </p:nvGrpSpPr>
        <p:grpSpPr>
          <a:xfrm rot="0">
            <a:off x="14171295" y="2895600"/>
            <a:ext cx="1676400" cy="1676400"/>
            <a:chOff x="0" y="0"/>
            <a:chExt cx="2235200" cy="2235200"/>
          </a:xfrm>
        </p:grpSpPr>
        <p:sp>
          <p:nvSpPr>
            <p:cNvPr name="Freeform 22" id="22"/>
            <p:cNvSpPr/>
            <p:nvPr/>
          </p:nvSpPr>
          <p:spPr>
            <a:xfrm flipH="false" flipV="false" rot="0">
              <a:off x="0" y="0"/>
              <a:ext cx="2235200" cy="2235200"/>
            </a:xfrm>
            <a:custGeom>
              <a:avLst/>
              <a:gdLst/>
              <a:ahLst/>
              <a:cxnLst/>
              <a:rect r="r" b="b" t="t" l="l"/>
              <a:pathLst>
                <a:path h="2235200" w="2235200">
                  <a:moveTo>
                    <a:pt x="1117600" y="0"/>
                  </a:moveTo>
                  <a:cubicBezTo>
                    <a:pt x="1734820" y="0"/>
                    <a:pt x="2235200" y="500380"/>
                    <a:pt x="2235200" y="1117600"/>
                  </a:cubicBezTo>
                  <a:cubicBezTo>
                    <a:pt x="2235200" y="1734820"/>
                    <a:pt x="1734820" y="2235200"/>
                    <a:pt x="1117600" y="2235200"/>
                  </a:cubicBezTo>
                  <a:cubicBezTo>
                    <a:pt x="500380" y="2235200"/>
                    <a:pt x="0" y="1734820"/>
                    <a:pt x="0" y="1117600"/>
                  </a:cubicBezTo>
                  <a:cubicBezTo>
                    <a:pt x="0" y="500380"/>
                    <a:pt x="500380" y="0"/>
                    <a:pt x="1117600" y="0"/>
                  </a:cubicBezTo>
                  <a:close/>
                </a:path>
              </a:pathLst>
            </a:custGeom>
            <a:solidFill>
              <a:srgbClr val="F1E3CB"/>
            </a:solidFill>
          </p:spPr>
        </p:sp>
      </p:grpSp>
      <p:sp>
        <p:nvSpPr>
          <p:cNvPr name="TextBox 23" id="23"/>
          <p:cNvSpPr txBox="true"/>
          <p:nvPr/>
        </p:nvSpPr>
        <p:spPr>
          <a:xfrm rot="0">
            <a:off x="14297025" y="3002471"/>
            <a:ext cx="1424940" cy="1258062"/>
          </a:xfrm>
          <a:prstGeom prst="rect">
            <a:avLst/>
          </a:prstGeom>
        </p:spPr>
        <p:txBody>
          <a:bodyPr anchor="t" rtlCol="false" tIns="0" lIns="0" bIns="0" rIns="0">
            <a:spAutoFit/>
          </a:bodyPr>
          <a:lstStyle/>
          <a:p>
            <a:pPr algn="ctr">
              <a:lnSpc>
                <a:spcPts val="9286"/>
              </a:lnSpc>
            </a:pPr>
            <a:r>
              <a:rPr lang="en-US" b="true" sz="6930">
                <a:solidFill>
                  <a:srgbClr val="173A45"/>
                </a:solidFill>
                <a:latin typeface="Sarabun Bold"/>
                <a:ea typeface="Sarabun Bold"/>
                <a:cs typeface="Sarabun Bold"/>
                <a:sym typeface="Sarabun Bold"/>
              </a:rPr>
              <a:t>D</a:t>
            </a:r>
          </a:p>
        </p:txBody>
      </p:sp>
      <p:sp>
        <p:nvSpPr>
          <p:cNvPr name="TextBox 24" id="24"/>
          <p:cNvSpPr txBox="true"/>
          <p:nvPr/>
        </p:nvSpPr>
        <p:spPr>
          <a:xfrm rot="0">
            <a:off x="13626465" y="5286375"/>
            <a:ext cx="2766060" cy="423672"/>
          </a:xfrm>
          <a:prstGeom prst="rect">
            <a:avLst/>
          </a:prstGeom>
        </p:spPr>
        <p:txBody>
          <a:bodyPr anchor="t" rtlCol="false" tIns="0" lIns="0" bIns="0" rIns="0">
            <a:spAutoFit/>
          </a:bodyPr>
          <a:lstStyle/>
          <a:p>
            <a:pPr algn="ctr">
              <a:lnSpc>
                <a:spcPts val="3006"/>
              </a:lnSpc>
            </a:pPr>
            <a:r>
              <a:rPr lang="en-US" b="true" sz="2244">
                <a:solidFill>
                  <a:srgbClr val="173A45"/>
                </a:solidFill>
                <a:latin typeface="Sarabun Semi-Bold"/>
                <a:ea typeface="Sarabun Semi-Bold"/>
                <a:cs typeface="Sarabun Semi-Bold"/>
                <a:sym typeface="Sarabun Semi-Bold"/>
              </a:rPr>
              <a:t>ฉีด Dependency</a:t>
            </a:r>
          </a:p>
        </p:txBody>
      </p:sp>
      <p:sp>
        <p:nvSpPr>
          <p:cNvPr name="TextBox 25" id="25"/>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SOLID ช่วยแบ่งหน้าที่และจำกัดสิ่งที่แต่ละส่วนต้องรู้ จึงเพิ่มหรือทดแทนพฤติกรรมได้ โดยรักษาสัญญาที่ส่วนอื่นเรียกใช้</a:t>
            </a:r>
          </a:p>
        </p:txBody>
      </p:sp>
      <p:sp>
        <p:nvSpPr>
          <p:cNvPr name="TextBox 26" id="26"/>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pavarit_673380278-9_01</a:t>
            </a:r>
          </a:p>
        </p:txBody>
      </p:sp>
      <p:sp>
        <p:nvSpPr>
          <p:cNvPr name="TextBox 27" id="27"/>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Q&amp;A · 12/24</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Enterprise Patterns ทำงานร่วมกัน</a:t>
            </a:r>
          </a:p>
        </p:txBody>
      </p:sp>
      <p:grpSp>
        <p:nvGrpSpPr>
          <p:cNvPr name="Group 5" id="5"/>
          <p:cNvGrpSpPr/>
          <p:nvPr/>
        </p:nvGrpSpPr>
        <p:grpSpPr>
          <a:xfrm rot="0">
            <a:off x="2268855" y="2686050"/>
            <a:ext cx="3855720" cy="1005840"/>
            <a:chOff x="0" y="0"/>
            <a:chExt cx="5140960" cy="1341120"/>
          </a:xfrm>
        </p:grpSpPr>
        <p:sp>
          <p:nvSpPr>
            <p:cNvPr name="Freeform 6" id="6"/>
            <p:cNvSpPr/>
            <p:nvPr/>
          </p:nvSpPr>
          <p:spPr>
            <a:xfrm flipH="false" flipV="false" rot="0">
              <a:off x="0" y="0"/>
              <a:ext cx="5140960" cy="1341120"/>
            </a:xfrm>
            <a:custGeom>
              <a:avLst/>
              <a:gdLst/>
              <a:ahLst/>
              <a:cxnLst/>
              <a:rect r="r" b="b" t="t" l="l"/>
              <a:pathLst>
                <a:path h="1341120" w="5140960">
                  <a:moveTo>
                    <a:pt x="228600" y="0"/>
                  </a:moveTo>
                  <a:lnTo>
                    <a:pt x="4912360" y="0"/>
                  </a:lnTo>
                  <a:cubicBezTo>
                    <a:pt x="5038598" y="0"/>
                    <a:pt x="5140960" y="102362"/>
                    <a:pt x="5140960" y="228600"/>
                  </a:cubicBezTo>
                  <a:lnTo>
                    <a:pt x="5140960" y="1112520"/>
                  </a:lnTo>
                  <a:cubicBezTo>
                    <a:pt x="5140960" y="1238758"/>
                    <a:pt x="5038598" y="1341120"/>
                    <a:pt x="4912360" y="1341120"/>
                  </a:cubicBezTo>
                  <a:lnTo>
                    <a:pt x="228600" y="1341120"/>
                  </a:lnTo>
                  <a:cubicBezTo>
                    <a:pt x="102362" y="1341120"/>
                    <a:pt x="0" y="1238758"/>
                    <a:pt x="0" y="1112520"/>
                  </a:cubicBezTo>
                  <a:lnTo>
                    <a:pt x="0" y="228600"/>
                  </a:lnTo>
                  <a:cubicBezTo>
                    <a:pt x="0" y="102362"/>
                    <a:pt x="102362" y="0"/>
                    <a:pt x="228600" y="0"/>
                  </a:cubicBezTo>
                  <a:close/>
                </a:path>
              </a:pathLst>
            </a:custGeom>
            <a:solidFill>
              <a:srgbClr val="F1E3CB"/>
            </a:solidFill>
          </p:spPr>
        </p:sp>
      </p:grpSp>
      <p:sp>
        <p:nvSpPr>
          <p:cNvPr name="TextBox 7" id="7"/>
          <p:cNvSpPr txBox="true"/>
          <p:nvPr/>
        </p:nvSpPr>
        <p:spPr>
          <a:xfrm rot="0">
            <a:off x="2419731" y="2959132"/>
            <a:ext cx="355396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MVC</a:t>
            </a:r>
          </a:p>
        </p:txBody>
      </p:sp>
      <p:grpSp>
        <p:nvGrpSpPr>
          <p:cNvPr name="Group 8" id="8"/>
          <p:cNvGrpSpPr/>
          <p:nvPr/>
        </p:nvGrpSpPr>
        <p:grpSpPr>
          <a:xfrm rot="0">
            <a:off x="7214235" y="2686050"/>
            <a:ext cx="3855720" cy="1005840"/>
            <a:chOff x="0" y="0"/>
            <a:chExt cx="5140960" cy="1341120"/>
          </a:xfrm>
        </p:grpSpPr>
        <p:sp>
          <p:nvSpPr>
            <p:cNvPr name="Freeform 9" id="9"/>
            <p:cNvSpPr/>
            <p:nvPr/>
          </p:nvSpPr>
          <p:spPr>
            <a:xfrm flipH="false" flipV="false" rot="0">
              <a:off x="0" y="0"/>
              <a:ext cx="5140960" cy="1341120"/>
            </a:xfrm>
            <a:custGeom>
              <a:avLst/>
              <a:gdLst/>
              <a:ahLst/>
              <a:cxnLst/>
              <a:rect r="r" b="b" t="t" l="l"/>
              <a:pathLst>
                <a:path h="1341120" w="5140960">
                  <a:moveTo>
                    <a:pt x="228600" y="0"/>
                  </a:moveTo>
                  <a:lnTo>
                    <a:pt x="4912360" y="0"/>
                  </a:lnTo>
                  <a:cubicBezTo>
                    <a:pt x="5038598" y="0"/>
                    <a:pt x="5140960" y="102362"/>
                    <a:pt x="5140960" y="228600"/>
                  </a:cubicBezTo>
                  <a:lnTo>
                    <a:pt x="5140960" y="1112520"/>
                  </a:lnTo>
                  <a:cubicBezTo>
                    <a:pt x="5140960" y="1238758"/>
                    <a:pt x="5038598" y="1341120"/>
                    <a:pt x="4912360" y="1341120"/>
                  </a:cubicBezTo>
                  <a:lnTo>
                    <a:pt x="228600" y="1341120"/>
                  </a:lnTo>
                  <a:cubicBezTo>
                    <a:pt x="102362" y="1341120"/>
                    <a:pt x="0" y="1238758"/>
                    <a:pt x="0" y="1112520"/>
                  </a:cubicBezTo>
                  <a:lnTo>
                    <a:pt x="0" y="228600"/>
                  </a:lnTo>
                  <a:cubicBezTo>
                    <a:pt x="0" y="102362"/>
                    <a:pt x="102362" y="0"/>
                    <a:pt x="228600" y="0"/>
                  </a:cubicBezTo>
                  <a:close/>
                </a:path>
              </a:pathLst>
            </a:custGeom>
            <a:solidFill>
              <a:srgbClr val="DAEBE4"/>
            </a:solidFill>
          </p:spPr>
        </p:sp>
      </p:grpSp>
      <p:sp>
        <p:nvSpPr>
          <p:cNvPr name="TextBox 10" id="10"/>
          <p:cNvSpPr txBox="true"/>
          <p:nvPr/>
        </p:nvSpPr>
        <p:spPr>
          <a:xfrm rot="0">
            <a:off x="7365111" y="2959132"/>
            <a:ext cx="355396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Service Layer</a:t>
            </a:r>
          </a:p>
        </p:txBody>
      </p:sp>
      <p:grpSp>
        <p:nvGrpSpPr>
          <p:cNvPr name="Group 11" id="11"/>
          <p:cNvGrpSpPr/>
          <p:nvPr/>
        </p:nvGrpSpPr>
        <p:grpSpPr>
          <a:xfrm rot="0">
            <a:off x="12159615" y="2686050"/>
            <a:ext cx="3855720" cy="1005840"/>
            <a:chOff x="0" y="0"/>
            <a:chExt cx="5140960" cy="1341120"/>
          </a:xfrm>
        </p:grpSpPr>
        <p:sp>
          <p:nvSpPr>
            <p:cNvPr name="Freeform 12" id="12"/>
            <p:cNvSpPr/>
            <p:nvPr/>
          </p:nvSpPr>
          <p:spPr>
            <a:xfrm flipH="false" flipV="false" rot="0">
              <a:off x="0" y="0"/>
              <a:ext cx="5140960" cy="1341120"/>
            </a:xfrm>
            <a:custGeom>
              <a:avLst/>
              <a:gdLst/>
              <a:ahLst/>
              <a:cxnLst/>
              <a:rect r="r" b="b" t="t" l="l"/>
              <a:pathLst>
                <a:path h="1341120" w="5140960">
                  <a:moveTo>
                    <a:pt x="228600" y="0"/>
                  </a:moveTo>
                  <a:lnTo>
                    <a:pt x="4912360" y="0"/>
                  </a:lnTo>
                  <a:cubicBezTo>
                    <a:pt x="5038598" y="0"/>
                    <a:pt x="5140960" y="102362"/>
                    <a:pt x="5140960" y="228600"/>
                  </a:cubicBezTo>
                  <a:lnTo>
                    <a:pt x="5140960" y="1112520"/>
                  </a:lnTo>
                  <a:cubicBezTo>
                    <a:pt x="5140960" y="1238758"/>
                    <a:pt x="5038598" y="1341120"/>
                    <a:pt x="4912360" y="1341120"/>
                  </a:cubicBezTo>
                  <a:lnTo>
                    <a:pt x="228600" y="1341120"/>
                  </a:lnTo>
                  <a:cubicBezTo>
                    <a:pt x="102362" y="1341120"/>
                    <a:pt x="0" y="1238758"/>
                    <a:pt x="0" y="1112520"/>
                  </a:cubicBezTo>
                  <a:lnTo>
                    <a:pt x="0" y="228600"/>
                  </a:lnTo>
                  <a:cubicBezTo>
                    <a:pt x="0" y="102362"/>
                    <a:pt x="102362" y="0"/>
                    <a:pt x="228600" y="0"/>
                  </a:cubicBezTo>
                  <a:close/>
                </a:path>
              </a:pathLst>
            </a:custGeom>
            <a:solidFill>
              <a:srgbClr val="F1E3CB"/>
            </a:solidFill>
          </p:spPr>
        </p:sp>
      </p:grpSp>
      <p:sp>
        <p:nvSpPr>
          <p:cNvPr name="TextBox 13" id="13"/>
          <p:cNvSpPr txBox="true"/>
          <p:nvPr/>
        </p:nvSpPr>
        <p:spPr>
          <a:xfrm rot="0">
            <a:off x="12310491" y="2959132"/>
            <a:ext cx="355396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Repository</a:t>
            </a:r>
          </a:p>
        </p:txBody>
      </p:sp>
      <p:sp>
        <p:nvSpPr>
          <p:cNvPr name="TextBox 14" id="14"/>
          <p:cNvSpPr txBox="true"/>
          <p:nvPr/>
        </p:nvSpPr>
        <p:spPr>
          <a:xfrm rot="0">
            <a:off x="6166485" y="2795492"/>
            <a:ext cx="100584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TextBox 15" id="15"/>
          <p:cNvSpPr txBox="true"/>
          <p:nvPr/>
        </p:nvSpPr>
        <p:spPr>
          <a:xfrm rot="0">
            <a:off x="11111865" y="2795492"/>
            <a:ext cx="100584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AutoShape 16" id="16"/>
          <p:cNvSpPr/>
          <p:nvPr/>
        </p:nvSpPr>
        <p:spPr>
          <a:xfrm rot="0">
            <a:off x="2268855" y="4907280"/>
            <a:ext cx="13746480" cy="33528"/>
          </a:xfrm>
          <a:prstGeom prst="rect">
            <a:avLst/>
          </a:prstGeom>
          <a:solidFill>
            <a:srgbClr val="173A45"/>
          </a:solidFill>
        </p:spPr>
      </p:sp>
      <p:sp>
        <p:nvSpPr>
          <p:cNvPr name="TextBox 17" id="17"/>
          <p:cNvSpPr txBox="true"/>
          <p:nvPr/>
        </p:nvSpPr>
        <p:spPr>
          <a:xfrm rot="0">
            <a:off x="5202555" y="5196269"/>
            <a:ext cx="7879080" cy="584073"/>
          </a:xfrm>
          <a:prstGeom prst="rect">
            <a:avLst/>
          </a:prstGeom>
        </p:spPr>
        <p:txBody>
          <a:bodyPr anchor="t" rtlCol="false" tIns="0" lIns="0" bIns="0" rIns="0">
            <a:spAutoFit/>
          </a:bodyPr>
          <a:lstStyle/>
          <a:p>
            <a:pPr algn="ctr">
              <a:lnSpc>
                <a:spcPts val="4245"/>
              </a:lnSpc>
            </a:pPr>
            <a:r>
              <a:rPr lang="en-US" b="true" sz="3168">
                <a:solidFill>
                  <a:srgbClr val="173A45"/>
                </a:solidFill>
                <a:latin typeface="Sarabun Semi-Bold"/>
                <a:ea typeface="Sarabun Semi-Bold"/>
                <a:cs typeface="Sarabun Semi-Bold"/>
                <a:sym typeface="Sarabun Semi-Bold"/>
              </a:rPr>
              <a:t>Layered Architecture</a:t>
            </a:r>
          </a:p>
        </p:txBody>
      </p:sp>
      <p:grpSp>
        <p:nvGrpSpPr>
          <p:cNvPr name="Group 18" id="18"/>
          <p:cNvGrpSpPr/>
          <p:nvPr/>
        </p:nvGrpSpPr>
        <p:grpSpPr>
          <a:xfrm rot="0">
            <a:off x="3107055" y="6667500"/>
            <a:ext cx="3771900" cy="502920"/>
            <a:chOff x="0" y="0"/>
            <a:chExt cx="5029200" cy="670560"/>
          </a:xfrm>
        </p:grpSpPr>
        <p:sp>
          <p:nvSpPr>
            <p:cNvPr name="Freeform 19" id="19"/>
            <p:cNvSpPr/>
            <p:nvPr/>
          </p:nvSpPr>
          <p:spPr>
            <a:xfrm flipH="false" flipV="false" rot="0">
              <a:off x="0" y="0"/>
              <a:ext cx="5029200" cy="670560"/>
            </a:xfrm>
            <a:custGeom>
              <a:avLst/>
              <a:gdLst/>
              <a:ahLst/>
              <a:cxnLst/>
              <a:rect r="r" b="b" t="t" l="l"/>
              <a:pathLst>
                <a:path h="670560" w="5029200">
                  <a:moveTo>
                    <a:pt x="335280" y="0"/>
                  </a:moveTo>
                  <a:lnTo>
                    <a:pt x="4693920" y="0"/>
                  </a:lnTo>
                  <a:cubicBezTo>
                    <a:pt x="4879086" y="0"/>
                    <a:pt x="5029200" y="150114"/>
                    <a:pt x="5029200" y="335280"/>
                  </a:cubicBezTo>
                  <a:cubicBezTo>
                    <a:pt x="5029200" y="520446"/>
                    <a:pt x="4879086" y="670560"/>
                    <a:pt x="469392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20" id="20"/>
          <p:cNvSpPr txBox="true"/>
          <p:nvPr/>
        </p:nvSpPr>
        <p:spPr>
          <a:xfrm rot="0">
            <a:off x="3207639" y="6724650"/>
            <a:ext cx="357073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DTO + Mapper</a:t>
            </a:r>
          </a:p>
        </p:txBody>
      </p:sp>
      <p:grpSp>
        <p:nvGrpSpPr>
          <p:cNvPr name="Group 21" id="21"/>
          <p:cNvGrpSpPr/>
          <p:nvPr/>
        </p:nvGrpSpPr>
        <p:grpSpPr>
          <a:xfrm rot="0">
            <a:off x="10315575" y="6667500"/>
            <a:ext cx="4861560" cy="502920"/>
            <a:chOff x="0" y="0"/>
            <a:chExt cx="6482080" cy="670560"/>
          </a:xfrm>
        </p:grpSpPr>
        <p:sp>
          <p:nvSpPr>
            <p:cNvPr name="Freeform 22" id="22"/>
            <p:cNvSpPr/>
            <p:nvPr/>
          </p:nvSpPr>
          <p:spPr>
            <a:xfrm flipH="false" flipV="false" rot="0">
              <a:off x="0" y="0"/>
              <a:ext cx="6482080" cy="670560"/>
            </a:xfrm>
            <a:custGeom>
              <a:avLst/>
              <a:gdLst/>
              <a:ahLst/>
              <a:cxnLst/>
              <a:rect r="r" b="b" t="t" l="l"/>
              <a:pathLst>
                <a:path h="670560" w="6482080">
                  <a:moveTo>
                    <a:pt x="335280" y="0"/>
                  </a:moveTo>
                  <a:lnTo>
                    <a:pt x="6146800" y="0"/>
                  </a:lnTo>
                  <a:cubicBezTo>
                    <a:pt x="6331966" y="0"/>
                    <a:pt x="6482080" y="150114"/>
                    <a:pt x="6482080" y="335280"/>
                  </a:cubicBezTo>
                  <a:cubicBezTo>
                    <a:pt x="6482080" y="520446"/>
                    <a:pt x="6331966" y="670560"/>
                    <a:pt x="614680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23" id="23"/>
          <p:cNvSpPr txBox="true"/>
          <p:nvPr/>
        </p:nvSpPr>
        <p:spPr>
          <a:xfrm rot="0">
            <a:off x="10416159" y="6724650"/>
            <a:ext cx="466039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Dependency Injection</a:t>
            </a:r>
          </a:p>
        </p:txBody>
      </p:sp>
      <p:sp>
        <p:nvSpPr>
          <p:cNvPr name="TextBox 24" id="24"/>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แต่ละชั้นรับผิดชอบงานของตนเอง และส่งข้อมูลผ่าน DTO Service ประสาน use case ส่วน Repository ดูแลการเข้าถึงฐานข้อมูล</a:t>
            </a:r>
          </a:p>
        </p:txBody>
      </p:sp>
      <p:sp>
        <p:nvSpPr>
          <p:cNvPr name="TextBox 25" id="25"/>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pavarit_673380278-9_01</a:t>
            </a:r>
          </a:p>
        </p:txBody>
      </p:sp>
      <p:sp>
        <p:nvSpPr>
          <p:cNvPr name="TextBox 26" id="26"/>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Q&amp;A · 13/24</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State · เลือกพฤติกรรมตามสถานะ</a:t>
            </a:r>
          </a:p>
        </p:txBody>
      </p:sp>
      <p:grpSp>
        <p:nvGrpSpPr>
          <p:cNvPr name="Group 5" id="5"/>
          <p:cNvGrpSpPr/>
          <p:nvPr/>
        </p:nvGrpSpPr>
        <p:grpSpPr>
          <a:xfrm rot="0">
            <a:off x="4699635" y="2141220"/>
            <a:ext cx="8884920" cy="880110"/>
            <a:chOff x="0" y="0"/>
            <a:chExt cx="11846560" cy="1173480"/>
          </a:xfrm>
        </p:grpSpPr>
        <p:sp>
          <p:nvSpPr>
            <p:cNvPr name="Freeform 6" id="6"/>
            <p:cNvSpPr/>
            <p:nvPr/>
          </p:nvSpPr>
          <p:spPr>
            <a:xfrm flipH="false" flipV="false" rot="0">
              <a:off x="0" y="0"/>
              <a:ext cx="11846560" cy="1173480"/>
            </a:xfrm>
            <a:custGeom>
              <a:avLst/>
              <a:gdLst/>
              <a:ahLst/>
              <a:cxnLst/>
              <a:rect r="r" b="b" t="t" l="l"/>
              <a:pathLst>
                <a:path h="1173480" w="11846560">
                  <a:moveTo>
                    <a:pt x="228600" y="0"/>
                  </a:moveTo>
                  <a:lnTo>
                    <a:pt x="11617960" y="0"/>
                  </a:lnTo>
                  <a:cubicBezTo>
                    <a:pt x="11744198" y="0"/>
                    <a:pt x="11846560" y="102362"/>
                    <a:pt x="11846560" y="228600"/>
                  </a:cubicBezTo>
                  <a:lnTo>
                    <a:pt x="11846560" y="944880"/>
                  </a:lnTo>
                  <a:cubicBezTo>
                    <a:pt x="11846560" y="1071118"/>
                    <a:pt x="11744198" y="1173480"/>
                    <a:pt x="1161796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DAEBE4"/>
            </a:solidFill>
          </p:spPr>
        </p:sp>
      </p:grpSp>
      <p:sp>
        <p:nvSpPr>
          <p:cNvPr name="TextBox 7" id="7"/>
          <p:cNvSpPr txBox="true"/>
          <p:nvPr/>
        </p:nvSpPr>
        <p:spPr>
          <a:xfrm rot="0">
            <a:off x="4850511" y="2343055"/>
            <a:ext cx="8583168" cy="447675"/>
          </a:xfrm>
          <a:prstGeom prst="rect">
            <a:avLst/>
          </a:prstGeom>
        </p:spPr>
        <p:txBody>
          <a:bodyPr anchor="t" rtlCol="false" tIns="0" lIns="0" bIns="0" rIns="0">
            <a:spAutoFit/>
          </a:bodyPr>
          <a:lstStyle/>
          <a:p>
            <a:pPr algn="ctr">
              <a:lnSpc>
                <a:spcPts val="3272"/>
              </a:lnSpc>
            </a:pPr>
            <a:r>
              <a:rPr lang="en-US" b="true" sz="2442">
                <a:solidFill>
                  <a:srgbClr val="173A45"/>
                </a:solidFill>
                <a:latin typeface="Sarabun Semi-Bold"/>
                <a:ea typeface="Sarabun Semi-Bold"/>
                <a:cs typeface="Sarabun Semi-Bold"/>
                <a:sym typeface="Sarabun Semi-Bold"/>
              </a:rPr>
              <a:t>OrderFulfillmentServiceImpl</a:t>
            </a:r>
          </a:p>
        </p:txBody>
      </p:sp>
      <p:sp>
        <p:nvSpPr>
          <p:cNvPr name="TextBox 8" id="8"/>
          <p:cNvSpPr txBox="true"/>
          <p:nvPr/>
        </p:nvSpPr>
        <p:spPr>
          <a:xfrm rot="0">
            <a:off x="8429625" y="3046952"/>
            <a:ext cx="1424940" cy="778002"/>
          </a:xfrm>
          <a:prstGeom prst="rect">
            <a:avLst/>
          </a:prstGeom>
        </p:spPr>
        <p:txBody>
          <a:bodyPr anchor="t" rtlCol="false" tIns="0" lIns="0" bIns="0" rIns="0">
            <a:spAutoFit/>
          </a:bodyPr>
          <a:lstStyle/>
          <a:p>
            <a:pPr algn="ctr">
              <a:lnSpc>
                <a:spcPts val="5660"/>
              </a:lnSpc>
            </a:pPr>
            <a:r>
              <a:rPr lang="en-US" sz="4224">
                <a:solidFill>
                  <a:srgbClr val="28766D"/>
                </a:solidFill>
                <a:latin typeface="Sarabun"/>
                <a:ea typeface="Sarabun"/>
                <a:cs typeface="Sarabun"/>
                <a:sym typeface="Sarabun"/>
              </a:rPr>
              <a:t>↓</a:t>
            </a:r>
          </a:p>
        </p:txBody>
      </p:sp>
      <p:grpSp>
        <p:nvGrpSpPr>
          <p:cNvPr name="Group 9" id="9"/>
          <p:cNvGrpSpPr/>
          <p:nvPr/>
        </p:nvGrpSpPr>
        <p:grpSpPr>
          <a:xfrm rot="0">
            <a:off x="5286375" y="3985260"/>
            <a:ext cx="7711440" cy="880110"/>
            <a:chOff x="0" y="0"/>
            <a:chExt cx="10281920" cy="1173480"/>
          </a:xfrm>
        </p:grpSpPr>
        <p:sp>
          <p:nvSpPr>
            <p:cNvPr name="Freeform 10" id="10"/>
            <p:cNvSpPr/>
            <p:nvPr/>
          </p:nvSpPr>
          <p:spPr>
            <a:xfrm flipH="false" flipV="false" rot="0">
              <a:off x="0" y="0"/>
              <a:ext cx="10281920" cy="1173480"/>
            </a:xfrm>
            <a:custGeom>
              <a:avLst/>
              <a:gdLst/>
              <a:ahLst/>
              <a:cxnLst/>
              <a:rect r="r" b="b" t="t" l="l"/>
              <a:pathLst>
                <a:path h="1173480" w="10281920">
                  <a:moveTo>
                    <a:pt x="228600" y="0"/>
                  </a:moveTo>
                  <a:lnTo>
                    <a:pt x="10053320" y="0"/>
                  </a:lnTo>
                  <a:cubicBezTo>
                    <a:pt x="10179558" y="0"/>
                    <a:pt x="10281920" y="102362"/>
                    <a:pt x="10281920" y="228600"/>
                  </a:cubicBezTo>
                  <a:lnTo>
                    <a:pt x="10281920" y="944880"/>
                  </a:lnTo>
                  <a:cubicBezTo>
                    <a:pt x="10281920" y="1071118"/>
                    <a:pt x="10179558" y="1173480"/>
                    <a:pt x="1005332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F1E3CB"/>
            </a:solidFill>
          </p:spPr>
        </p:sp>
      </p:grpSp>
      <p:sp>
        <p:nvSpPr>
          <p:cNvPr name="TextBox 11" id="11"/>
          <p:cNvSpPr txBox="true"/>
          <p:nvPr/>
        </p:nvSpPr>
        <p:spPr>
          <a:xfrm rot="0">
            <a:off x="5437251" y="4187095"/>
            <a:ext cx="7409688" cy="447675"/>
          </a:xfrm>
          <a:prstGeom prst="rect">
            <a:avLst/>
          </a:prstGeom>
        </p:spPr>
        <p:txBody>
          <a:bodyPr anchor="t" rtlCol="false" tIns="0" lIns="0" bIns="0" rIns="0">
            <a:spAutoFit/>
          </a:bodyPr>
          <a:lstStyle/>
          <a:p>
            <a:pPr algn="ctr">
              <a:lnSpc>
                <a:spcPts val="3272"/>
              </a:lnSpc>
            </a:pPr>
            <a:r>
              <a:rPr lang="en-US" b="true" sz="2442">
                <a:solidFill>
                  <a:srgbClr val="173A45"/>
                </a:solidFill>
                <a:latin typeface="Sarabun Semi-Bold"/>
                <a:ea typeface="Sarabun Semi-Bold"/>
                <a:cs typeface="Sarabun Semi-Bold"/>
                <a:sym typeface="Sarabun Semi-Bold"/>
              </a:rPr>
              <a:t>OrderState · status() / next()</a:t>
            </a:r>
          </a:p>
        </p:txBody>
      </p:sp>
      <p:sp>
        <p:nvSpPr>
          <p:cNvPr name="AutoShape 12" id="12"/>
          <p:cNvSpPr/>
          <p:nvPr/>
        </p:nvSpPr>
        <p:spPr>
          <a:xfrm rot="0">
            <a:off x="9142095" y="4991100"/>
            <a:ext cx="33528" cy="670560"/>
          </a:xfrm>
          <a:prstGeom prst="rect">
            <a:avLst/>
          </a:prstGeom>
          <a:solidFill>
            <a:srgbClr val="173A45"/>
          </a:solidFill>
        </p:spPr>
      </p:sp>
      <p:sp>
        <p:nvSpPr>
          <p:cNvPr name="AutoShape 13" id="13"/>
          <p:cNvSpPr/>
          <p:nvPr/>
        </p:nvSpPr>
        <p:spPr>
          <a:xfrm rot="0">
            <a:off x="3609975" y="5661660"/>
            <a:ext cx="11064240" cy="33528"/>
          </a:xfrm>
          <a:prstGeom prst="rect">
            <a:avLst/>
          </a:prstGeom>
          <a:solidFill>
            <a:srgbClr val="173A45"/>
          </a:solidFill>
        </p:spPr>
      </p:sp>
      <p:sp>
        <p:nvSpPr>
          <p:cNvPr name="AutoShape 14" id="14"/>
          <p:cNvSpPr/>
          <p:nvPr/>
        </p:nvSpPr>
        <p:spPr>
          <a:xfrm rot="0">
            <a:off x="3609975" y="5661660"/>
            <a:ext cx="33528" cy="502920"/>
          </a:xfrm>
          <a:prstGeom prst="rect">
            <a:avLst/>
          </a:prstGeom>
          <a:solidFill>
            <a:srgbClr val="173A45"/>
          </a:solidFill>
        </p:spPr>
      </p:sp>
      <p:sp>
        <p:nvSpPr>
          <p:cNvPr name="AutoShape 15" id="15"/>
          <p:cNvSpPr/>
          <p:nvPr/>
        </p:nvSpPr>
        <p:spPr>
          <a:xfrm rot="0">
            <a:off x="7298055" y="5661660"/>
            <a:ext cx="33528" cy="502920"/>
          </a:xfrm>
          <a:prstGeom prst="rect">
            <a:avLst/>
          </a:prstGeom>
          <a:solidFill>
            <a:srgbClr val="173A45"/>
          </a:solidFill>
        </p:spPr>
      </p:sp>
      <p:sp>
        <p:nvSpPr>
          <p:cNvPr name="AutoShape 16" id="16"/>
          <p:cNvSpPr/>
          <p:nvPr/>
        </p:nvSpPr>
        <p:spPr>
          <a:xfrm rot="0">
            <a:off x="10986135" y="5661660"/>
            <a:ext cx="33528" cy="502920"/>
          </a:xfrm>
          <a:prstGeom prst="rect">
            <a:avLst/>
          </a:prstGeom>
          <a:solidFill>
            <a:srgbClr val="173A45"/>
          </a:solidFill>
        </p:spPr>
      </p:sp>
      <p:sp>
        <p:nvSpPr>
          <p:cNvPr name="AutoShape 17" id="17"/>
          <p:cNvSpPr/>
          <p:nvPr/>
        </p:nvSpPr>
        <p:spPr>
          <a:xfrm rot="0">
            <a:off x="14674215" y="5661660"/>
            <a:ext cx="33528" cy="502920"/>
          </a:xfrm>
          <a:prstGeom prst="rect">
            <a:avLst/>
          </a:prstGeom>
          <a:solidFill>
            <a:srgbClr val="173A45"/>
          </a:solidFill>
        </p:spPr>
      </p:sp>
      <p:grpSp>
        <p:nvGrpSpPr>
          <p:cNvPr name="Group 18" id="18"/>
          <p:cNvGrpSpPr/>
          <p:nvPr/>
        </p:nvGrpSpPr>
        <p:grpSpPr>
          <a:xfrm rot="0">
            <a:off x="2185035" y="6457950"/>
            <a:ext cx="2849880" cy="880110"/>
            <a:chOff x="0" y="0"/>
            <a:chExt cx="3799840" cy="1173480"/>
          </a:xfrm>
        </p:grpSpPr>
        <p:sp>
          <p:nvSpPr>
            <p:cNvPr name="Freeform 19" id="19"/>
            <p:cNvSpPr/>
            <p:nvPr/>
          </p:nvSpPr>
          <p:spPr>
            <a:xfrm flipH="false" flipV="false" rot="0">
              <a:off x="0" y="0"/>
              <a:ext cx="3799840" cy="1173480"/>
            </a:xfrm>
            <a:custGeom>
              <a:avLst/>
              <a:gdLst/>
              <a:ahLst/>
              <a:cxnLst/>
              <a:rect r="r" b="b" t="t" l="l"/>
              <a:pathLst>
                <a:path h="1173480" w="3799840">
                  <a:moveTo>
                    <a:pt x="228600" y="0"/>
                  </a:moveTo>
                  <a:lnTo>
                    <a:pt x="3571240" y="0"/>
                  </a:lnTo>
                  <a:cubicBezTo>
                    <a:pt x="3697478" y="0"/>
                    <a:pt x="3799840" y="102362"/>
                    <a:pt x="3799840" y="228600"/>
                  </a:cubicBezTo>
                  <a:lnTo>
                    <a:pt x="3799840" y="944880"/>
                  </a:lnTo>
                  <a:cubicBezTo>
                    <a:pt x="3799840" y="1071118"/>
                    <a:pt x="3697478" y="1173480"/>
                    <a:pt x="357124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F1E3CB"/>
            </a:solidFill>
          </p:spPr>
        </p:sp>
      </p:grpSp>
      <p:sp>
        <p:nvSpPr>
          <p:cNvPr name="TextBox 20" id="20"/>
          <p:cNvSpPr txBox="true"/>
          <p:nvPr/>
        </p:nvSpPr>
        <p:spPr>
          <a:xfrm rot="0">
            <a:off x="2335911" y="6683788"/>
            <a:ext cx="2548128" cy="390144"/>
          </a:xfrm>
          <a:prstGeom prst="rect">
            <a:avLst/>
          </a:prstGeom>
        </p:spPr>
        <p:txBody>
          <a:bodyPr anchor="t" rtlCol="false" tIns="0" lIns="0" bIns="0" rIns="0">
            <a:spAutoFit/>
          </a:bodyPr>
          <a:lstStyle/>
          <a:p>
            <a:pPr algn="ctr">
              <a:lnSpc>
                <a:spcPts val="2741"/>
              </a:lnSpc>
            </a:pPr>
            <a:r>
              <a:rPr lang="en-US" b="true" sz="2046">
                <a:solidFill>
                  <a:srgbClr val="173A45"/>
                </a:solidFill>
                <a:latin typeface="Sarabun Semi-Bold"/>
                <a:ea typeface="Sarabun Semi-Bold"/>
                <a:cs typeface="Sarabun Semi-Bold"/>
                <a:sym typeface="Sarabun Semi-Bold"/>
              </a:rPr>
              <a:t>ReceivedState</a:t>
            </a:r>
          </a:p>
        </p:txBody>
      </p:sp>
      <p:grpSp>
        <p:nvGrpSpPr>
          <p:cNvPr name="Group 21" id="21"/>
          <p:cNvGrpSpPr/>
          <p:nvPr/>
        </p:nvGrpSpPr>
        <p:grpSpPr>
          <a:xfrm rot="0">
            <a:off x="5873115" y="6457950"/>
            <a:ext cx="2849880" cy="880110"/>
            <a:chOff x="0" y="0"/>
            <a:chExt cx="3799840" cy="1173480"/>
          </a:xfrm>
        </p:grpSpPr>
        <p:sp>
          <p:nvSpPr>
            <p:cNvPr name="Freeform 22" id="22"/>
            <p:cNvSpPr/>
            <p:nvPr/>
          </p:nvSpPr>
          <p:spPr>
            <a:xfrm flipH="false" flipV="false" rot="0">
              <a:off x="0" y="0"/>
              <a:ext cx="3799840" cy="1173480"/>
            </a:xfrm>
            <a:custGeom>
              <a:avLst/>
              <a:gdLst/>
              <a:ahLst/>
              <a:cxnLst/>
              <a:rect r="r" b="b" t="t" l="l"/>
              <a:pathLst>
                <a:path h="1173480" w="3799840">
                  <a:moveTo>
                    <a:pt x="228600" y="0"/>
                  </a:moveTo>
                  <a:lnTo>
                    <a:pt x="3571240" y="0"/>
                  </a:lnTo>
                  <a:cubicBezTo>
                    <a:pt x="3697478" y="0"/>
                    <a:pt x="3799840" y="102362"/>
                    <a:pt x="3799840" y="228600"/>
                  </a:cubicBezTo>
                  <a:lnTo>
                    <a:pt x="3799840" y="944880"/>
                  </a:lnTo>
                  <a:cubicBezTo>
                    <a:pt x="3799840" y="1071118"/>
                    <a:pt x="3697478" y="1173480"/>
                    <a:pt x="357124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F1E3CB"/>
            </a:solidFill>
          </p:spPr>
        </p:sp>
      </p:grpSp>
      <p:sp>
        <p:nvSpPr>
          <p:cNvPr name="TextBox 23" id="23"/>
          <p:cNvSpPr txBox="true"/>
          <p:nvPr/>
        </p:nvSpPr>
        <p:spPr>
          <a:xfrm rot="0">
            <a:off x="6023991" y="6683788"/>
            <a:ext cx="2548128" cy="390144"/>
          </a:xfrm>
          <a:prstGeom prst="rect">
            <a:avLst/>
          </a:prstGeom>
        </p:spPr>
        <p:txBody>
          <a:bodyPr anchor="t" rtlCol="false" tIns="0" lIns="0" bIns="0" rIns="0">
            <a:spAutoFit/>
          </a:bodyPr>
          <a:lstStyle/>
          <a:p>
            <a:pPr algn="ctr">
              <a:lnSpc>
                <a:spcPts val="2741"/>
              </a:lnSpc>
            </a:pPr>
            <a:r>
              <a:rPr lang="en-US" b="true" sz="2046">
                <a:solidFill>
                  <a:srgbClr val="173A45"/>
                </a:solidFill>
                <a:latin typeface="Sarabun Semi-Bold"/>
                <a:ea typeface="Sarabun Semi-Bold"/>
                <a:cs typeface="Sarabun Semi-Bold"/>
                <a:sym typeface="Sarabun Semi-Bold"/>
              </a:rPr>
              <a:t>PreparingState</a:t>
            </a:r>
          </a:p>
        </p:txBody>
      </p:sp>
      <p:grpSp>
        <p:nvGrpSpPr>
          <p:cNvPr name="Group 24" id="24"/>
          <p:cNvGrpSpPr/>
          <p:nvPr/>
        </p:nvGrpSpPr>
        <p:grpSpPr>
          <a:xfrm rot="0">
            <a:off x="9561195" y="6457950"/>
            <a:ext cx="2849880" cy="880110"/>
            <a:chOff x="0" y="0"/>
            <a:chExt cx="3799840" cy="1173480"/>
          </a:xfrm>
        </p:grpSpPr>
        <p:sp>
          <p:nvSpPr>
            <p:cNvPr name="Freeform 25" id="25"/>
            <p:cNvSpPr/>
            <p:nvPr/>
          </p:nvSpPr>
          <p:spPr>
            <a:xfrm flipH="false" flipV="false" rot="0">
              <a:off x="0" y="0"/>
              <a:ext cx="3799840" cy="1173480"/>
            </a:xfrm>
            <a:custGeom>
              <a:avLst/>
              <a:gdLst/>
              <a:ahLst/>
              <a:cxnLst/>
              <a:rect r="r" b="b" t="t" l="l"/>
              <a:pathLst>
                <a:path h="1173480" w="3799840">
                  <a:moveTo>
                    <a:pt x="228600" y="0"/>
                  </a:moveTo>
                  <a:lnTo>
                    <a:pt x="3571240" y="0"/>
                  </a:lnTo>
                  <a:cubicBezTo>
                    <a:pt x="3697478" y="0"/>
                    <a:pt x="3799840" y="102362"/>
                    <a:pt x="3799840" y="228600"/>
                  </a:cubicBezTo>
                  <a:lnTo>
                    <a:pt x="3799840" y="944880"/>
                  </a:lnTo>
                  <a:cubicBezTo>
                    <a:pt x="3799840" y="1071118"/>
                    <a:pt x="3697478" y="1173480"/>
                    <a:pt x="357124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F1E3CB"/>
            </a:solidFill>
          </p:spPr>
        </p:sp>
      </p:grpSp>
      <p:sp>
        <p:nvSpPr>
          <p:cNvPr name="TextBox 26" id="26"/>
          <p:cNvSpPr txBox="true"/>
          <p:nvPr/>
        </p:nvSpPr>
        <p:spPr>
          <a:xfrm rot="0">
            <a:off x="9712071" y="6683788"/>
            <a:ext cx="2548128" cy="390144"/>
          </a:xfrm>
          <a:prstGeom prst="rect">
            <a:avLst/>
          </a:prstGeom>
        </p:spPr>
        <p:txBody>
          <a:bodyPr anchor="t" rtlCol="false" tIns="0" lIns="0" bIns="0" rIns="0">
            <a:spAutoFit/>
          </a:bodyPr>
          <a:lstStyle/>
          <a:p>
            <a:pPr algn="ctr">
              <a:lnSpc>
                <a:spcPts val="2741"/>
              </a:lnSpc>
            </a:pPr>
            <a:r>
              <a:rPr lang="en-US" b="true" sz="2046">
                <a:solidFill>
                  <a:srgbClr val="173A45"/>
                </a:solidFill>
                <a:latin typeface="Sarabun Semi-Bold"/>
                <a:ea typeface="Sarabun Semi-Bold"/>
                <a:cs typeface="Sarabun Semi-Bold"/>
                <a:sym typeface="Sarabun Semi-Bold"/>
              </a:rPr>
              <a:t>ReadyState</a:t>
            </a:r>
          </a:p>
        </p:txBody>
      </p:sp>
      <p:grpSp>
        <p:nvGrpSpPr>
          <p:cNvPr name="Group 27" id="27"/>
          <p:cNvGrpSpPr/>
          <p:nvPr/>
        </p:nvGrpSpPr>
        <p:grpSpPr>
          <a:xfrm rot="0">
            <a:off x="13249275" y="6457950"/>
            <a:ext cx="2849880" cy="880110"/>
            <a:chOff x="0" y="0"/>
            <a:chExt cx="3799840" cy="1173480"/>
          </a:xfrm>
        </p:grpSpPr>
        <p:sp>
          <p:nvSpPr>
            <p:cNvPr name="Freeform 28" id="28"/>
            <p:cNvSpPr/>
            <p:nvPr/>
          </p:nvSpPr>
          <p:spPr>
            <a:xfrm flipH="false" flipV="false" rot="0">
              <a:off x="0" y="0"/>
              <a:ext cx="3799840" cy="1173480"/>
            </a:xfrm>
            <a:custGeom>
              <a:avLst/>
              <a:gdLst/>
              <a:ahLst/>
              <a:cxnLst/>
              <a:rect r="r" b="b" t="t" l="l"/>
              <a:pathLst>
                <a:path h="1173480" w="3799840">
                  <a:moveTo>
                    <a:pt x="228600" y="0"/>
                  </a:moveTo>
                  <a:lnTo>
                    <a:pt x="3571240" y="0"/>
                  </a:lnTo>
                  <a:cubicBezTo>
                    <a:pt x="3697478" y="0"/>
                    <a:pt x="3799840" y="102362"/>
                    <a:pt x="3799840" y="228600"/>
                  </a:cubicBezTo>
                  <a:lnTo>
                    <a:pt x="3799840" y="944880"/>
                  </a:lnTo>
                  <a:cubicBezTo>
                    <a:pt x="3799840" y="1071118"/>
                    <a:pt x="3697478" y="1173480"/>
                    <a:pt x="357124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F1E3CB"/>
            </a:solidFill>
          </p:spPr>
        </p:sp>
      </p:grpSp>
      <p:sp>
        <p:nvSpPr>
          <p:cNvPr name="TextBox 29" id="29"/>
          <p:cNvSpPr txBox="true"/>
          <p:nvPr/>
        </p:nvSpPr>
        <p:spPr>
          <a:xfrm rot="0">
            <a:off x="13400151" y="6683788"/>
            <a:ext cx="2548128" cy="390144"/>
          </a:xfrm>
          <a:prstGeom prst="rect">
            <a:avLst/>
          </a:prstGeom>
        </p:spPr>
        <p:txBody>
          <a:bodyPr anchor="t" rtlCol="false" tIns="0" lIns="0" bIns="0" rIns="0">
            <a:spAutoFit/>
          </a:bodyPr>
          <a:lstStyle/>
          <a:p>
            <a:pPr algn="ctr">
              <a:lnSpc>
                <a:spcPts val="2741"/>
              </a:lnSpc>
            </a:pPr>
            <a:r>
              <a:rPr lang="en-US" b="true" sz="2046">
                <a:solidFill>
                  <a:srgbClr val="173A45"/>
                </a:solidFill>
                <a:latin typeface="Sarabun Semi-Bold"/>
                <a:ea typeface="Sarabun Semi-Bold"/>
                <a:cs typeface="Sarabun Semi-Bold"/>
                <a:sym typeface="Sarabun Semi-Bold"/>
              </a:rPr>
              <a:t>ServedState</a:t>
            </a:r>
          </a:p>
        </p:txBody>
      </p:sp>
      <p:sp>
        <p:nvSpPr>
          <p:cNvPr name="TextBox 30" id="30"/>
          <p:cNvSpPr txBox="true"/>
          <p:nvPr/>
        </p:nvSpPr>
        <p:spPr>
          <a:xfrm rot="0">
            <a:off x="7130415" y="5724430"/>
            <a:ext cx="4023360" cy="337566"/>
          </a:xfrm>
          <a:prstGeom prst="rect">
            <a:avLst/>
          </a:prstGeom>
        </p:spPr>
        <p:txBody>
          <a:bodyPr anchor="t" rtlCol="false" tIns="0" lIns="0" bIns="0" rIns="0">
            <a:spAutoFit/>
          </a:bodyPr>
          <a:lstStyle/>
          <a:p>
            <a:pPr algn="ctr">
              <a:lnSpc>
                <a:spcPts val="2476"/>
              </a:lnSpc>
            </a:pPr>
            <a:r>
              <a:rPr lang="en-US" sz="1848">
                <a:solidFill>
                  <a:srgbClr val="647477"/>
                </a:solidFill>
                <a:latin typeface="Sarabun"/>
                <a:ea typeface="Sarabun"/>
                <a:cs typeface="Sarabun"/>
                <a:sym typeface="Sarabun"/>
              </a:rPr>
              <a:t>implements</a:t>
            </a:r>
          </a:p>
        </p:txBody>
      </p:sp>
      <p:sp>
        <p:nvSpPr>
          <p:cNvPr name="TextBox 31" id="31"/>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Service เลือก State จากสถานะปัจจุบันของออเดอร์ แต่ละ State กำหนดสถานะถัดไป จึงปฏิเสธการข้ามขั้นหรือทำซ้ำ</a:t>
            </a:r>
          </a:p>
        </p:txBody>
      </p:sp>
      <p:sp>
        <p:nvSpPr>
          <p:cNvPr name="TextBox 32" id="32"/>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sarun_673380515-1_02</a:t>
            </a:r>
          </a:p>
        </p:txBody>
      </p:sp>
      <p:sp>
        <p:nvSpPr>
          <p:cNvPr name="TextBox 33" id="33"/>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Q&amp;A · 14/24</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Strategy · Engine รู้เพียง Interface</a:t>
            </a:r>
          </a:p>
        </p:txBody>
      </p:sp>
      <p:grpSp>
        <p:nvGrpSpPr>
          <p:cNvPr name="Group 5" id="5"/>
          <p:cNvGrpSpPr/>
          <p:nvPr/>
        </p:nvGrpSpPr>
        <p:grpSpPr>
          <a:xfrm rot="0">
            <a:off x="6501765" y="2225040"/>
            <a:ext cx="5280660" cy="1005840"/>
            <a:chOff x="0" y="0"/>
            <a:chExt cx="7040880" cy="1341120"/>
          </a:xfrm>
        </p:grpSpPr>
        <p:sp>
          <p:nvSpPr>
            <p:cNvPr name="Freeform 6" id="6"/>
            <p:cNvSpPr/>
            <p:nvPr/>
          </p:nvSpPr>
          <p:spPr>
            <a:xfrm flipH="false" flipV="false" rot="0">
              <a:off x="0" y="0"/>
              <a:ext cx="7040880" cy="1341120"/>
            </a:xfrm>
            <a:custGeom>
              <a:avLst/>
              <a:gdLst/>
              <a:ahLst/>
              <a:cxnLst/>
              <a:rect r="r" b="b" t="t" l="l"/>
              <a:pathLst>
                <a:path h="1341120" w="7040880">
                  <a:moveTo>
                    <a:pt x="228600" y="0"/>
                  </a:moveTo>
                  <a:lnTo>
                    <a:pt x="6812280" y="0"/>
                  </a:lnTo>
                  <a:cubicBezTo>
                    <a:pt x="6938518" y="0"/>
                    <a:pt x="7040880" y="102362"/>
                    <a:pt x="7040880" y="228600"/>
                  </a:cubicBezTo>
                  <a:lnTo>
                    <a:pt x="7040880" y="1112520"/>
                  </a:lnTo>
                  <a:cubicBezTo>
                    <a:pt x="7040880" y="1238758"/>
                    <a:pt x="6938518" y="1341120"/>
                    <a:pt x="6812280" y="1341120"/>
                  </a:cubicBezTo>
                  <a:lnTo>
                    <a:pt x="228600" y="1341120"/>
                  </a:lnTo>
                  <a:cubicBezTo>
                    <a:pt x="102362" y="1341120"/>
                    <a:pt x="0" y="1238758"/>
                    <a:pt x="0" y="1112520"/>
                  </a:cubicBezTo>
                  <a:lnTo>
                    <a:pt x="0" y="228600"/>
                  </a:lnTo>
                  <a:cubicBezTo>
                    <a:pt x="0" y="102362"/>
                    <a:pt x="102362" y="0"/>
                    <a:pt x="228600" y="0"/>
                  </a:cubicBezTo>
                  <a:close/>
                </a:path>
              </a:pathLst>
            </a:custGeom>
            <a:solidFill>
              <a:srgbClr val="DAEBE4"/>
            </a:solidFill>
          </p:spPr>
        </p:sp>
      </p:grpSp>
      <p:sp>
        <p:nvSpPr>
          <p:cNvPr name="TextBox 7" id="7"/>
          <p:cNvSpPr txBox="true"/>
          <p:nvPr/>
        </p:nvSpPr>
        <p:spPr>
          <a:xfrm rot="0">
            <a:off x="6652641" y="2452021"/>
            <a:ext cx="4978908" cy="523113"/>
          </a:xfrm>
          <a:prstGeom prst="rect">
            <a:avLst/>
          </a:prstGeom>
        </p:spPr>
        <p:txBody>
          <a:bodyPr anchor="t" rtlCol="false" tIns="0" lIns="0" bIns="0" rIns="0">
            <a:spAutoFit/>
          </a:bodyPr>
          <a:lstStyle/>
          <a:p>
            <a:pPr algn="ctr">
              <a:lnSpc>
                <a:spcPts val="3891"/>
              </a:lnSpc>
            </a:pPr>
            <a:r>
              <a:rPr lang="en-US" b="true" sz="2904">
                <a:solidFill>
                  <a:srgbClr val="173A45"/>
                </a:solidFill>
                <a:latin typeface="Sarabun Semi-Bold"/>
                <a:ea typeface="Sarabun Semi-Bold"/>
                <a:cs typeface="Sarabun Semi-Bold"/>
                <a:sym typeface="Sarabun Semi-Bold"/>
              </a:rPr>
              <a:t>BillingEngine</a:t>
            </a:r>
          </a:p>
        </p:txBody>
      </p:sp>
      <p:sp>
        <p:nvSpPr>
          <p:cNvPr name="AutoShape 8" id="8"/>
          <p:cNvSpPr/>
          <p:nvPr/>
        </p:nvSpPr>
        <p:spPr>
          <a:xfrm rot="0">
            <a:off x="9142095" y="3356610"/>
            <a:ext cx="33528" cy="922020"/>
          </a:xfrm>
          <a:prstGeom prst="rect">
            <a:avLst/>
          </a:prstGeom>
          <a:solidFill>
            <a:srgbClr val="173A45"/>
          </a:solidFill>
        </p:spPr>
      </p:sp>
      <p:sp>
        <p:nvSpPr>
          <p:cNvPr name="AutoShape 9" id="9"/>
          <p:cNvSpPr/>
          <p:nvPr/>
        </p:nvSpPr>
        <p:spPr>
          <a:xfrm rot="0">
            <a:off x="5118735" y="4278630"/>
            <a:ext cx="8046720" cy="33528"/>
          </a:xfrm>
          <a:prstGeom prst="rect">
            <a:avLst/>
          </a:prstGeom>
          <a:solidFill>
            <a:srgbClr val="173A45"/>
          </a:solidFill>
        </p:spPr>
      </p:sp>
      <p:sp>
        <p:nvSpPr>
          <p:cNvPr name="AutoShape 10" id="10"/>
          <p:cNvSpPr/>
          <p:nvPr/>
        </p:nvSpPr>
        <p:spPr>
          <a:xfrm rot="0">
            <a:off x="5118735" y="4278630"/>
            <a:ext cx="33528" cy="670560"/>
          </a:xfrm>
          <a:prstGeom prst="rect">
            <a:avLst/>
          </a:prstGeom>
          <a:solidFill>
            <a:srgbClr val="173A45"/>
          </a:solidFill>
        </p:spPr>
      </p:sp>
      <p:sp>
        <p:nvSpPr>
          <p:cNvPr name="AutoShape 11" id="11"/>
          <p:cNvSpPr/>
          <p:nvPr/>
        </p:nvSpPr>
        <p:spPr>
          <a:xfrm rot="0">
            <a:off x="13165455" y="4278630"/>
            <a:ext cx="33528" cy="670560"/>
          </a:xfrm>
          <a:prstGeom prst="rect">
            <a:avLst/>
          </a:prstGeom>
          <a:solidFill>
            <a:srgbClr val="173A45"/>
          </a:solidFill>
        </p:spPr>
      </p:sp>
      <p:grpSp>
        <p:nvGrpSpPr>
          <p:cNvPr name="Group 12" id="12"/>
          <p:cNvGrpSpPr/>
          <p:nvPr/>
        </p:nvGrpSpPr>
        <p:grpSpPr>
          <a:xfrm rot="0">
            <a:off x="2268855" y="5158740"/>
            <a:ext cx="5699760" cy="963930"/>
            <a:chOff x="0" y="0"/>
            <a:chExt cx="7599680" cy="1285240"/>
          </a:xfrm>
        </p:grpSpPr>
        <p:sp>
          <p:nvSpPr>
            <p:cNvPr name="Freeform 13" id="13"/>
            <p:cNvSpPr/>
            <p:nvPr/>
          </p:nvSpPr>
          <p:spPr>
            <a:xfrm flipH="false" flipV="false" rot="0">
              <a:off x="0" y="0"/>
              <a:ext cx="7599680" cy="1285240"/>
            </a:xfrm>
            <a:custGeom>
              <a:avLst/>
              <a:gdLst/>
              <a:ahLst/>
              <a:cxnLst/>
              <a:rect r="r" b="b" t="t" l="l"/>
              <a:pathLst>
                <a:path h="1285240" w="7599680">
                  <a:moveTo>
                    <a:pt x="228600" y="0"/>
                  </a:moveTo>
                  <a:lnTo>
                    <a:pt x="7371080" y="0"/>
                  </a:lnTo>
                  <a:cubicBezTo>
                    <a:pt x="7497318" y="0"/>
                    <a:pt x="7599680" y="102362"/>
                    <a:pt x="7599680" y="228600"/>
                  </a:cubicBezTo>
                  <a:lnTo>
                    <a:pt x="7599680" y="1056640"/>
                  </a:lnTo>
                  <a:cubicBezTo>
                    <a:pt x="7599680" y="1182878"/>
                    <a:pt x="7497318" y="1285240"/>
                    <a:pt x="7371080" y="1285240"/>
                  </a:cubicBezTo>
                  <a:lnTo>
                    <a:pt x="228600" y="1285240"/>
                  </a:lnTo>
                  <a:cubicBezTo>
                    <a:pt x="102362" y="1285240"/>
                    <a:pt x="0" y="1182878"/>
                    <a:pt x="0" y="1056640"/>
                  </a:cubicBezTo>
                  <a:lnTo>
                    <a:pt x="0" y="228600"/>
                  </a:lnTo>
                  <a:cubicBezTo>
                    <a:pt x="0" y="102362"/>
                    <a:pt x="102362" y="0"/>
                    <a:pt x="228600" y="0"/>
                  </a:cubicBezTo>
                  <a:close/>
                </a:path>
              </a:pathLst>
            </a:custGeom>
            <a:solidFill>
              <a:srgbClr val="F1E3CB"/>
            </a:solidFill>
          </p:spPr>
        </p:sp>
      </p:grpSp>
      <p:sp>
        <p:nvSpPr>
          <p:cNvPr name="TextBox 14" id="14"/>
          <p:cNvSpPr txBox="true"/>
          <p:nvPr/>
        </p:nvSpPr>
        <p:spPr>
          <a:xfrm rot="0">
            <a:off x="2419731" y="5415058"/>
            <a:ext cx="5398008" cy="422529"/>
          </a:xfrm>
          <a:prstGeom prst="rect">
            <a:avLst/>
          </a:prstGeom>
        </p:spPr>
        <p:txBody>
          <a:bodyPr anchor="t" rtlCol="false" tIns="0" lIns="0" bIns="0" rIns="0">
            <a:spAutoFit/>
          </a:bodyPr>
          <a:lstStyle/>
          <a:p>
            <a:pPr algn="ctr">
              <a:lnSpc>
                <a:spcPts val="3095"/>
              </a:lnSpc>
            </a:pPr>
            <a:r>
              <a:rPr lang="en-US" b="true" sz="2310">
                <a:solidFill>
                  <a:srgbClr val="173A45"/>
                </a:solidFill>
                <a:latin typeface="Sarabun Semi-Bold"/>
                <a:ea typeface="Sarabun Semi-Bold"/>
                <a:cs typeface="Sarabun Semi-Bold"/>
                <a:sym typeface="Sarabun Semi-Bold"/>
              </a:rPr>
              <a:t>BillCalculationStrategy</a:t>
            </a:r>
          </a:p>
        </p:txBody>
      </p:sp>
      <p:grpSp>
        <p:nvGrpSpPr>
          <p:cNvPr name="Group 15" id="15"/>
          <p:cNvGrpSpPr/>
          <p:nvPr/>
        </p:nvGrpSpPr>
        <p:grpSpPr>
          <a:xfrm rot="0">
            <a:off x="10315575" y="5158740"/>
            <a:ext cx="5699760" cy="963930"/>
            <a:chOff x="0" y="0"/>
            <a:chExt cx="7599680" cy="1285240"/>
          </a:xfrm>
        </p:grpSpPr>
        <p:sp>
          <p:nvSpPr>
            <p:cNvPr name="Freeform 16" id="16"/>
            <p:cNvSpPr/>
            <p:nvPr/>
          </p:nvSpPr>
          <p:spPr>
            <a:xfrm flipH="false" flipV="false" rot="0">
              <a:off x="0" y="0"/>
              <a:ext cx="7599680" cy="1285240"/>
            </a:xfrm>
            <a:custGeom>
              <a:avLst/>
              <a:gdLst/>
              <a:ahLst/>
              <a:cxnLst/>
              <a:rect r="r" b="b" t="t" l="l"/>
              <a:pathLst>
                <a:path h="1285240" w="7599680">
                  <a:moveTo>
                    <a:pt x="228600" y="0"/>
                  </a:moveTo>
                  <a:lnTo>
                    <a:pt x="7371080" y="0"/>
                  </a:lnTo>
                  <a:cubicBezTo>
                    <a:pt x="7497318" y="0"/>
                    <a:pt x="7599680" y="102362"/>
                    <a:pt x="7599680" y="228600"/>
                  </a:cubicBezTo>
                  <a:lnTo>
                    <a:pt x="7599680" y="1056640"/>
                  </a:lnTo>
                  <a:cubicBezTo>
                    <a:pt x="7599680" y="1182878"/>
                    <a:pt x="7497318" y="1285240"/>
                    <a:pt x="7371080" y="1285240"/>
                  </a:cubicBezTo>
                  <a:lnTo>
                    <a:pt x="228600" y="1285240"/>
                  </a:lnTo>
                  <a:cubicBezTo>
                    <a:pt x="102362" y="1285240"/>
                    <a:pt x="0" y="1182878"/>
                    <a:pt x="0" y="1056640"/>
                  </a:cubicBezTo>
                  <a:lnTo>
                    <a:pt x="0" y="228600"/>
                  </a:lnTo>
                  <a:cubicBezTo>
                    <a:pt x="0" y="102362"/>
                    <a:pt x="102362" y="0"/>
                    <a:pt x="228600" y="0"/>
                  </a:cubicBezTo>
                  <a:close/>
                </a:path>
              </a:pathLst>
            </a:custGeom>
            <a:solidFill>
              <a:srgbClr val="F1E3CB"/>
            </a:solidFill>
          </p:spPr>
        </p:sp>
      </p:grpSp>
      <p:sp>
        <p:nvSpPr>
          <p:cNvPr name="TextBox 17" id="17"/>
          <p:cNvSpPr txBox="true"/>
          <p:nvPr/>
        </p:nvSpPr>
        <p:spPr>
          <a:xfrm rot="0">
            <a:off x="10466451" y="5415058"/>
            <a:ext cx="5398008" cy="422529"/>
          </a:xfrm>
          <a:prstGeom prst="rect">
            <a:avLst/>
          </a:prstGeom>
        </p:spPr>
        <p:txBody>
          <a:bodyPr anchor="t" rtlCol="false" tIns="0" lIns="0" bIns="0" rIns="0">
            <a:spAutoFit/>
          </a:bodyPr>
          <a:lstStyle/>
          <a:p>
            <a:pPr algn="ctr">
              <a:lnSpc>
                <a:spcPts val="3095"/>
              </a:lnSpc>
            </a:pPr>
            <a:r>
              <a:rPr lang="en-US" b="true" sz="2310">
                <a:solidFill>
                  <a:srgbClr val="173A45"/>
                </a:solidFill>
                <a:latin typeface="Sarabun Semi-Bold"/>
                <a:ea typeface="Sarabun Semi-Bold"/>
                <a:cs typeface="Sarabun Semi-Bold"/>
                <a:sym typeface="Sarabun Semi-Bold"/>
              </a:rPr>
              <a:t>DiscountCalculationStrategy</a:t>
            </a:r>
          </a:p>
        </p:txBody>
      </p:sp>
      <p:sp>
        <p:nvSpPr>
          <p:cNvPr name="TextBox 18" id="18"/>
          <p:cNvSpPr txBox="true"/>
          <p:nvPr/>
        </p:nvSpPr>
        <p:spPr>
          <a:xfrm rot="0">
            <a:off x="4490085" y="6232112"/>
            <a:ext cx="1257300" cy="778002"/>
          </a:xfrm>
          <a:prstGeom prst="rect">
            <a:avLst/>
          </a:prstGeom>
        </p:spPr>
        <p:txBody>
          <a:bodyPr anchor="t" rtlCol="false" tIns="0" lIns="0" bIns="0" rIns="0">
            <a:spAutoFit/>
          </a:bodyPr>
          <a:lstStyle/>
          <a:p>
            <a:pPr algn="ctr">
              <a:lnSpc>
                <a:spcPts val="5660"/>
              </a:lnSpc>
            </a:pPr>
            <a:r>
              <a:rPr lang="en-US" sz="4224">
                <a:solidFill>
                  <a:srgbClr val="28766D"/>
                </a:solidFill>
                <a:latin typeface="Sarabun"/>
                <a:ea typeface="Sarabun"/>
                <a:cs typeface="Sarabun"/>
                <a:sym typeface="Sarabun"/>
              </a:rPr>
              <a:t>↑</a:t>
            </a:r>
          </a:p>
        </p:txBody>
      </p:sp>
      <p:sp>
        <p:nvSpPr>
          <p:cNvPr name="TextBox 19" id="19"/>
          <p:cNvSpPr txBox="true"/>
          <p:nvPr/>
        </p:nvSpPr>
        <p:spPr>
          <a:xfrm rot="0">
            <a:off x="12578715" y="6232112"/>
            <a:ext cx="1257300" cy="778002"/>
          </a:xfrm>
          <a:prstGeom prst="rect">
            <a:avLst/>
          </a:prstGeom>
        </p:spPr>
        <p:txBody>
          <a:bodyPr anchor="t" rtlCol="false" tIns="0" lIns="0" bIns="0" rIns="0">
            <a:spAutoFit/>
          </a:bodyPr>
          <a:lstStyle/>
          <a:p>
            <a:pPr algn="ctr">
              <a:lnSpc>
                <a:spcPts val="5660"/>
              </a:lnSpc>
            </a:pPr>
            <a:r>
              <a:rPr lang="en-US" sz="4224">
                <a:solidFill>
                  <a:srgbClr val="28766D"/>
                </a:solidFill>
                <a:latin typeface="Sarabun"/>
                <a:ea typeface="Sarabun"/>
                <a:cs typeface="Sarabun"/>
                <a:sym typeface="Sarabun"/>
              </a:rPr>
              <a:t>↑</a:t>
            </a:r>
          </a:p>
        </p:txBody>
      </p:sp>
      <p:grpSp>
        <p:nvGrpSpPr>
          <p:cNvPr name="Group 20" id="20"/>
          <p:cNvGrpSpPr/>
          <p:nvPr/>
        </p:nvGrpSpPr>
        <p:grpSpPr>
          <a:xfrm rot="0">
            <a:off x="2268855" y="7296150"/>
            <a:ext cx="5699760" cy="838200"/>
            <a:chOff x="0" y="0"/>
            <a:chExt cx="7599680" cy="1117600"/>
          </a:xfrm>
        </p:grpSpPr>
        <p:sp>
          <p:nvSpPr>
            <p:cNvPr name="Freeform 21" id="21"/>
            <p:cNvSpPr/>
            <p:nvPr/>
          </p:nvSpPr>
          <p:spPr>
            <a:xfrm flipH="false" flipV="false" rot="0">
              <a:off x="0" y="0"/>
              <a:ext cx="7599680" cy="1117600"/>
            </a:xfrm>
            <a:custGeom>
              <a:avLst/>
              <a:gdLst/>
              <a:ahLst/>
              <a:cxnLst/>
              <a:rect r="r" b="b" t="t" l="l"/>
              <a:pathLst>
                <a:path h="1117600" w="7599680">
                  <a:moveTo>
                    <a:pt x="228600" y="0"/>
                  </a:moveTo>
                  <a:lnTo>
                    <a:pt x="7371080" y="0"/>
                  </a:lnTo>
                  <a:cubicBezTo>
                    <a:pt x="7497318" y="0"/>
                    <a:pt x="7599680" y="102362"/>
                    <a:pt x="7599680" y="228600"/>
                  </a:cubicBezTo>
                  <a:lnTo>
                    <a:pt x="7599680" y="889000"/>
                  </a:lnTo>
                  <a:cubicBezTo>
                    <a:pt x="7599680" y="1015238"/>
                    <a:pt x="7497318" y="1117600"/>
                    <a:pt x="7371080" y="1117600"/>
                  </a:cubicBezTo>
                  <a:lnTo>
                    <a:pt x="228600" y="1117600"/>
                  </a:lnTo>
                  <a:cubicBezTo>
                    <a:pt x="102362" y="1117600"/>
                    <a:pt x="0" y="1015238"/>
                    <a:pt x="0" y="889000"/>
                  </a:cubicBezTo>
                  <a:lnTo>
                    <a:pt x="0" y="228600"/>
                  </a:lnTo>
                  <a:cubicBezTo>
                    <a:pt x="0" y="102362"/>
                    <a:pt x="102362" y="0"/>
                    <a:pt x="228600" y="0"/>
                  </a:cubicBezTo>
                  <a:close/>
                </a:path>
              </a:pathLst>
            </a:custGeom>
            <a:solidFill>
              <a:srgbClr val="FFFFFF"/>
            </a:solidFill>
          </p:spPr>
        </p:sp>
      </p:grpSp>
      <p:sp>
        <p:nvSpPr>
          <p:cNvPr name="TextBox 22" id="22"/>
          <p:cNvSpPr txBox="true"/>
          <p:nvPr/>
        </p:nvSpPr>
        <p:spPr>
          <a:xfrm rot="0">
            <a:off x="2419731" y="7484269"/>
            <a:ext cx="5398008" cy="423672"/>
          </a:xfrm>
          <a:prstGeom prst="rect">
            <a:avLst/>
          </a:prstGeom>
        </p:spPr>
        <p:txBody>
          <a:bodyPr anchor="t" rtlCol="false" tIns="0" lIns="0" bIns="0" rIns="0">
            <a:spAutoFit/>
          </a:bodyPr>
          <a:lstStyle/>
          <a:p>
            <a:pPr algn="ctr">
              <a:lnSpc>
                <a:spcPts val="3006"/>
              </a:lnSpc>
            </a:pPr>
            <a:r>
              <a:rPr lang="en-US" b="true" sz="2244">
                <a:solidFill>
                  <a:srgbClr val="173A45"/>
                </a:solidFill>
                <a:latin typeface="Sarabun Semi-Bold"/>
                <a:ea typeface="Sarabun Semi-Bold"/>
                <a:cs typeface="Sarabun Semi-Bold"/>
                <a:sym typeface="Sarabun Semi-Bold"/>
              </a:rPr>
              <a:t>Standard / Child Rate</a:t>
            </a:r>
          </a:p>
        </p:txBody>
      </p:sp>
      <p:grpSp>
        <p:nvGrpSpPr>
          <p:cNvPr name="Group 23" id="23"/>
          <p:cNvGrpSpPr/>
          <p:nvPr/>
        </p:nvGrpSpPr>
        <p:grpSpPr>
          <a:xfrm rot="0">
            <a:off x="10315575" y="7296150"/>
            <a:ext cx="5699760" cy="838200"/>
            <a:chOff x="0" y="0"/>
            <a:chExt cx="7599680" cy="1117600"/>
          </a:xfrm>
        </p:grpSpPr>
        <p:sp>
          <p:nvSpPr>
            <p:cNvPr name="Freeform 24" id="24"/>
            <p:cNvSpPr/>
            <p:nvPr/>
          </p:nvSpPr>
          <p:spPr>
            <a:xfrm flipH="false" flipV="false" rot="0">
              <a:off x="0" y="0"/>
              <a:ext cx="7599680" cy="1117600"/>
            </a:xfrm>
            <a:custGeom>
              <a:avLst/>
              <a:gdLst/>
              <a:ahLst/>
              <a:cxnLst/>
              <a:rect r="r" b="b" t="t" l="l"/>
              <a:pathLst>
                <a:path h="1117600" w="7599680">
                  <a:moveTo>
                    <a:pt x="228600" y="0"/>
                  </a:moveTo>
                  <a:lnTo>
                    <a:pt x="7371080" y="0"/>
                  </a:lnTo>
                  <a:cubicBezTo>
                    <a:pt x="7497318" y="0"/>
                    <a:pt x="7599680" y="102362"/>
                    <a:pt x="7599680" y="228600"/>
                  </a:cubicBezTo>
                  <a:lnTo>
                    <a:pt x="7599680" y="889000"/>
                  </a:lnTo>
                  <a:cubicBezTo>
                    <a:pt x="7599680" y="1015238"/>
                    <a:pt x="7497318" y="1117600"/>
                    <a:pt x="7371080" y="1117600"/>
                  </a:cubicBezTo>
                  <a:lnTo>
                    <a:pt x="228600" y="1117600"/>
                  </a:lnTo>
                  <a:cubicBezTo>
                    <a:pt x="102362" y="1117600"/>
                    <a:pt x="0" y="1015238"/>
                    <a:pt x="0" y="889000"/>
                  </a:cubicBezTo>
                  <a:lnTo>
                    <a:pt x="0" y="228600"/>
                  </a:lnTo>
                  <a:cubicBezTo>
                    <a:pt x="0" y="102362"/>
                    <a:pt x="102362" y="0"/>
                    <a:pt x="228600" y="0"/>
                  </a:cubicBezTo>
                  <a:close/>
                </a:path>
              </a:pathLst>
            </a:custGeom>
            <a:solidFill>
              <a:srgbClr val="FFFFFF"/>
            </a:solidFill>
          </p:spPr>
        </p:sp>
      </p:grpSp>
      <p:sp>
        <p:nvSpPr>
          <p:cNvPr name="TextBox 25" id="25"/>
          <p:cNvSpPr txBox="true"/>
          <p:nvPr/>
        </p:nvSpPr>
        <p:spPr>
          <a:xfrm rot="0">
            <a:off x="10466451" y="7484269"/>
            <a:ext cx="5398008" cy="423672"/>
          </a:xfrm>
          <a:prstGeom prst="rect">
            <a:avLst/>
          </a:prstGeom>
        </p:spPr>
        <p:txBody>
          <a:bodyPr anchor="t" rtlCol="false" tIns="0" lIns="0" bIns="0" rIns="0">
            <a:spAutoFit/>
          </a:bodyPr>
          <a:lstStyle/>
          <a:p>
            <a:pPr algn="ctr">
              <a:lnSpc>
                <a:spcPts val="3006"/>
              </a:lnSpc>
            </a:pPr>
            <a:r>
              <a:rPr lang="en-US" b="true" sz="2244">
                <a:solidFill>
                  <a:srgbClr val="173A45"/>
                </a:solidFill>
                <a:latin typeface="Sarabun Semi-Bold"/>
                <a:ea typeface="Sarabun Semi-Bold"/>
                <a:cs typeface="Sarabun Semi-Bold"/>
                <a:sym typeface="Sarabun Semi-Bold"/>
              </a:rPr>
              <a:t>PromotionDiscountStrategy</a:t>
            </a:r>
          </a:p>
        </p:txBody>
      </p:sp>
      <p:sp>
        <p:nvSpPr>
          <p:cNvPr name="TextBox 26" id="26"/>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Engine พึ่งพา Interface สำหรับราคาและส่วนลด จึงใช้วิธีคำนวณหลายแบบได้ โดยไม่ผูกกับคลาสใดคลาสหนึ่ง</a:t>
            </a:r>
          </a:p>
        </p:txBody>
      </p:sp>
      <p:sp>
        <p:nvSpPr>
          <p:cNvPr name="TextBox 27" id="27"/>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teeramet_673380273-9_02</a:t>
            </a:r>
          </a:p>
        </p:txBody>
      </p:sp>
      <p:sp>
        <p:nvSpPr>
          <p:cNvPr name="TextBox 28" id="28"/>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Q&amp;A · 15/24</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Template · เพิ่ม Consumption ผ่าน Hook</a:t>
            </a:r>
          </a:p>
        </p:txBody>
      </p:sp>
      <p:grpSp>
        <p:nvGrpSpPr>
          <p:cNvPr name="Group 5" id="5"/>
          <p:cNvGrpSpPr/>
          <p:nvPr/>
        </p:nvGrpSpPr>
        <p:grpSpPr>
          <a:xfrm rot="0">
            <a:off x="4867275" y="2141220"/>
            <a:ext cx="8549640" cy="1047750"/>
            <a:chOff x="0" y="0"/>
            <a:chExt cx="11399520" cy="1397000"/>
          </a:xfrm>
        </p:grpSpPr>
        <p:sp>
          <p:nvSpPr>
            <p:cNvPr name="Freeform 6" id="6"/>
            <p:cNvSpPr/>
            <p:nvPr/>
          </p:nvSpPr>
          <p:spPr>
            <a:xfrm flipH="false" flipV="false" rot="0">
              <a:off x="0" y="0"/>
              <a:ext cx="11399520" cy="1397000"/>
            </a:xfrm>
            <a:custGeom>
              <a:avLst/>
              <a:gdLst/>
              <a:ahLst/>
              <a:cxnLst/>
              <a:rect r="r" b="b" t="t" l="l"/>
              <a:pathLst>
                <a:path h="1397000" w="11399520">
                  <a:moveTo>
                    <a:pt x="228600" y="0"/>
                  </a:moveTo>
                  <a:lnTo>
                    <a:pt x="11170920" y="0"/>
                  </a:lnTo>
                  <a:cubicBezTo>
                    <a:pt x="11297158" y="0"/>
                    <a:pt x="11399520" y="102362"/>
                    <a:pt x="11399520" y="228600"/>
                  </a:cubicBezTo>
                  <a:lnTo>
                    <a:pt x="11399520" y="1168400"/>
                  </a:lnTo>
                  <a:cubicBezTo>
                    <a:pt x="11399520" y="1294638"/>
                    <a:pt x="11297158" y="1397000"/>
                    <a:pt x="11170920" y="1397000"/>
                  </a:cubicBezTo>
                  <a:lnTo>
                    <a:pt x="228600" y="1397000"/>
                  </a:lnTo>
                  <a:cubicBezTo>
                    <a:pt x="102362" y="1397000"/>
                    <a:pt x="0" y="1294638"/>
                    <a:pt x="0" y="1168400"/>
                  </a:cubicBezTo>
                  <a:lnTo>
                    <a:pt x="0" y="228600"/>
                  </a:lnTo>
                  <a:cubicBezTo>
                    <a:pt x="0" y="102362"/>
                    <a:pt x="102362" y="0"/>
                    <a:pt x="228600" y="0"/>
                  </a:cubicBezTo>
                  <a:close/>
                </a:path>
              </a:pathLst>
            </a:custGeom>
            <a:solidFill>
              <a:srgbClr val="DAEBE4"/>
            </a:solidFill>
          </p:spPr>
        </p:sp>
      </p:grpSp>
      <p:sp>
        <p:nvSpPr>
          <p:cNvPr name="TextBox 7" id="7"/>
          <p:cNvSpPr txBox="true"/>
          <p:nvPr/>
        </p:nvSpPr>
        <p:spPr>
          <a:xfrm rot="0">
            <a:off x="5018151" y="2392204"/>
            <a:ext cx="8247888" cy="507492"/>
          </a:xfrm>
          <a:prstGeom prst="rect">
            <a:avLst/>
          </a:prstGeom>
        </p:spPr>
        <p:txBody>
          <a:bodyPr anchor="t" rtlCol="false" tIns="0" lIns="0" bIns="0" rIns="0">
            <a:spAutoFit/>
          </a:bodyPr>
          <a:lstStyle/>
          <a:p>
            <a:pPr algn="ctr">
              <a:lnSpc>
                <a:spcPts val="3714"/>
              </a:lnSpc>
            </a:pPr>
            <a:r>
              <a:rPr lang="en-US" b="true" sz="2772">
                <a:solidFill>
                  <a:srgbClr val="173A45"/>
                </a:solidFill>
                <a:latin typeface="Sarabun Semi-Bold"/>
                <a:ea typeface="Sarabun Semi-Bold"/>
                <a:cs typeface="Sarabun Semi-Bold"/>
                <a:sym typeface="Sarabun Semi-Bold"/>
              </a:rPr>
              <a:t>StockTransactionTemplate</a:t>
            </a:r>
          </a:p>
        </p:txBody>
      </p:sp>
      <p:sp>
        <p:nvSpPr>
          <p:cNvPr name="TextBox 8" id="8"/>
          <p:cNvSpPr txBox="true"/>
          <p:nvPr/>
        </p:nvSpPr>
        <p:spPr>
          <a:xfrm rot="0">
            <a:off x="4615815" y="3484245"/>
            <a:ext cx="9052560" cy="423672"/>
          </a:xfrm>
          <a:prstGeom prst="rect">
            <a:avLst/>
          </a:prstGeom>
        </p:spPr>
        <p:txBody>
          <a:bodyPr anchor="t" rtlCol="false" tIns="0" lIns="0" bIns="0" rIns="0">
            <a:spAutoFit/>
          </a:bodyPr>
          <a:lstStyle/>
          <a:p>
            <a:pPr algn="ctr">
              <a:lnSpc>
                <a:spcPts val="3006"/>
              </a:lnSpc>
            </a:pPr>
            <a:r>
              <a:rPr lang="en-US" sz="2244">
                <a:solidFill>
                  <a:srgbClr val="647477"/>
                </a:solidFill>
                <a:latin typeface="Sarabun"/>
                <a:ea typeface="Sarabun"/>
                <a:cs typeface="Sarabun"/>
                <a:sym typeface="Sarabun"/>
              </a:rPr>
              <a:t>final processWithOrder() · calculateDelta()</a:t>
            </a:r>
          </a:p>
        </p:txBody>
      </p:sp>
      <p:sp>
        <p:nvSpPr>
          <p:cNvPr name="AutoShape 9" id="9"/>
          <p:cNvSpPr/>
          <p:nvPr/>
        </p:nvSpPr>
        <p:spPr>
          <a:xfrm rot="0">
            <a:off x="3693795" y="4865370"/>
            <a:ext cx="10896600" cy="33528"/>
          </a:xfrm>
          <a:prstGeom prst="rect">
            <a:avLst/>
          </a:prstGeom>
          <a:solidFill>
            <a:srgbClr val="173A45"/>
          </a:solidFill>
        </p:spPr>
      </p:sp>
      <p:sp>
        <p:nvSpPr>
          <p:cNvPr name="AutoShape 10" id="10"/>
          <p:cNvSpPr/>
          <p:nvPr/>
        </p:nvSpPr>
        <p:spPr>
          <a:xfrm rot="0">
            <a:off x="9142095" y="4152900"/>
            <a:ext cx="33528" cy="712470"/>
          </a:xfrm>
          <a:prstGeom prst="rect">
            <a:avLst/>
          </a:prstGeom>
          <a:solidFill>
            <a:srgbClr val="173A45"/>
          </a:solidFill>
        </p:spPr>
      </p:sp>
      <p:sp>
        <p:nvSpPr>
          <p:cNvPr name="AutoShape 11" id="11"/>
          <p:cNvSpPr/>
          <p:nvPr/>
        </p:nvSpPr>
        <p:spPr>
          <a:xfrm rot="0">
            <a:off x="3693795" y="4865370"/>
            <a:ext cx="33528" cy="670560"/>
          </a:xfrm>
          <a:prstGeom prst="rect">
            <a:avLst/>
          </a:prstGeom>
          <a:solidFill>
            <a:srgbClr val="173A45"/>
          </a:solidFill>
        </p:spPr>
      </p:sp>
      <p:sp>
        <p:nvSpPr>
          <p:cNvPr name="AutoShape 12" id="12"/>
          <p:cNvSpPr/>
          <p:nvPr/>
        </p:nvSpPr>
        <p:spPr>
          <a:xfrm rot="0">
            <a:off x="9142095" y="4865370"/>
            <a:ext cx="33528" cy="670560"/>
          </a:xfrm>
          <a:prstGeom prst="rect">
            <a:avLst/>
          </a:prstGeom>
          <a:solidFill>
            <a:srgbClr val="173A45"/>
          </a:solidFill>
        </p:spPr>
      </p:sp>
      <p:sp>
        <p:nvSpPr>
          <p:cNvPr name="AutoShape 13" id="13"/>
          <p:cNvSpPr/>
          <p:nvPr/>
        </p:nvSpPr>
        <p:spPr>
          <a:xfrm rot="0">
            <a:off x="14590395" y="4865370"/>
            <a:ext cx="33528" cy="670560"/>
          </a:xfrm>
          <a:prstGeom prst="rect">
            <a:avLst/>
          </a:prstGeom>
          <a:solidFill>
            <a:srgbClr val="173A45"/>
          </a:solidFill>
        </p:spPr>
      </p:sp>
      <p:sp>
        <p:nvSpPr>
          <p:cNvPr name="TextBox 14" id="14"/>
          <p:cNvSpPr txBox="true"/>
          <p:nvPr/>
        </p:nvSpPr>
        <p:spPr>
          <a:xfrm rot="0">
            <a:off x="7465695" y="5024247"/>
            <a:ext cx="3352800" cy="311277"/>
          </a:xfrm>
          <a:prstGeom prst="rect">
            <a:avLst/>
          </a:prstGeom>
        </p:spPr>
        <p:txBody>
          <a:bodyPr anchor="t" rtlCol="false" tIns="0" lIns="0" bIns="0" rIns="0">
            <a:spAutoFit/>
          </a:bodyPr>
          <a:lstStyle/>
          <a:p>
            <a:pPr algn="ctr">
              <a:lnSpc>
                <a:spcPts val="2387"/>
              </a:lnSpc>
            </a:pPr>
            <a:r>
              <a:rPr lang="en-US" sz="1782">
                <a:solidFill>
                  <a:srgbClr val="647477"/>
                </a:solidFill>
                <a:latin typeface="Sarabun"/>
                <a:ea typeface="Sarabun"/>
                <a:cs typeface="Sarabun"/>
                <a:sym typeface="Sarabun"/>
              </a:rPr>
              <a:t>extends</a:t>
            </a:r>
          </a:p>
        </p:txBody>
      </p:sp>
      <p:grpSp>
        <p:nvGrpSpPr>
          <p:cNvPr name="Group 15" id="15"/>
          <p:cNvGrpSpPr/>
          <p:nvPr/>
        </p:nvGrpSpPr>
        <p:grpSpPr>
          <a:xfrm rot="0">
            <a:off x="1849755" y="5955030"/>
            <a:ext cx="4442460" cy="1047750"/>
            <a:chOff x="0" y="0"/>
            <a:chExt cx="5923280" cy="1397000"/>
          </a:xfrm>
        </p:grpSpPr>
        <p:sp>
          <p:nvSpPr>
            <p:cNvPr name="Freeform 16" id="16"/>
            <p:cNvSpPr/>
            <p:nvPr/>
          </p:nvSpPr>
          <p:spPr>
            <a:xfrm flipH="false" flipV="false" rot="0">
              <a:off x="0" y="0"/>
              <a:ext cx="5923280" cy="1397000"/>
            </a:xfrm>
            <a:custGeom>
              <a:avLst/>
              <a:gdLst/>
              <a:ahLst/>
              <a:cxnLst/>
              <a:rect r="r" b="b" t="t" l="l"/>
              <a:pathLst>
                <a:path h="1397000" w="5923280">
                  <a:moveTo>
                    <a:pt x="228600" y="0"/>
                  </a:moveTo>
                  <a:lnTo>
                    <a:pt x="5694680" y="0"/>
                  </a:lnTo>
                  <a:cubicBezTo>
                    <a:pt x="5820918" y="0"/>
                    <a:pt x="5923280" y="102362"/>
                    <a:pt x="5923280" y="228600"/>
                  </a:cubicBezTo>
                  <a:lnTo>
                    <a:pt x="5923280" y="1168400"/>
                  </a:lnTo>
                  <a:cubicBezTo>
                    <a:pt x="5923280" y="1294638"/>
                    <a:pt x="5820918" y="1397000"/>
                    <a:pt x="5694680" y="1397000"/>
                  </a:cubicBezTo>
                  <a:lnTo>
                    <a:pt x="228600" y="1397000"/>
                  </a:lnTo>
                  <a:cubicBezTo>
                    <a:pt x="102362" y="1397000"/>
                    <a:pt x="0" y="1294638"/>
                    <a:pt x="0" y="1168400"/>
                  </a:cubicBezTo>
                  <a:lnTo>
                    <a:pt x="0" y="228600"/>
                  </a:lnTo>
                  <a:cubicBezTo>
                    <a:pt x="0" y="102362"/>
                    <a:pt x="102362" y="0"/>
                    <a:pt x="228600" y="0"/>
                  </a:cubicBezTo>
                  <a:close/>
                </a:path>
              </a:pathLst>
            </a:custGeom>
            <a:solidFill>
              <a:srgbClr val="F1E3CB"/>
            </a:solidFill>
          </p:spPr>
        </p:sp>
      </p:grpSp>
      <p:sp>
        <p:nvSpPr>
          <p:cNvPr name="TextBox 17" id="17"/>
          <p:cNvSpPr txBox="true"/>
          <p:nvPr/>
        </p:nvSpPr>
        <p:spPr>
          <a:xfrm rot="0">
            <a:off x="2000631" y="6292120"/>
            <a:ext cx="4140708" cy="354330"/>
          </a:xfrm>
          <a:prstGeom prst="rect">
            <a:avLst/>
          </a:prstGeom>
        </p:spPr>
        <p:txBody>
          <a:bodyPr anchor="t" rtlCol="false" tIns="0" lIns="0" bIns="0" rIns="0">
            <a:spAutoFit/>
          </a:bodyPr>
          <a:lstStyle/>
          <a:p>
            <a:pPr algn="ctr">
              <a:lnSpc>
                <a:spcPts val="2653"/>
              </a:lnSpc>
            </a:pPr>
            <a:r>
              <a:rPr lang="en-US" b="true" sz="1979">
                <a:solidFill>
                  <a:srgbClr val="173A45"/>
                </a:solidFill>
                <a:latin typeface="Sarabun Semi-Bold"/>
                <a:ea typeface="Sarabun Semi-Bold"/>
                <a:cs typeface="Sarabun Semi-Bold"/>
                <a:sym typeface="Sarabun Semi-Bold"/>
              </a:rPr>
              <a:t>StockInProcessor</a:t>
            </a:r>
          </a:p>
        </p:txBody>
      </p:sp>
      <p:grpSp>
        <p:nvGrpSpPr>
          <p:cNvPr name="Group 18" id="18"/>
          <p:cNvGrpSpPr/>
          <p:nvPr/>
        </p:nvGrpSpPr>
        <p:grpSpPr>
          <a:xfrm rot="0">
            <a:off x="6920865" y="5955030"/>
            <a:ext cx="4442460" cy="1047750"/>
            <a:chOff x="0" y="0"/>
            <a:chExt cx="5923280" cy="1397000"/>
          </a:xfrm>
        </p:grpSpPr>
        <p:sp>
          <p:nvSpPr>
            <p:cNvPr name="Freeform 19" id="19"/>
            <p:cNvSpPr/>
            <p:nvPr/>
          </p:nvSpPr>
          <p:spPr>
            <a:xfrm flipH="false" flipV="false" rot="0">
              <a:off x="0" y="0"/>
              <a:ext cx="5923280" cy="1397000"/>
            </a:xfrm>
            <a:custGeom>
              <a:avLst/>
              <a:gdLst/>
              <a:ahLst/>
              <a:cxnLst/>
              <a:rect r="r" b="b" t="t" l="l"/>
              <a:pathLst>
                <a:path h="1397000" w="5923280">
                  <a:moveTo>
                    <a:pt x="228600" y="0"/>
                  </a:moveTo>
                  <a:lnTo>
                    <a:pt x="5694680" y="0"/>
                  </a:lnTo>
                  <a:cubicBezTo>
                    <a:pt x="5820918" y="0"/>
                    <a:pt x="5923280" y="102362"/>
                    <a:pt x="5923280" y="228600"/>
                  </a:cubicBezTo>
                  <a:lnTo>
                    <a:pt x="5923280" y="1168400"/>
                  </a:lnTo>
                  <a:cubicBezTo>
                    <a:pt x="5923280" y="1294638"/>
                    <a:pt x="5820918" y="1397000"/>
                    <a:pt x="5694680" y="1397000"/>
                  </a:cubicBezTo>
                  <a:lnTo>
                    <a:pt x="228600" y="1397000"/>
                  </a:lnTo>
                  <a:cubicBezTo>
                    <a:pt x="102362" y="1397000"/>
                    <a:pt x="0" y="1294638"/>
                    <a:pt x="0" y="1168400"/>
                  </a:cubicBezTo>
                  <a:lnTo>
                    <a:pt x="0" y="228600"/>
                  </a:lnTo>
                  <a:cubicBezTo>
                    <a:pt x="0" y="102362"/>
                    <a:pt x="102362" y="0"/>
                    <a:pt x="228600" y="0"/>
                  </a:cubicBezTo>
                  <a:close/>
                </a:path>
              </a:pathLst>
            </a:custGeom>
            <a:solidFill>
              <a:srgbClr val="F1E3CB"/>
            </a:solidFill>
          </p:spPr>
        </p:sp>
      </p:grpSp>
      <p:sp>
        <p:nvSpPr>
          <p:cNvPr name="TextBox 20" id="20"/>
          <p:cNvSpPr txBox="true"/>
          <p:nvPr/>
        </p:nvSpPr>
        <p:spPr>
          <a:xfrm rot="0">
            <a:off x="7071741" y="6292120"/>
            <a:ext cx="4140708" cy="354330"/>
          </a:xfrm>
          <a:prstGeom prst="rect">
            <a:avLst/>
          </a:prstGeom>
        </p:spPr>
        <p:txBody>
          <a:bodyPr anchor="t" rtlCol="false" tIns="0" lIns="0" bIns="0" rIns="0">
            <a:spAutoFit/>
          </a:bodyPr>
          <a:lstStyle/>
          <a:p>
            <a:pPr algn="ctr">
              <a:lnSpc>
                <a:spcPts val="2653"/>
              </a:lnSpc>
            </a:pPr>
            <a:r>
              <a:rPr lang="en-US" b="true" sz="1979">
                <a:solidFill>
                  <a:srgbClr val="173A45"/>
                </a:solidFill>
                <a:latin typeface="Sarabun Semi-Bold"/>
                <a:ea typeface="Sarabun Semi-Bold"/>
                <a:cs typeface="Sarabun Semi-Bold"/>
                <a:sym typeface="Sarabun Semi-Bold"/>
              </a:rPr>
              <a:t>StockAdjustmentProcessor</a:t>
            </a:r>
          </a:p>
        </p:txBody>
      </p:sp>
      <p:grpSp>
        <p:nvGrpSpPr>
          <p:cNvPr name="Group 21" id="21"/>
          <p:cNvGrpSpPr/>
          <p:nvPr/>
        </p:nvGrpSpPr>
        <p:grpSpPr>
          <a:xfrm rot="0">
            <a:off x="11991975" y="5955030"/>
            <a:ext cx="4442460" cy="1047750"/>
            <a:chOff x="0" y="0"/>
            <a:chExt cx="5923280" cy="1397000"/>
          </a:xfrm>
        </p:grpSpPr>
        <p:sp>
          <p:nvSpPr>
            <p:cNvPr name="Freeform 22" id="22"/>
            <p:cNvSpPr/>
            <p:nvPr/>
          </p:nvSpPr>
          <p:spPr>
            <a:xfrm flipH="false" flipV="false" rot="0">
              <a:off x="0" y="0"/>
              <a:ext cx="5923280" cy="1397000"/>
            </a:xfrm>
            <a:custGeom>
              <a:avLst/>
              <a:gdLst/>
              <a:ahLst/>
              <a:cxnLst/>
              <a:rect r="r" b="b" t="t" l="l"/>
              <a:pathLst>
                <a:path h="1397000" w="5923280">
                  <a:moveTo>
                    <a:pt x="228600" y="0"/>
                  </a:moveTo>
                  <a:lnTo>
                    <a:pt x="5694680" y="0"/>
                  </a:lnTo>
                  <a:cubicBezTo>
                    <a:pt x="5820918" y="0"/>
                    <a:pt x="5923280" y="102362"/>
                    <a:pt x="5923280" y="228600"/>
                  </a:cubicBezTo>
                  <a:lnTo>
                    <a:pt x="5923280" y="1168400"/>
                  </a:lnTo>
                  <a:cubicBezTo>
                    <a:pt x="5923280" y="1294638"/>
                    <a:pt x="5820918" y="1397000"/>
                    <a:pt x="5694680" y="1397000"/>
                  </a:cubicBezTo>
                  <a:lnTo>
                    <a:pt x="228600" y="1397000"/>
                  </a:lnTo>
                  <a:cubicBezTo>
                    <a:pt x="102362" y="1397000"/>
                    <a:pt x="0" y="1294638"/>
                    <a:pt x="0" y="1168400"/>
                  </a:cubicBezTo>
                  <a:lnTo>
                    <a:pt x="0" y="228600"/>
                  </a:lnTo>
                  <a:cubicBezTo>
                    <a:pt x="0" y="102362"/>
                    <a:pt x="102362" y="0"/>
                    <a:pt x="228600" y="0"/>
                  </a:cubicBezTo>
                  <a:close/>
                </a:path>
              </a:pathLst>
            </a:custGeom>
            <a:solidFill>
              <a:srgbClr val="F1E3CB"/>
            </a:solidFill>
          </p:spPr>
        </p:sp>
      </p:grpSp>
      <p:sp>
        <p:nvSpPr>
          <p:cNvPr name="TextBox 23" id="23"/>
          <p:cNvSpPr txBox="true"/>
          <p:nvPr/>
        </p:nvSpPr>
        <p:spPr>
          <a:xfrm rot="0">
            <a:off x="12142851" y="6292120"/>
            <a:ext cx="4140708" cy="354330"/>
          </a:xfrm>
          <a:prstGeom prst="rect">
            <a:avLst/>
          </a:prstGeom>
        </p:spPr>
        <p:txBody>
          <a:bodyPr anchor="t" rtlCol="false" tIns="0" lIns="0" bIns="0" rIns="0">
            <a:spAutoFit/>
          </a:bodyPr>
          <a:lstStyle/>
          <a:p>
            <a:pPr algn="ctr">
              <a:lnSpc>
                <a:spcPts val="2653"/>
              </a:lnSpc>
            </a:pPr>
            <a:r>
              <a:rPr lang="en-US" b="true" sz="1979">
                <a:solidFill>
                  <a:srgbClr val="173A45"/>
                </a:solidFill>
                <a:latin typeface="Sarabun Semi-Bold"/>
                <a:ea typeface="Sarabun Semi-Bold"/>
                <a:cs typeface="Sarabun Semi-Bold"/>
                <a:sym typeface="Sarabun Semi-Bold"/>
              </a:rPr>
              <a:t>StockConsumptionProcessor</a:t>
            </a:r>
          </a:p>
        </p:txBody>
      </p:sp>
      <p:grpSp>
        <p:nvGrpSpPr>
          <p:cNvPr name="Group 24" id="24"/>
          <p:cNvGrpSpPr/>
          <p:nvPr/>
        </p:nvGrpSpPr>
        <p:grpSpPr>
          <a:xfrm rot="0">
            <a:off x="2897505" y="7421880"/>
            <a:ext cx="2346960" cy="502920"/>
            <a:chOff x="0" y="0"/>
            <a:chExt cx="3129280" cy="670560"/>
          </a:xfrm>
        </p:grpSpPr>
        <p:sp>
          <p:nvSpPr>
            <p:cNvPr name="Freeform 25" id="25"/>
            <p:cNvSpPr/>
            <p:nvPr/>
          </p:nvSpPr>
          <p:spPr>
            <a:xfrm flipH="false" flipV="false" rot="0">
              <a:off x="0" y="0"/>
              <a:ext cx="3129280" cy="670560"/>
            </a:xfrm>
            <a:custGeom>
              <a:avLst/>
              <a:gdLst/>
              <a:ahLst/>
              <a:cxnLst/>
              <a:rect r="r" b="b" t="t" l="l"/>
              <a:pathLst>
                <a:path h="670560" w="3129280">
                  <a:moveTo>
                    <a:pt x="335280" y="0"/>
                  </a:moveTo>
                  <a:lnTo>
                    <a:pt x="2794000" y="0"/>
                  </a:lnTo>
                  <a:cubicBezTo>
                    <a:pt x="2979166" y="0"/>
                    <a:pt x="3129280" y="150114"/>
                    <a:pt x="3129280" y="335280"/>
                  </a:cubicBezTo>
                  <a:cubicBezTo>
                    <a:pt x="3129280" y="520446"/>
                    <a:pt x="2979166" y="670560"/>
                    <a:pt x="279400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26" id="26"/>
          <p:cNvSpPr txBox="true"/>
          <p:nvPr/>
        </p:nvSpPr>
        <p:spPr>
          <a:xfrm rot="0">
            <a:off x="2998089" y="7479030"/>
            <a:ext cx="214579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IN</a:t>
            </a:r>
          </a:p>
        </p:txBody>
      </p:sp>
      <p:grpSp>
        <p:nvGrpSpPr>
          <p:cNvPr name="Group 27" id="27"/>
          <p:cNvGrpSpPr/>
          <p:nvPr/>
        </p:nvGrpSpPr>
        <p:grpSpPr>
          <a:xfrm rot="0">
            <a:off x="7968615" y="7421880"/>
            <a:ext cx="2346960" cy="502920"/>
            <a:chOff x="0" y="0"/>
            <a:chExt cx="3129280" cy="670560"/>
          </a:xfrm>
        </p:grpSpPr>
        <p:sp>
          <p:nvSpPr>
            <p:cNvPr name="Freeform 28" id="28"/>
            <p:cNvSpPr/>
            <p:nvPr/>
          </p:nvSpPr>
          <p:spPr>
            <a:xfrm flipH="false" flipV="false" rot="0">
              <a:off x="0" y="0"/>
              <a:ext cx="3129280" cy="670560"/>
            </a:xfrm>
            <a:custGeom>
              <a:avLst/>
              <a:gdLst/>
              <a:ahLst/>
              <a:cxnLst/>
              <a:rect r="r" b="b" t="t" l="l"/>
              <a:pathLst>
                <a:path h="670560" w="3129280">
                  <a:moveTo>
                    <a:pt x="335280" y="0"/>
                  </a:moveTo>
                  <a:lnTo>
                    <a:pt x="2794000" y="0"/>
                  </a:lnTo>
                  <a:cubicBezTo>
                    <a:pt x="2979166" y="0"/>
                    <a:pt x="3129280" y="150114"/>
                    <a:pt x="3129280" y="335280"/>
                  </a:cubicBezTo>
                  <a:cubicBezTo>
                    <a:pt x="3129280" y="520446"/>
                    <a:pt x="2979166" y="670560"/>
                    <a:pt x="279400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29" id="29"/>
          <p:cNvSpPr txBox="true"/>
          <p:nvPr/>
        </p:nvSpPr>
        <p:spPr>
          <a:xfrm rot="0">
            <a:off x="8069199" y="7479030"/>
            <a:ext cx="214579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ADJUSTMENT</a:t>
            </a:r>
          </a:p>
        </p:txBody>
      </p:sp>
      <p:grpSp>
        <p:nvGrpSpPr>
          <p:cNvPr name="Group 30" id="30"/>
          <p:cNvGrpSpPr/>
          <p:nvPr/>
        </p:nvGrpSpPr>
        <p:grpSpPr>
          <a:xfrm rot="0">
            <a:off x="12662535" y="7421880"/>
            <a:ext cx="3604260" cy="502920"/>
            <a:chOff x="0" y="0"/>
            <a:chExt cx="4805680" cy="670560"/>
          </a:xfrm>
        </p:grpSpPr>
        <p:sp>
          <p:nvSpPr>
            <p:cNvPr name="Freeform 31" id="31"/>
            <p:cNvSpPr/>
            <p:nvPr/>
          </p:nvSpPr>
          <p:spPr>
            <a:xfrm flipH="false" flipV="false" rot="0">
              <a:off x="0" y="0"/>
              <a:ext cx="4805680" cy="670560"/>
            </a:xfrm>
            <a:custGeom>
              <a:avLst/>
              <a:gdLst/>
              <a:ahLst/>
              <a:cxnLst/>
              <a:rect r="r" b="b" t="t" l="l"/>
              <a:pathLst>
                <a:path h="670560" w="4805680">
                  <a:moveTo>
                    <a:pt x="335280" y="0"/>
                  </a:moveTo>
                  <a:lnTo>
                    <a:pt x="4470400" y="0"/>
                  </a:lnTo>
                  <a:cubicBezTo>
                    <a:pt x="4655566" y="0"/>
                    <a:pt x="4805680" y="150114"/>
                    <a:pt x="4805680" y="335280"/>
                  </a:cubicBezTo>
                  <a:cubicBezTo>
                    <a:pt x="4805680" y="520446"/>
                    <a:pt x="4655566" y="670560"/>
                    <a:pt x="447040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32" id="32"/>
          <p:cNvSpPr txBox="true"/>
          <p:nvPr/>
        </p:nvSpPr>
        <p:spPr>
          <a:xfrm rot="0">
            <a:off x="12763119" y="7479030"/>
            <a:ext cx="340309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CONSUMPTION + orderId</a:t>
            </a:r>
          </a:p>
        </p:txBody>
      </p:sp>
      <p:sp>
        <p:nvSpPr>
          <p:cNvPr name="TextBox 33" id="33"/>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Template วางขั้นตรวจและบันทึกไว้เป็น final Consumption เพิ่มการหักยอดและผูกประวัติกับ orderId ผ่าน Hook</a:t>
            </a:r>
          </a:p>
        </p:txBody>
      </p:sp>
      <p:sp>
        <p:nvSpPr>
          <p:cNvPr name="TextBox 34" id="34"/>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methus_673380300-2_01</a:t>
            </a:r>
          </a:p>
        </p:txBody>
      </p:sp>
      <p:sp>
        <p:nvSpPr>
          <p:cNvPr name="TextBox 35" id="35"/>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Q&amp;A · 16/24</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Domain · รอบโต๊ะเป็นแกนกลาง</a:t>
            </a:r>
          </a:p>
        </p:txBody>
      </p:sp>
      <p:grpSp>
        <p:nvGrpSpPr>
          <p:cNvPr name="Group 5" id="5"/>
          <p:cNvGrpSpPr/>
          <p:nvPr/>
        </p:nvGrpSpPr>
        <p:grpSpPr>
          <a:xfrm rot="0">
            <a:off x="6795135" y="2141220"/>
            <a:ext cx="4693920" cy="880110"/>
            <a:chOff x="0" y="0"/>
            <a:chExt cx="6258560" cy="1173480"/>
          </a:xfrm>
        </p:grpSpPr>
        <p:sp>
          <p:nvSpPr>
            <p:cNvPr name="Freeform 6" id="6"/>
            <p:cNvSpPr/>
            <p:nvPr/>
          </p:nvSpPr>
          <p:spPr>
            <a:xfrm flipH="false" flipV="false" rot="0">
              <a:off x="0" y="0"/>
              <a:ext cx="6258560" cy="1173480"/>
            </a:xfrm>
            <a:custGeom>
              <a:avLst/>
              <a:gdLst/>
              <a:ahLst/>
              <a:cxnLst/>
              <a:rect r="r" b="b" t="t" l="l"/>
              <a:pathLst>
                <a:path h="1173480" w="6258560">
                  <a:moveTo>
                    <a:pt x="228600" y="0"/>
                  </a:moveTo>
                  <a:lnTo>
                    <a:pt x="6029960" y="0"/>
                  </a:lnTo>
                  <a:cubicBezTo>
                    <a:pt x="6156198" y="0"/>
                    <a:pt x="6258560" y="102362"/>
                    <a:pt x="6258560" y="228600"/>
                  </a:cubicBezTo>
                  <a:lnTo>
                    <a:pt x="6258560" y="944880"/>
                  </a:lnTo>
                  <a:cubicBezTo>
                    <a:pt x="6258560" y="1071118"/>
                    <a:pt x="6156198" y="1173480"/>
                    <a:pt x="602996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DAEBE4"/>
            </a:solidFill>
          </p:spPr>
        </p:sp>
      </p:grpSp>
      <p:sp>
        <p:nvSpPr>
          <p:cNvPr name="TextBox 7" id="7"/>
          <p:cNvSpPr txBox="true"/>
          <p:nvPr/>
        </p:nvSpPr>
        <p:spPr>
          <a:xfrm rot="0">
            <a:off x="6946011" y="2308384"/>
            <a:ext cx="4392168" cy="507492"/>
          </a:xfrm>
          <a:prstGeom prst="rect">
            <a:avLst/>
          </a:prstGeom>
        </p:spPr>
        <p:txBody>
          <a:bodyPr anchor="t" rtlCol="false" tIns="0" lIns="0" bIns="0" rIns="0">
            <a:spAutoFit/>
          </a:bodyPr>
          <a:lstStyle/>
          <a:p>
            <a:pPr algn="ctr">
              <a:lnSpc>
                <a:spcPts val="3714"/>
              </a:lnSpc>
            </a:pPr>
            <a:r>
              <a:rPr lang="en-US" b="true" sz="2772">
                <a:solidFill>
                  <a:srgbClr val="173A45"/>
                </a:solidFill>
                <a:latin typeface="Sarabun Semi-Bold"/>
                <a:ea typeface="Sarabun Semi-Bold"/>
                <a:cs typeface="Sarabun Semi-Bold"/>
                <a:sym typeface="Sarabun Semi-Bold"/>
              </a:rPr>
              <a:t>DiningSession</a:t>
            </a:r>
          </a:p>
        </p:txBody>
      </p:sp>
      <p:sp>
        <p:nvSpPr>
          <p:cNvPr name="TextBox 8" id="8"/>
          <p:cNvSpPr txBox="true"/>
          <p:nvPr/>
        </p:nvSpPr>
        <p:spPr>
          <a:xfrm rot="0">
            <a:off x="8429625" y="3088862"/>
            <a:ext cx="1424940" cy="778002"/>
          </a:xfrm>
          <a:prstGeom prst="rect">
            <a:avLst/>
          </a:prstGeom>
        </p:spPr>
        <p:txBody>
          <a:bodyPr anchor="t" rtlCol="false" tIns="0" lIns="0" bIns="0" rIns="0">
            <a:spAutoFit/>
          </a:bodyPr>
          <a:lstStyle/>
          <a:p>
            <a:pPr algn="ctr">
              <a:lnSpc>
                <a:spcPts val="5660"/>
              </a:lnSpc>
            </a:pPr>
            <a:r>
              <a:rPr lang="en-US" sz="4224">
                <a:solidFill>
                  <a:srgbClr val="28766D"/>
                </a:solidFill>
                <a:latin typeface="Sarabun"/>
                <a:ea typeface="Sarabun"/>
                <a:cs typeface="Sarabun"/>
                <a:sym typeface="Sarabun"/>
              </a:rPr>
              <a:t>↓</a:t>
            </a:r>
          </a:p>
        </p:txBody>
      </p:sp>
      <p:grpSp>
        <p:nvGrpSpPr>
          <p:cNvPr name="Group 9" id="9"/>
          <p:cNvGrpSpPr/>
          <p:nvPr/>
        </p:nvGrpSpPr>
        <p:grpSpPr>
          <a:xfrm rot="0">
            <a:off x="6795135" y="4152900"/>
            <a:ext cx="4693920" cy="880110"/>
            <a:chOff x="0" y="0"/>
            <a:chExt cx="6258560" cy="1173480"/>
          </a:xfrm>
        </p:grpSpPr>
        <p:sp>
          <p:nvSpPr>
            <p:cNvPr name="Freeform 10" id="10"/>
            <p:cNvSpPr/>
            <p:nvPr/>
          </p:nvSpPr>
          <p:spPr>
            <a:xfrm flipH="false" flipV="false" rot="0">
              <a:off x="0" y="0"/>
              <a:ext cx="6258560" cy="1173480"/>
            </a:xfrm>
            <a:custGeom>
              <a:avLst/>
              <a:gdLst/>
              <a:ahLst/>
              <a:cxnLst/>
              <a:rect r="r" b="b" t="t" l="l"/>
              <a:pathLst>
                <a:path h="1173480" w="6258560">
                  <a:moveTo>
                    <a:pt x="228600" y="0"/>
                  </a:moveTo>
                  <a:lnTo>
                    <a:pt x="6029960" y="0"/>
                  </a:lnTo>
                  <a:cubicBezTo>
                    <a:pt x="6156198" y="0"/>
                    <a:pt x="6258560" y="102362"/>
                    <a:pt x="6258560" y="228600"/>
                  </a:cubicBezTo>
                  <a:lnTo>
                    <a:pt x="6258560" y="944880"/>
                  </a:lnTo>
                  <a:cubicBezTo>
                    <a:pt x="6258560" y="1071118"/>
                    <a:pt x="6156198" y="1173480"/>
                    <a:pt x="602996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F1E3CB"/>
            </a:solidFill>
          </p:spPr>
        </p:sp>
      </p:grpSp>
      <p:sp>
        <p:nvSpPr>
          <p:cNvPr name="TextBox 11" id="11"/>
          <p:cNvSpPr txBox="true"/>
          <p:nvPr/>
        </p:nvSpPr>
        <p:spPr>
          <a:xfrm rot="0">
            <a:off x="6946011" y="4363117"/>
            <a:ext cx="439216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CustomerOrder</a:t>
            </a:r>
          </a:p>
        </p:txBody>
      </p:sp>
      <p:sp>
        <p:nvSpPr>
          <p:cNvPr name="TextBox 12" id="12"/>
          <p:cNvSpPr txBox="true"/>
          <p:nvPr/>
        </p:nvSpPr>
        <p:spPr>
          <a:xfrm rot="0">
            <a:off x="8429625" y="5058632"/>
            <a:ext cx="1424940" cy="778002"/>
          </a:xfrm>
          <a:prstGeom prst="rect">
            <a:avLst/>
          </a:prstGeom>
        </p:spPr>
        <p:txBody>
          <a:bodyPr anchor="t" rtlCol="false" tIns="0" lIns="0" bIns="0" rIns="0">
            <a:spAutoFit/>
          </a:bodyPr>
          <a:lstStyle/>
          <a:p>
            <a:pPr algn="ctr">
              <a:lnSpc>
                <a:spcPts val="5660"/>
              </a:lnSpc>
            </a:pPr>
            <a:r>
              <a:rPr lang="en-US" sz="4224">
                <a:solidFill>
                  <a:srgbClr val="28766D"/>
                </a:solidFill>
                <a:latin typeface="Sarabun"/>
                <a:ea typeface="Sarabun"/>
                <a:cs typeface="Sarabun"/>
                <a:sym typeface="Sarabun"/>
              </a:rPr>
              <a:t>↓</a:t>
            </a:r>
          </a:p>
        </p:txBody>
      </p:sp>
      <p:grpSp>
        <p:nvGrpSpPr>
          <p:cNvPr name="Group 13" id="13"/>
          <p:cNvGrpSpPr/>
          <p:nvPr/>
        </p:nvGrpSpPr>
        <p:grpSpPr>
          <a:xfrm rot="0">
            <a:off x="6795135" y="6122670"/>
            <a:ext cx="4693920" cy="880110"/>
            <a:chOff x="0" y="0"/>
            <a:chExt cx="6258560" cy="1173480"/>
          </a:xfrm>
        </p:grpSpPr>
        <p:sp>
          <p:nvSpPr>
            <p:cNvPr name="Freeform 14" id="14"/>
            <p:cNvSpPr/>
            <p:nvPr/>
          </p:nvSpPr>
          <p:spPr>
            <a:xfrm flipH="false" flipV="false" rot="0">
              <a:off x="0" y="0"/>
              <a:ext cx="6258560" cy="1173480"/>
            </a:xfrm>
            <a:custGeom>
              <a:avLst/>
              <a:gdLst/>
              <a:ahLst/>
              <a:cxnLst/>
              <a:rect r="r" b="b" t="t" l="l"/>
              <a:pathLst>
                <a:path h="1173480" w="6258560">
                  <a:moveTo>
                    <a:pt x="228600" y="0"/>
                  </a:moveTo>
                  <a:lnTo>
                    <a:pt x="6029960" y="0"/>
                  </a:lnTo>
                  <a:cubicBezTo>
                    <a:pt x="6156198" y="0"/>
                    <a:pt x="6258560" y="102362"/>
                    <a:pt x="6258560" y="228600"/>
                  </a:cubicBezTo>
                  <a:lnTo>
                    <a:pt x="6258560" y="944880"/>
                  </a:lnTo>
                  <a:cubicBezTo>
                    <a:pt x="6258560" y="1071118"/>
                    <a:pt x="6156198" y="1173480"/>
                    <a:pt x="602996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F1E3CB"/>
            </a:solidFill>
          </p:spPr>
        </p:sp>
      </p:grpSp>
      <p:sp>
        <p:nvSpPr>
          <p:cNvPr name="TextBox 15" id="15"/>
          <p:cNvSpPr txBox="true"/>
          <p:nvPr/>
        </p:nvSpPr>
        <p:spPr>
          <a:xfrm rot="0">
            <a:off x="6946011" y="6332887"/>
            <a:ext cx="439216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OrderItem</a:t>
            </a:r>
          </a:p>
        </p:txBody>
      </p:sp>
      <p:grpSp>
        <p:nvGrpSpPr>
          <p:cNvPr name="Group 16" id="16"/>
          <p:cNvGrpSpPr/>
          <p:nvPr/>
        </p:nvGrpSpPr>
        <p:grpSpPr>
          <a:xfrm rot="0">
            <a:off x="2017395" y="6122670"/>
            <a:ext cx="3604260" cy="880110"/>
            <a:chOff x="0" y="0"/>
            <a:chExt cx="4805680" cy="1173480"/>
          </a:xfrm>
        </p:grpSpPr>
        <p:sp>
          <p:nvSpPr>
            <p:cNvPr name="Freeform 17" id="17"/>
            <p:cNvSpPr/>
            <p:nvPr/>
          </p:nvSpPr>
          <p:spPr>
            <a:xfrm flipH="false" flipV="false" rot="0">
              <a:off x="0" y="0"/>
              <a:ext cx="4805680" cy="1173480"/>
            </a:xfrm>
            <a:custGeom>
              <a:avLst/>
              <a:gdLst/>
              <a:ahLst/>
              <a:cxnLst/>
              <a:rect r="r" b="b" t="t" l="l"/>
              <a:pathLst>
                <a:path h="1173480" w="4805680">
                  <a:moveTo>
                    <a:pt x="228600" y="0"/>
                  </a:moveTo>
                  <a:lnTo>
                    <a:pt x="4577080" y="0"/>
                  </a:lnTo>
                  <a:cubicBezTo>
                    <a:pt x="4703318" y="0"/>
                    <a:pt x="4805680" y="102362"/>
                    <a:pt x="4805680" y="228600"/>
                  </a:cubicBezTo>
                  <a:lnTo>
                    <a:pt x="4805680" y="944880"/>
                  </a:lnTo>
                  <a:cubicBezTo>
                    <a:pt x="4805680" y="1071118"/>
                    <a:pt x="4703318" y="1173480"/>
                    <a:pt x="457708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F1E3CB"/>
            </a:solidFill>
          </p:spPr>
        </p:sp>
      </p:grpSp>
      <p:sp>
        <p:nvSpPr>
          <p:cNvPr name="TextBox 18" id="18"/>
          <p:cNvSpPr txBox="true"/>
          <p:nvPr/>
        </p:nvSpPr>
        <p:spPr>
          <a:xfrm rot="0">
            <a:off x="2168271" y="6332887"/>
            <a:ext cx="330250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MenuItem</a:t>
            </a:r>
          </a:p>
        </p:txBody>
      </p:sp>
      <p:sp>
        <p:nvSpPr>
          <p:cNvPr name="TextBox 19" id="19"/>
          <p:cNvSpPr txBox="true"/>
          <p:nvPr/>
        </p:nvSpPr>
        <p:spPr>
          <a:xfrm rot="0">
            <a:off x="5579745" y="6190202"/>
            <a:ext cx="117348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grpSp>
        <p:nvGrpSpPr>
          <p:cNvPr name="Group 20" id="20"/>
          <p:cNvGrpSpPr/>
          <p:nvPr/>
        </p:nvGrpSpPr>
        <p:grpSpPr>
          <a:xfrm rot="0">
            <a:off x="12830175" y="2141220"/>
            <a:ext cx="3352800" cy="880110"/>
            <a:chOff x="0" y="0"/>
            <a:chExt cx="4470400" cy="1173480"/>
          </a:xfrm>
        </p:grpSpPr>
        <p:sp>
          <p:nvSpPr>
            <p:cNvPr name="Freeform 21" id="21"/>
            <p:cNvSpPr/>
            <p:nvPr/>
          </p:nvSpPr>
          <p:spPr>
            <a:xfrm flipH="false" flipV="false" rot="0">
              <a:off x="0" y="0"/>
              <a:ext cx="4470400" cy="1173480"/>
            </a:xfrm>
            <a:custGeom>
              <a:avLst/>
              <a:gdLst/>
              <a:ahLst/>
              <a:cxnLst/>
              <a:rect r="r" b="b" t="t" l="l"/>
              <a:pathLst>
                <a:path h="1173480" w="4470400">
                  <a:moveTo>
                    <a:pt x="228600" y="0"/>
                  </a:moveTo>
                  <a:lnTo>
                    <a:pt x="4241800" y="0"/>
                  </a:lnTo>
                  <a:cubicBezTo>
                    <a:pt x="4368038" y="0"/>
                    <a:pt x="4470400" y="102362"/>
                    <a:pt x="4470400" y="228600"/>
                  </a:cubicBezTo>
                  <a:lnTo>
                    <a:pt x="4470400" y="944880"/>
                  </a:lnTo>
                  <a:cubicBezTo>
                    <a:pt x="4470400" y="1071118"/>
                    <a:pt x="4368038" y="1173480"/>
                    <a:pt x="424180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F1E3CB"/>
            </a:solidFill>
          </p:spPr>
        </p:sp>
      </p:grpSp>
      <p:sp>
        <p:nvSpPr>
          <p:cNvPr name="TextBox 22" id="22"/>
          <p:cNvSpPr txBox="true"/>
          <p:nvPr/>
        </p:nvSpPr>
        <p:spPr>
          <a:xfrm rot="0">
            <a:off x="12981051" y="2351437"/>
            <a:ext cx="305104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Payment</a:t>
            </a:r>
          </a:p>
        </p:txBody>
      </p:sp>
      <p:sp>
        <p:nvSpPr>
          <p:cNvPr name="TextBox 23" id="23"/>
          <p:cNvSpPr txBox="true"/>
          <p:nvPr/>
        </p:nvSpPr>
        <p:spPr>
          <a:xfrm rot="0">
            <a:off x="11572875" y="2166842"/>
            <a:ext cx="117348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grpSp>
        <p:nvGrpSpPr>
          <p:cNvPr name="Group 24" id="24"/>
          <p:cNvGrpSpPr/>
          <p:nvPr/>
        </p:nvGrpSpPr>
        <p:grpSpPr>
          <a:xfrm rot="0">
            <a:off x="12494895" y="6122670"/>
            <a:ext cx="3855720" cy="880110"/>
            <a:chOff x="0" y="0"/>
            <a:chExt cx="5140960" cy="1173480"/>
          </a:xfrm>
        </p:grpSpPr>
        <p:sp>
          <p:nvSpPr>
            <p:cNvPr name="Freeform 25" id="25"/>
            <p:cNvSpPr/>
            <p:nvPr/>
          </p:nvSpPr>
          <p:spPr>
            <a:xfrm flipH="false" flipV="false" rot="0">
              <a:off x="0" y="0"/>
              <a:ext cx="5140960" cy="1173480"/>
            </a:xfrm>
            <a:custGeom>
              <a:avLst/>
              <a:gdLst/>
              <a:ahLst/>
              <a:cxnLst/>
              <a:rect r="r" b="b" t="t" l="l"/>
              <a:pathLst>
                <a:path h="1173480" w="5140960">
                  <a:moveTo>
                    <a:pt x="228600" y="0"/>
                  </a:moveTo>
                  <a:lnTo>
                    <a:pt x="4912360" y="0"/>
                  </a:lnTo>
                  <a:cubicBezTo>
                    <a:pt x="5038598" y="0"/>
                    <a:pt x="5140960" y="102362"/>
                    <a:pt x="5140960" y="228600"/>
                  </a:cubicBezTo>
                  <a:lnTo>
                    <a:pt x="5140960" y="944880"/>
                  </a:lnTo>
                  <a:cubicBezTo>
                    <a:pt x="5140960" y="1071118"/>
                    <a:pt x="5038598" y="1173480"/>
                    <a:pt x="491236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F1E3CB"/>
            </a:solidFill>
          </p:spPr>
        </p:sp>
      </p:grpSp>
      <p:sp>
        <p:nvSpPr>
          <p:cNvPr name="TextBox 26" id="26"/>
          <p:cNvSpPr txBox="true"/>
          <p:nvPr/>
        </p:nvSpPr>
        <p:spPr>
          <a:xfrm rot="0">
            <a:off x="12645771" y="6332887"/>
            <a:ext cx="355396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StockTransaction</a:t>
            </a:r>
          </a:p>
        </p:txBody>
      </p:sp>
      <p:sp>
        <p:nvSpPr>
          <p:cNvPr name="AutoShape 27" id="27"/>
          <p:cNvSpPr/>
          <p:nvPr/>
        </p:nvSpPr>
        <p:spPr>
          <a:xfrm rot="0">
            <a:off x="11489055" y="4572000"/>
            <a:ext cx="2933700" cy="33528"/>
          </a:xfrm>
          <a:prstGeom prst="rect">
            <a:avLst/>
          </a:prstGeom>
          <a:solidFill>
            <a:srgbClr val="173A45"/>
          </a:solidFill>
        </p:spPr>
      </p:sp>
      <p:sp>
        <p:nvSpPr>
          <p:cNvPr name="AutoShape 28" id="28"/>
          <p:cNvSpPr/>
          <p:nvPr/>
        </p:nvSpPr>
        <p:spPr>
          <a:xfrm rot="0">
            <a:off x="14422755" y="4572000"/>
            <a:ext cx="33528" cy="1257300"/>
          </a:xfrm>
          <a:prstGeom prst="rect">
            <a:avLst/>
          </a:prstGeom>
          <a:solidFill>
            <a:srgbClr val="173A45"/>
          </a:solidFill>
        </p:spPr>
      </p:sp>
      <p:sp>
        <p:nvSpPr>
          <p:cNvPr name="TextBox 29" id="29"/>
          <p:cNvSpPr txBox="true"/>
          <p:nvPr/>
        </p:nvSpPr>
        <p:spPr>
          <a:xfrm rot="0">
            <a:off x="13752195" y="5310092"/>
            <a:ext cx="1341120" cy="778002"/>
          </a:xfrm>
          <a:prstGeom prst="rect">
            <a:avLst/>
          </a:prstGeom>
        </p:spPr>
        <p:txBody>
          <a:bodyPr anchor="t" rtlCol="false" tIns="0" lIns="0" bIns="0" rIns="0">
            <a:spAutoFit/>
          </a:bodyPr>
          <a:lstStyle/>
          <a:p>
            <a:pPr algn="ctr">
              <a:lnSpc>
                <a:spcPts val="5660"/>
              </a:lnSpc>
            </a:pPr>
            <a:r>
              <a:rPr lang="en-US" sz="4224">
                <a:solidFill>
                  <a:srgbClr val="28766D"/>
                </a:solidFill>
                <a:latin typeface="Sarabun"/>
                <a:ea typeface="Sarabun"/>
                <a:cs typeface="Sarabun"/>
                <a:sym typeface="Sarabun"/>
              </a:rPr>
              <a:t>↓</a:t>
            </a:r>
          </a:p>
        </p:txBody>
      </p:sp>
      <p:grpSp>
        <p:nvGrpSpPr>
          <p:cNvPr name="Group 30" id="30"/>
          <p:cNvGrpSpPr/>
          <p:nvPr/>
        </p:nvGrpSpPr>
        <p:grpSpPr>
          <a:xfrm rot="0">
            <a:off x="7130415" y="7379970"/>
            <a:ext cx="4023360" cy="502920"/>
            <a:chOff x="0" y="0"/>
            <a:chExt cx="5364480" cy="670560"/>
          </a:xfrm>
        </p:grpSpPr>
        <p:sp>
          <p:nvSpPr>
            <p:cNvPr name="Freeform 31" id="31"/>
            <p:cNvSpPr/>
            <p:nvPr/>
          </p:nvSpPr>
          <p:spPr>
            <a:xfrm flipH="false" flipV="false" rot="0">
              <a:off x="0" y="0"/>
              <a:ext cx="5364480" cy="670560"/>
            </a:xfrm>
            <a:custGeom>
              <a:avLst/>
              <a:gdLst/>
              <a:ahLst/>
              <a:cxnLst/>
              <a:rect r="r" b="b" t="t" l="l"/>
              <a:pathLst>
                <a:path h="670560" w="5364480">
                  <a:moveTo>
                    <a:pt x="335280" y="0"/>
                  </a:moveTo>
                  <a:lnTo>
                    <a:pt x="5029200" y="0"/>
                  </a:lnTo>
                  <a:cubicBezTo>
                    <a:pt x="5214366" y="0"/>
                    <a:pt x="5364480" y="150114"/>
                    <a:pt x="5364480" y="335280"/>
                  </a:cubicBezTo>
                  <a:cubicBezTo>
                    <a:pt x="5364480" y="520446"/>
                    <a:pt x="5214366" y="670560"/>
                    <a:pt x="502920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32" id="32"/>
          <p:cNvSpPr txBox="true"/>
          <p:nvPr/>
        </p:nvSpPr>
        <p:spPr>
          <a:xfrm rot="0">
            <a:off x="7230999" y="7437120"/>
            <a:ext cx="382219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สูตร Snapshot</a:t>
            </a:r>
          </a:p>
        </p:txBody>
      </p:sp>
      <p:sp>
        <p:nvSpPr>
          <p:cNvPr name="TextBox 33" id="33"/>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รอบโต๊ะเชื่อมออเดอร์กับการชำระเงิน ส่วน OrderItem เก็บสูตรตอนสั่ง ประวัติ CONSUMPTION อ้าง orderId เพื่อย้อนดูที่มาของการหักสต๊อก</a:t>
            </a:r>
          </a:p>
        </p:txBody>
      </p:sp>
      <p:sp>
        <p:nvSpPr>
          <p:cNvPr name="TextBox 34" id="34"/>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pavarit_673380278-9_01</a:t>
            </a:r>
          </a:p>
        </p:txBody>
      </p:sp>
      <p:sp>
        <p:nvSpPr>
          <p:cNvPr name="TextBox 35" id="35"/>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Q&amp;A · 17/24</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ER · สูตรปัจจุบันแยกจาก Snapshot</a:t>
            </a:r>
          </a:p>
        </p:txBody>
      </p:sp>
      <p:grpSp>
        <p:nvGrpSpPr>
          <p:cNvPr name="Group 5" id="5"/>
          <p:cNvGrpSpPr/>
          <p:nvPr/>
        </p:nvGrpSpPr>
        <p:grpSpPr>
          <a:xfrm rot="0">
            <a:off x="2268855" y="2350770"/>
            <a:ext cx="4610100" cy="838200"/>
            <a:chOff x="0" y="0"/>
            <a:chExt cx="6146800" cy="1117600"/>
          </a:xfrm>
        </p:grpSpPr>
        <p:sp>
          <p:nvSpPr>
            <p:cNvPr name="Freeform 6" id="6"/>
            <p:cNvSpPr/>
            <p:nvPr/>
          </p:nvSpPr>
          <p:spPr>
            <a:xfrm flipH="false" flipV="false" rot="0">
              <a:off x="0" y="0"/>
              <a:ext cx="6146800" cy="1117600"/>
            </a:xfrm>
            <a:custGeom>
              <a:avLst/>
              <a:gdLst/>
              <a:ahLst/>
              <a:cxnLst/>
              <a:rect r="r" b="b" t="t" l="l"/>
              <a:pathLst>
                <a:path h="1117600" w="6146800">
                  <a:moveTo>
                    <a:pt x="228600" y="0"/>
                  </a:moveTo>
                  <a:lnTo>
                    <a:pt x="5918200" y="0"/>
                  </a:lnTo>
                  <a:cubicBezTo>
                    <a:pt x="6044438" y="0"/>
                    <a:pt x="6146800" y="102362"/>
                    <a:pt x="6146800" y="228600"/>
                  </a:cubicBezTo>
                  <a:lnTo>
                    <a:pt x="6146800" y="889000"/>
                  </a:lnTo>
                  <a:cubicBezTo>
                    <a:pt x="6146800" y="1015238"/>
                    <a:pt x="6044438" y="1117600"/>
                    <a:pt x="5918200" y="1117600"/>
                  </a:cubicBezTo>
                  <a:lnTo>
                    <a:pt x="228600" y="1117600"/>
                  </a:lnTo>
                  <a:cubicBezTo>
                    <a:pt x="102362" y="1117600"/>
                    <a:pt x="0" y="1015238"/>
                    <a:pt x="0" y="889000"/>
                  </a:cubicBezTo>
                  <a:lnTo>
                    <a:pt x="0" y="228600"/>
                  </a:lnTo>
                  <a:cubicBezTo>
                    <a:pt x="0" y="102362"/>
                    <a:pt x="102362" y="0"/>
                    <a:pt x="228600" y="0"/>
                  </a:cubicBezTo>
                  <a:close/>
                </a:path>
              </a:pathLst>
            </a:custGeom>
            <a:solidFill>
              <a:srgbClr val="DAEBE4"/>
            </a:solidFill>
          </p:spPr>
        </p:sp>
      </p:grpSp>
      <p:sp>
        <p:nvSpPr>
          <p:cNvPr name="TextBox 7" id="7"/>
          <p:cNvSpPr txBox="true"/>
          <p:nvPr/>
        </p:nvSpPr>
        <p:spPr>
          <a:xfrm rot="0">
            <a:off x="2419731" y="2540032"/>
            <a:ext cx="430834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menu_items</a:t>
            </a:r>
          </a:p>
        </p:txBody>
      </p:sp>
      <p:grpSp>
        <p:nvGrpSpPr>
          <p:cNvPr name="Group 8" id="8"/>
          <p:cNvGrpSpPr/>
          <p:nvPr/>
        </p:nvGrpSpPr>
        <p:grpSpPr>
          <a:xfrm rot="0">
            <a:off x="11405235" y="2350770"/>
            <a:ext cx="4610100" cy="838200"/>
            <a:chOff x="0" y="0"/>
            <a:chExt cx="6146800" cy="1117600"/>
          </a:xfrm>
        </p:grpSpPr>
        <p:sp>
          <p:nvSpPr>
            <p:cNvPr name="Freeform 9" id="9"/>
            <p:cNvSpPr/>
            <p:nvPr/>
          </p:nvSpPr>
          <p:spPr>
            <a:xfrm flipH="false" flipV="false" rot="0">
              <a:off x="0" y="0"/>
              <a:ext cx="6146800" cy="1117600"/>
            </a:xfrm>
            <a:custGeom>
              <a:avLst/>
              <a:gdLst/>
              <a:ahLst/>
              <a:cxnLst/>
              <a:rect r="r" b="b" t="t" l="l"/>
              <a:pathLst>
                <a:path h="1117600" w="6146800">
                  <a:moveTo>
                    <a:pt x="228600" y="0"/>
                  </a:moveTo>
                  <a:lnTo>
                    <a:pt x="5918200" y="0"/>
                  </a:lnTo>
                  <a:cubicBezTo>
                    <a:pt x="6044438" y="0"/>
                    <a:pt x="6146800" y="102362"/>
                    <a:pt x="6146800" y="228600"/>
                  </a:cubicBezTo>
                  <a:lnTo>
                    <a:pt x="6146800" y="889000"/>
                  </a:lnTo>
                  <a:cubicBezTo>
                    <a:pt x="6146800" y="1015238"/>
                    <a:pt x="6044438" y="1117600"/>
                    <a:pt x="5918200" y="1117600"/>
                  </a:cubicBezTo>
                  <a:lnTo>
                    <a:pt x="228600" y="1117600"/>
                  </a:lnTo>
                  <a:cubicBezTo>
                    <a:pt x="102362" y="1117600"/>
                    <a:pt x="0" y="1015238"/>
                    <a:pt x="0" y="889000"/>
                  </a:cubicBezTo>
                  <a:lnTo>
                    <a:pt x="0" y="228600"/>
                  </a:lnTo>
                  <a:cubicBezTo>
                    <a:pt x="0" y="102362"/>
                    <a:pt x="102362" y="0"/>
                    <a:pt x="228600" y="0"/>
                  </a:cubicBezTo>
                  <a:close/>
                </a:path>
              </a:pathLst>
            </a:custGeom>
            <a:solidFill>
              <a:srgbClr val="DAEBE4"/>
            </a:solidFill>
          </p:spPr>
        </p:sp>
      </p:grpSp>
      <p:sp>
        <p:nvSpPr>
          <p:cNvPr name="TextBox 10" id="10"/>
          <p:cNvSpPr txBox="true"/>
          <p:nvPr/>
        </p:nvSpPr>
        <p:spPr>
          <a:xfrm rot="0">
            <a:off x="11556111" y="2540032"/>
            <a:ext cx="430834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order_items</a:t>
            </a:r>
          </a:p>
        </p:txBody>
      </p:sp>
      <p:sp>
        <p:nvSpPr>
          <p:cNvPr name="TextBox 11" id="11"/>
          <p:cNvSpPr txBox="true"/>
          <p:nvPr/>
        </p:nvSpPr>
        <p:spPr>
          <a:xfrm rot="0">
            <a:off x="3777615" y="3214592"/>
            <a:ext cx="1424940" cy="778002"/>
          </a:xfrm>
          <a:prstGeom prst="rect">
            <a:avLst/>
          </a:prstGeom>
        </p:spPr>
        <p:txBody>
          <a:bodyPr anchor="t" rtlCol="false" tIns="0" lIns="0" bIns="0" rIns="0">
            <a:spAutoFit/>
          </a:bodyPr>
          <a:lstStyle/>
          <a:p>
            <a:pPr algn="ctr">
              <a:lnSpc>
                <a:spcPts val="5660"/>
              </a:lnSpc>
            </a:pPr>
            <a:r>
              <a:rPr lang="en-US" sz="4224">
                <a:solidFill>
                  <a:srgbClr val="28766D"/>
                </a:solidFill>
                <a:latin typeface="Sarabun"/>
                <a:ea typeface="Sarabun"/>
                <a:cs typeface="Sarabun"/>
                <a:sym typeface="Sarabun"/>
              </a:rPr>
              <a:t>↓</a:t>
            </a:r>
          </a:p>
        </p:txBody>
      </p:sp>
      <p:sp>
        <p:nvSpPr>
          <p:cNvPr name="TextBox 12" id="12"/>
          <p:cNvSpPr txBox="true"/>
          <p:nvPr/>
        </p:nvSpPr>
        <p:spPr>
          <a:xfrm rot="0">
            <a:off x="12997815" y="3214592"/>
            <a:ext cx="1424940" cy="778002"/>
          </a:xfrm>
          <a:prstGeom prst="rect">
            <a:avLst/>
          </a:prstGeom>
        </p:spPr>
        <p:txBody>
          <a:bodyPr anchor="t" rtlCol="false" tIns="0" lIns="0" bIns="0" rIns="0">
            <a:spAutoFit/>
          </a:bodyPr>
          <a:lstStyle/>
          <a:p>
            <a:pPr algn="ctr">
              <a:lnSpc>
                <a:spcPts val="5660"/>
              </a:lnSpc>
            </a:pPr>
            <a:r>
              <a:rPr lang="en-US" sz="4224">
                <a:solidFill>
                  <a:srgbClr val="28766D"/>
                </a:solidFill>
                <a:latin typeface="Sarabun"/>
                <a:ea typeface="Sarabun"/>
                <a:cs typeface="Sarabun"/>
                <a:sym typeface="Sarabun"/>
              </a:rPr>
              <a:t>↓</a:t>
            </a:r>
          </a:p>
        </p:txBody>
      </p:sp>
      <p:grpSp>
        <p:nvGrpSpPr>
          <p:cNvPr name="Group 13" id="13"/>
          <p:cNvGrpSpPr/>
          <p:nvPr/>
        </p:nvGrpSpPr>
        <p:grpSpPr>
          <a:xfrm rot="0">
            <a:off x="2268855" y="4446270"/>
            <a:ext cx="4610100" cy="1047750"/>
            <a:chOff x="0" y="0"/>
            <a:chExt cx="6146800" cy="1397000"/>
          </a:xfrm>
        </p:grpSpPr>
        <p:sp>
          <p:nvSpPr>
            <p:cNvPr name="Freeform 14" id="14"/>
            <p:cNvSpPr/>
            <p:nvPr/>
          </p:nvSpPr>
          <p:spPr>
            <a:xfrm flipH="false" flipV="false" rot="0">
              <a:off x="0" y="0"/>
              <a:ext cx="6146800" cy="1397000"/>
            </a:xfrm>
            <a:custGeom>
              <a:avLst/>
              <a:gdLst/>
              <a:ahLst/>
              <a:cxnLst/>
              <a:rect r="r" b="b" t="t" l="l"/>
              <a:pathLst>
                <a:path h="1397000" w="6146800">
                  <a:moveTo>
                    <a:pt x="228600" y="0"/>
                  </a:moveTo>
                  <a:lnTo>
                    <a:pt x="5918200" y="0"/>
                  </a:lnTo>
                  <a:cubicBezTo>
                    <a:pt x="6044438" y="0"/>
                    <a:pt x="6146800" y="102362"/>
                    <a:pt x="6146800" y="228600"/>
                  </a:cubicBezTo>
                  <a:lnTo>
                    <a:pt x="6146800" y="1168400"/>
                  </a:lnTo>
                  <a:cubicBezTo>
                    <a:pt x="6146800" y="1294638"/>
                    <a:pt x="6044438" y="1397000"/>
                    <a:pt x="5918200" y="1397000"/>
                  </a:cubicBezTo>
                  <a:lnTo>
                    <a:pt x="228600" y="1397000"/>
                  </a:lnTo>
                  <a:cubicBezTo>
                    <a:pt x="102362" y="1397000"/>
                    <a:pt x="0" y="1294638"/>
                    <a:pt x="0" y="1168400"/>
                  </a:cubicBezTo>
                  <a:lnTo>
                    <a:pt x="0" y="228600"/>
                  </a:lnTo>
                  <a:cubicBezTo>
                    <a:pt x="0" y="102362"/>
                    <a:pt x="102362" y="0"/>
                    <a:pt x="228600" y="0"/>
                  </a:cubicBezTo>
                  <a:close/>
                </a:path>
              </a:pathLst>
            </a:custGeom>
            <a:solidFill>
              <a:srgbClr val="F1E3CB"/>
            </a:solidFill>
          </p:spPr>
        </p:sp>
      </p:grpSp>
      <p:sp>
        <p:nvSpPr>
          <p:cNvPr name="TextBox 15" id="15"/>
          <p:cNvSpPr txBox="true"/>
          <p:nvPr/>
        </p:nvSpPr>
        <p:spPr>
          <a:xfrm rot="0">
            <a:off x="2419731" y="4744498"/>
            <a:ext cx="4308348" cy="422529"/>
          </a:xfrm>
          <a:prstGeom prst="rect">
            <a:avLst/>
          </a:prstGeom>
        </p:spPr>
        <p:txBody>
          <a:bodyPr anchor="t" rtlCol="false" tIns="0" lIns="0" bIns="0" rIns="0">
            <a:spAutoFit/>
          </a:bodyPr>
          <a:lstStyle/>
          <a:p>
            <a:pPr algn="ctr">
              <a:lnSpc>
                <a:spcPts val="3095"/>
              </a:lnSpc>
            </a:pPr>
            <a:r>
              <a:rPr lang="en-US" b="true" sz="2310">
                <a:solidFill>
                  <a:srgbClr val="173A45"/>
                </a:solidFill>
                <a:latin typeface="Sarabun Semi-Bold"/>
                <a:ea typeface="Sarabun Semi-Bold"/>
                <a:cs typeface="Sarabun Semi-Bold"/>
                <a:sym typeface="Sarabun Semi-Bold"/>
              </a:rPr>
              <a:t>menu_stock_usage</a:t>
            </a:r>
          </a:p>
        </p:txBody>
      </p:sp>
      <p:grpSp>
        <p:nvGrpSpPr>
          <p:cNvPr name="Group 16" id="16"/>
          <p:cNvGrpSpPr/>
          <p:nvPr/>
        </p:nvGrpSpPr>
        <p:grpSpPr>
          <a:xfrm rot="0">
            <a:off x="11405235" y="4446270"/>
            <a:ext cx="4610100" cy="1047750"/>
            <a:chOff x="0" y="0"/>
            <a:chExt cx="6146800" cy="1397000"/>
          </a:xfrm>
        </p:grpSpPr>
        <p:sp>
          <p:nvSpPr>
            <p:cNvPr name="Freeform 17" id="17"/>
            <p:cNvSpPr/>
            <p:nvPr/>
          </p:nvSpPr>
          <p:spPr>
            <a:xfrm flipH="false" flipV="false" rot="0">
              <a:off x="0" y="0"/>
              <a:ext cx="6146800" cy="1397000"/>
            </a:xfrm>
            <a:custGeom>
              <a:avLst/>
              <a:gdLst/>
              <a:ahLst/>
              <a:cxnLst/>
              <a:rect r="r" b="b" t="t" l="l"/>
              <a:pathLst>
                <a:path h="1397000" w="6146800">
                  <a:moveTo>
                    <a:pt x="228600" y="0"/>
                  </a:moveTo>
                  <a:lnTo>
                    <a:pt x="5918200" y="0"/>
                  </a:lnTo>
                  <a:cubicBezTo>
                    <a:pt x="6044438" y="0"/>
                    <a:pt x="6146800" y="102362"/>
                    <a:pt x="6146800" y="228600"/>
                  </a:cubicBezTo>
                  <a:lnTo>
                    <a:pt x="6146800" y="1168400"/>
                  </a:lnTo>
                  <a:cubicBezTo>
                    <a:pt x="6146800" y="1294638"/>
                    <a:pt x="6044438" y="1397000"/>
                    <a:pt x="5918200" y="1397000"/>
                  </a:cubicBezTo>
                  <a:lnTo>
                    <a:pt x="228600" y="1397000"/>
                  </a:lnTo>
                  <a:cubicBezTo>
                    <a:pt x="102362" y="1397000"/>
                    <a:pt x="0" y="1294638"/>
                    <a:pt x="0" y="1168400"/>
                  </a:cubicBezTo>
                  <a:lnTo>
                    <a:pt x="0" y="228600"/>
                  </a:lnTo>
                  <a:cubicBezTo>
                    <a:pt x="0" y="102362"/>
                    <a:pt x="102362" y="0"/>
                    <a:pt x="228600" y="0"/>
                  </a:cubicBezTo>
                  <a:close/>
                </a:path>
              </a:pathLst>
            </a:custGeom>
            <a:solidFill>
              <a:srgbClr val="F1E3CB"/>
            </a:solidFill>
          </p:spPr>
        </p:sp>
      </p:grpSp>
      <p:sp>
        <p:nvSpPr>
          <p:cNvPr name="TextBox 18" id="18"/>
          <p:cNvSpPr txBox="true"/>
          <p:nvPr/>
        </p:nvSpPr>
        <p:spPr>
          <a:xfrm rot="0">
            <a:off x="11556111" y="4751737"/>
            <a:ext cx="4308348" cy="398526"/>
          </a:xfrm>
          <a:prstGeom prst="rect">
            <a:avLst/>
          </a:prstGeom>
        </p:spPr>
        <p:txBody>
          <a:bodyPr anchor="t" rtlCol="false" tIns="0" lIns="0" bIns="0" rIns="0">
            <a:spAutoFit/>
          </a:bodyPr>
          <a:lstStyle/>
          <a:p>
            <a:pPr algn="ctr">
              <a:lnSpc>
                <a:spcPts val="2830"/>
              </a:lnSpc>
            </a:pPr>
            <a:r>
              <a:rPr lang="en-US" b="true" sz="2112">
                <a:solidFill>
                  <a:srgbClr val="173A45"/>
                </a:solidFill>
                <a:latin typeface="Sarabun Semi-Bold"/>
                <a:ea typeface="Sarabun Semi-Bold"/>
                <a:cs typeface="Sarabun Semi-Bold"/>
                <a:sym typeface="Sarabun Semi-Bold"/>
              </a:rPr>
              <a:t>order_item_stock_usage</a:t>
            </a:r>
          </a:p>
        </p:txBody>
      </p:sp>
      <p:grpSp>
        <p:nvGrpSpPr>
          <p:cNvPr name="Group 19" id="19"/>
          <p:cNvGrpSpPr/>
          <p:nvPr/>
        </p:nvGrpSpPr>
        <p:grpSpPr>
          <a:xfrm rot="0">
            <a:off x="7339965" y="6960870"/>
            <a:ext cx="3604260" cy="922020"/>
            <a:chOff x="0" y="0"/>
            <a:chExt cx="4805680" cy="1229360"/>
          </a:xfrm>
        </p:grpSpPr>
        <p:sp>
          <p:nvSpPr>
            <p:cNvPr name="Freeform 20" id="20"/>
            <p:cNvSpPr/>
            <p:nvPr/>
          </p:nvSpPr>
          <p:spPr>
            <a:xfrm flipH="false" flipV="false" rot="0">
              <a:off x="0" y="0"/>
              <a:ext cx="4805680" cy="1229360"/>
            </a:xfrm>
            <a:custGeom>
              <a:avLst/>
              <a:gdLst/>
              <a:ahLst/>
              <a:cxnLst/>
              <a:rect r="r" b="b" t="t" l="l"/>
              <a:pathLst>
                <a:path h="1229360" w="4805680">
                  <a:moveTo>
                    <a:pt x="228600" y="0"/>
                  </a:moveTo>
                  <a:lnTo>
                    <a:pt x="4577080" y="0"/>
                  </a:lnTo>
                  <a:cubicBezTo>
                    <a:pt x="4703318" y="0"/>
                    <a:pt x="4805680" y="102362"/>
                    <a:pt x="4805680" y="228600"/>
                  </a:cubicBezTo>
                  <a:lnTo>
                    <a:pt x="4805680" y="1000760"/>
                  </a:lnTo>
                  <a:cubicBezTo>
                    <a:pt x="4805680" y="1126998"/>
                    <a:pt x="4703318" y="1229360"/>
                    <a:pt x="4577080" y="1229360"/>
                  </a:cubicBezTo>
                  <a:lnTo>
                    <a:pt x="228600" y="1229360"/>
                  </a:lnTo>
                  <a:cubicBezTo>
                    <a:pt x="102362" y="1229360"/>
                    <a:pt x="0" y="1126998"/>
                    <a:pt x="0" y="1000760"/>
                  </a:cubicBezTo>
                  <a:lnTo>
                    <a:pt x="0" y="228600"/>
                  </a:lnTo>
                  <a:cubicBezTo>
                    <a:pt x="0" y="102362"/>
                    <a:pt x="102362" y="0"/>
                    <a:pt x="228600" y="0"/>
                  </a:cubicBezTo>
                  <a:close/>
                </a:path>
              </a:pathLst>
            </a:custGeom>
            <a:solidFill>
              <a:srgbClr val="DAEBE4"/>
            </a:solidFill>
          </p:spPr>
        </p:sp>
      </p:grpSp>
      <p:sp>
        <p:nvSpPr>
          <p:cNvPr name="TextBox 21" id="21"/>
          <p:cNvSpPr txBox="true"/>
          <p:nvPr/>
        </p:nvSpPr>
        <p:spPr>
          <a:xfrm rot="0">
            <a:off x="7490841" y="7192042"/>
            <a:ext cx="330250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stock_items</a:t>
            </a:r>
          </a:p>
        </p:txBody>
      </p:sp>
      <p:sp>
        <p:nvSpPr>
          <p:cNvPr name="AutoShape 22" id="22"/>
          <p:cNvSpPr/>
          <p:nvPr/>
        </p:nvSpPr>
        <p:spPr>
          <a:xfrm rot="0">
            <a:off x="4573905" y="6038850"/>
            <a:ext cx="9136380" cy="33528"/>
          </a:xfrm>
          <a:prstGeom prst="rect">
            <a:avLst/>
          </a:prstGeom>
          <a:solidFill>
            <a:srgbClr val="173A45"/>
          </a:solidFill>
        </p:spPr>
      </p:sp>
      <p:sp>
        <p:nvSpPr>
          <p:cNvPr name="AutoShape 23" id="23"/>
          <p:cNvSpPr/>
          <p:nvPr/>
        </p:nvSpPr>
        <p:spPr>
          <a:xfrm rot="0">
            <a:off x="4573905" y="5494020"/>
            <a:ext cx="33528" cy="544830"/>
          </a:xfrm>
          <a:prstGeom prst="rect">
            <a:avLst/>
          </a:prstGeom>
          <a:solidFill>
            <a:srgbClr val="173A45"/>
          </a:solidFill>
        </p:spPr>
      </p:sp>
      <p:sp>
        <p:nvSpPr>
          <p:cNvPr name="AutoShape 24" id="24"/>
          <p:cNvSpPr/>
          <p:nvPr/>
        </p:nvSpPr>
        <p:spPr>
          <a:xfrm rot="0">
            <a:off x="13710285" y="5494020"/>
            <a:ext cx="33528" cy="544830"/>
          </a:xfrm>
          <a:prstGeom prst="rect">
            <a:avLst/>
          </a:prstGeom>
          <a:solidFill>
            <a:srgbClr val="173A45"/>
          </a:solidFill>
        </p:spPr>
      </p:sp>
      <p:sp>
        <p:nvSpPr>
          <p:cNvPr name="TextBox 25" id="25"/>
          <p:cNvSpPr txBox="true"/>
          <p:nvPr/>
        </p:nvSpPr>
        <p:spPr>
          <a:xfrm rot="0">
            <a:off x="8429625" y="6064472"/>
            <a:ext cx="1424940" cy="778002"/>
          </a:xfrm>
          <a:prstGeom prst="rect">
            <a:avLst/>
          </a:prstGeom>
        </p:spPr>
        <p:txBody>
          <a:bodyPr anchor="t" rtlCol="false" tIns="0" lIns="0" bIns="0" rIns="0">
            <a:spAutoFit/>
          </a:bodyPr>
          <a:lstStyle/>
          <a:p>
            <a:pPr algn="ctr">
              <a:lnSpc>
                <a:spcPts val="5660"/>
              </a:lnSpc>
            </a:pPr>
            <a:r>
              <a:rPr lang="en-US" sz="4224">
                <a:solidFill>
                  <a:srgbClr val="28766D"/>
                </a:solidFill>
                <a:latin typeface="Sarabun"/>
                <a:ea typeface="Sarabun"/>
                <a:cs typeface="Sarabun"/>
                <a:sym typeface="Sarabun"/>
              </a:rPr>
              <a:t>↓</a:t>
            </a:r>
          </a:p>
        </p:txBody>
      </p:sp>
      <p:sp>
        <p:nvSpPr>
          <p:cNvPr name="TextBox 26" id="26"/>
          <p:cNvSpPr txBox="true"/>
          <p:nvPr/>
        </p:nvSpPr>
        <p:spPr>
          <a:xfrm rot="0">
            <a:off x="2017395" y="8103679"/>
            <a:ext cx="14249400" cy="313563"/>
          </a:xfrm>
          <a:prstGeom prst="rect">
            <a:avLst/>
          </a:prstGeom>
        </p:spPr>
        <p:txBody>
          <a:bodyPr anchor="t" rtlCol="false" tIns="0" lIns="0" bIns="0" rIns="0">
            <a:spAutoFit/>
          </a:bodyPr>
          <a:lstStyle/>
          <a:p>
            <a:pPr algn="l">
              <a:lnSpc>
                <a:spcPts val="2211"/>
              </a:lnSpc>
            </a:pPr>
            <a:r>
              <a:rPr lang="en-US" sz="1650">
                <a:solidFill>
                  <a:srgbClr val="647477"/>
                </a:solidFill>
                <a:latin typeface="Sarabun"/>
                <a:ea typeface="Sarabun"/>
                <a:cs typeface="Sarabun"/>
                <a:sym typeface="Sarabun"/>
              </a:rPr>
              <a:t>V19 · FK + composite PK · Snapshot เป็นข้อมูลของ OrderItem</a:t>
            </a:r>
          </a:p>
        </p:txBody>
      </p:sp>
      <p:sp>
        <p:nvSpPr>
          <p:cNvPr name="TextBox 27" id="27"/>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สูตรของเมนูปัจจุบันและสูตรตอนสั่งอยู่คนละตาราง FK และ composite PK รักษาการอ้างอิง โดยไม่ให้การแก้เมนูเปลี่ยนออเดอร์เก่า</a:t>
            </a:r>
          </a:p>
        </p:txBody>
      </p:sp>
      <p:sp>
        <p:nvSpPr>
          <p:cNvPr name="TextBox 28" id="28"/>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methus_673380300-2_01</a:t>
            </a:r>
          </a:p>
        </p:txBody>
      </p:sp>
      <p:sp>
        <p:nvSpPr>
          <p:cNvPr name="TextBox 29" id="29"/>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Q&amp;A · 18/24</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Sequence · เปิดรอบอย่างเป็นขั้นตอน</a:t>
            </a:r>
          </a:p>
        </p:txBody>
      </p:sp>
      <p:sp>
        <p:nvSpPr>
          <p:cNvPr name="TextBox 5" id="5"/>
          <p:cNvSpPr txBox="true"/>
          <p:nvPr/>
        </p:nvSpPr>
        <p:spPr>
          <a:xfrm rot="0">
            <a:off x="1933575" y="2270379"/>
            <a:ext cx="3101340" cy="465582"/>
          </a:xfrm>
          <a:prstGeom prst="rect">
            <a:avLst/>
          </a:prstGeom>
        </p:spPr>
        <p:txBody>
          <a:bodyPr anchor="t" rtlCol="false" tIns="0" lIns="0" bIns="0" rIns="0">
            <a:spAutoFit/>
          </a:bodyPr>
          <a:lstStyle/>
          <a:p>
            <a:pPr algn="ctr">
              <a:lnSpc>
                <a:spcPts val="3360"/>
              </a:lnSpc>
            </a:pPr>
            <a:r>
              <a:rPr lang="en-US" b="true" sz="2508">
                <a:solidFill>
                  <a:srgbClr val="173A45"/>
                </a:solidFill>
                <a:latin typeface="Sarabun Semi-Bold"/>
                <a:ea typeface="Sarabun Semi-Bold"/>
                <a:cs typeface="Sarabun Semi-Bold"/>
                <a:sym typeface="Sarabun Semi-Bold"/>
              </a:rPr>
              <a:t>Staff</a:t>
            </a:r>
          </a:p>
        </p:txBody>
      </p:sp>
      <p:sp>
        <p:nvSpPr>
          <p:cNvPr name="AutoShape 6" id="6"/>
          <p:cNvSpPr/>
          <p:nvPr/>
        </p:nvSpPr>
        <p:spPr>
          <a:xfrm rot="0">
            <a:off x="3484245" y="3063240"/>
            <a:ext cx="33528" cy="4526280"/>
          </a:xfrm>
          <a:prstGeom prst="rect">
            <a:avLst/>
          </a:prstGeom>
          <a:solidFill>
            <a:srgbClr val="647477"/>
          </a:solidFill>
        </p:spPr>
      </p:sp>
      <p:sp>
        <p:nvSpPr>
          <p:cNvPr name="TextBox 7" id="7"/>
          <p:cNvSpPr txBox="true"/>
          <p:nvPr/>
        </p:nvSpPr>
        <p:spPr>
          <a:xfrm rot="0">
            <a:off x="5705475" y="2270379"/>
            <a:ext cx="3101340" cy="465582"/>
          </a:xfrm>
          <a:prstGeom prst="rect">
            <a:avLst/>
          </a:prstGeom>
        </p:spPr>
        <p:txBody>
          <a:bodyPr anchor="t" rtlCol="false" tIns="0" lIns="0" bIns="0" rIns="0">
            <a:spAutoFit/>
          </a:bodyPr>
          <a:lstStyle/>
          <a:p>
            <a:pPr algn="ctr">
              <a:lnSpc>
                <a:spcPts val="3360"/>
              </a:lnSpc>
            </a:pPr>
            <a:r>
              <a:rPr lang="en-US" b="true" sz="2508">
                <a:solidFill>
                  <a:srgbClr val="173A45"/>
                </a:solidFill>
                <a:latin typeface="Sarabun Semi-Bold"/>
                <a:ea typeface="Sarabun Semi-Bold"/>
                <a:cs typeface="Sarabun Semi-Bold"/>
                <a:sym typeface="Sarabun Semi-Bold"/>
              </a:rPr>
              <a:t>Controller</a:t>
            </a:r>
          </a:p>
        </p:txBody>
      </p:sp>
      <p:sp>
        <p:nvSpPr>
          <p:cNvPr name="AutoShape 8" id="8"/>
          <p:cNvSpPr/>
          <p:nvPr/>
        </p:nvSpPr>
        <p:spPr>
          <a:xfrm rot="0">
            <a:off x="7256145" y="3063240"/>
            <a:ext cx="33528" cy="4526280"/>
          </a:xfrm>
          <a:prstGeom prst="rect">
            <a:avLst/>
          </a:prstGeom>
          <a:solidFill>
            <a:srgbClr val="647477"/>
          </a:solidFill>
        </p:spPr>
      </p:sp>
      <p:sp>
        <p:nvSpPr>
          <p:cNvPr name="TextBox 9" id="9"/>
          <p:cNvSpPr txBox="true"/>
          <p:nvPr/>
        </p:nvSpPr>
        <p:spPr>
          <a:xfrm rot="0">
            <a:off x="9477375" y="2270379"/>
            <a:ext cx="3101340" cy="465582"/>
          </a:xfrm>
          <a:prstGeom prst="rect">
            <a:avLst/>
          </a:prstGeom>
        </p:spPr>
        <p:txBody>
          <a:bodyPr anchor="t" rtlCol="false" tIns="0" lIns="0" bIns="0" rIns="0">
            <a:spAutoFit/>
          </a:bodyPr>
          <a:lstStyle/>
          <a:p>
            <a:pPr algn="ctr">
              <a:lnSpc>
                <a:spcPts val="3360"/>
              </a:lnSpc>
            </a:pPr>
            <a:r>
              <a:rPr lang="en-US" b="true" sz="2508">
                <a:solidFill>
                  <a:srgbClr val="173A45"/>
                </a:solidFill>
                <a:latin typeface="Sarabun Semi-Bold"/>
                <a:ea typeface="Sarabun Semi-Bold"/>
                <a:cs typeface="Sarabun Semi-Bold"/>
                <a:sym typeface="Sarabun Semi-Bold"/>
              </a:rPr>
              <a:t>Service</a:t>
            </a:r>
          </a:p>
        </p:txBody>
      </p:sp>
      <p:sp>
        <p:nvSpPr>
          <p:cNvPr name="AutoShape 10" id="10"/>
          <p:cNvSpPr/>
          <p:nvPr/>
        </p:nvSpPr>
        <p:spPr>
          <a:xfrm rot="0">
            <a:off x="11028045" y="3063240"/>
            <a:ext cx="33528" cy="4526280"/>
          </a:xfrm>
          <a:prstGeom prst="rect">
            <a:avLst/>
          </a:prstGeom>
          <a:solidFill>
            <a:srgbClr val="647477"/>
          </a:solidFill>
        </p:spPr>
      </p:sp>
      <p:sp>
        <p:nvSpPr>
          <p:cNvPr name="TextBox 11" id="11"/>
          <p:cNvSpPr txBox="true"/>
          <p:nvPr/>
        </p:nvSpPr>
        <p:spPr>
          <a:xfrm rot="0">
            <a:off x="13249275" y="2270379"/>
            <a:ext cx="3101340" cy="465582"/>
          </a:xfrm>
          <a:prstGeom prst="rect">
            <a:avLst/>
          </a:prstGeom>
        </p:spPr>
        <p:txBody>
          <a:bodyPr anchor="t" rtlCol="false" tIns="0" lIns="0" bIns="0" rIns="0">
            <a:spAutoFit/>
          </a:bodyPr>
          <a:lstStyle/>
          <a:p>
            <a:pPr algn="ctr">
              <a:lnSpc>
                <a:spcPts val="3360"/>
              </a:lnSpc>
            </a:pPr>
            <a:r>
              <a:rPr lang="en-US" b="true" sz="2508">
                <a:solidFill>
                  <a:srgbClr val="173A45"/>
                </a:solidFill>
                <a:latin typeface="Sarabun Semi-Bold"/>
                <a:ea typeface="Sarabun Semi-Bold"/>
                <a:cs typeface="Sarabun Semi-Bold"/>
                <a:sym typeface="Sarabun Semi-Bold"/>
              </a:rPr>
              <a:t>Database</a:t>
            </a:r>
          </a:p>
        </p:txBody>
      </p:sp>
      <p:sp>
        <p:nvSpPr>
          <p:cNvPr name="AutoShape 12" id="12"/>
          <p:cNvSpPr/>
          <p:nvPr/>
        </p:nvSpPr>
        <p:spPr>
          <a:xfrm rot="0">
            <a:off x="14799945" y="3063240"/>
            <a:ext cx="33528" cy="4526280"/>
          </a:xfrm>
          <a:prstGeom prst="rect">
            <a:avLst/>
          </a:prstGeom>
          <a:solidFill>
            <a:srgbClr val="647477"/>
          </a:solidFill>
        </p:spPr>
      </p:sp>
      <p:sp>
        <p:nvSpPr>
          <p:cNvPr name="AutoShape 13" id="13"/>
          <p:cNvSpPr/>
          <p:nvPr/>
        </p:nvSpPr>
        <p:spPr>
          <a:xfrm rot="0">
            <a:off x="3484245" y="3608070"/>
            <a:ext cx="3771900" cy="33528"/>
          </a:xfrm>
          <a:prstGeom prst="rect">
            <a:avLst/>
          </a:prstGeom>
          <a:solidFill>
            <a:srgbClr val="AC4D31"/>
          </a:solidFill>
        </p:spPr>
      </p:sp>
      <p:sp>
        <p:nvSpPr>
          <p:cNvPr name="TextBox 14" id="14"/>
          <p:cNvSpPr txBox="true"/>
          <p:nvPr/>
        </p:nvSpPr>
        <p:spPr>
          <a:xfrm rot="0">
            <a:off x="6837045" y="3231356"/>
            <a:ext cx="83820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TextBox 15" id="15"/>
          <p:cNvSpPr txBox="true"/>
          <p:nvPr/>
        </p:nvSpPr>
        <p:spPr>
          <a:xfrm rot="0">
            <a:off x="4112895" y="3148870"/>
            <a:ext cx="1927860" cy="390144"/>
          </a:xfrm>
          <a:prstGeom prst="rect">
            <a:avLst/>
          </a:prstGeom>
        </p:spPr>
        <p:txBody>
          <a:bodyPr anchor="t" rtlCol="false" tIns="0" lIns="0" bIns="0" rIns="0">
            <a:spAutoFit/>
          </a:bodyPr>
          <a:lstStyle/>
          <a:p>
            <a:pPr algn="ctr">
              <a:lnSpc>
                <a:spcPts val="2741"/>
              </a:lnSpc>
            </a:pPr>
            <a:r>
              <a:rPr lang="en-US" b="true" sz="2046">
                <a:solidFill>
                  <a:srgbClr val="AC4D31"/>
                </a:solidFill>
                <a:latin typeface="Sarabun Semi-Bold"/>
                <a:ea typeface="Sarabun Semi-Bold"/>
                <a:cs typeface="Sarabun Semi-Bold"/>
                <a:sym typeface="Sarabun Semi-Bold"/>
              </a:rPr>
              <a:t>POST</a:t>
            </a:r>
          </a:p>
        </p:txBody>
      </p:sp>
      <p:sp>
        <p:nvSpPr>
          <p:cNvPr name="AutoShape 16" id="16"/>
          <p:cNvSpPr/>
          <p:nvPr/>
        </p:nvSpPr>
        <p:spPr>
          <a:xfrm rot="0">
            <a:off x="7256145" y="4697730"/>
            <a:ext cx="3771900" cy="33528"/>
          </a:xfrm>
          <a:prstGeom prst="rect">
            <a:avLst/>
          </a:prstGeom>
          <a:solidFill>
            <a:srgbClr val="AC4D31"/>
          </a:solidFill>
        </p:spPr>
      </p:sp>
      <p:sp>
        <p:nvSpPr>
          <p:cNvPr name="TextBox 17" id="17"/>
          <p:cNvSpPr txBox="true"/>
          <p:nvPr/>
        </p:nvSpPr>
        <p:spPr>
          <a:xfrm rot="0">
            <a:off x="10608945" y="4321016"/>
            <a:ext cx="83820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TextBox 18" id="18"/>
          <p:cNvSpPr txBox="true"/>
          <p:nvPr/>
        </p:nvSpPr>
        <p:spPr>
          <a:xfrm rot="0">
            <a:off x="7842885" y="4179856"/>
            <a:ext cx="2346960" cy="390144"/>
          </a:xfrm>
          <a:prstGeom prst="rect">
            <a:avLst/>
          </a:prstGeom>
        </p:spPr>
        <p:txBody>
          <a:bodyPr anchor="t" rtlCol="false" tIns="0" lIns="0" bIns="0" rIns="0">
            <a:spAutoFit/>
          </a:bodyPr>
          <a:lstStyle/>
          <a:p>
            <a:pPr algn="ctr">
              <a:lnSpc>
                <a:spcPts val="2741"/>
              </a:lnSpc>
            </a:pPr>
            <a:r>
              <a:rPr lang="en-US" b="true" sz="2046">
                <a:solidFill>
                  <a:srgbClr val="AC4D31"/>
                </a:solidFill>
                <a:latin typeface="Sarabun Semi-Bold"/>
                <a:ea typeface="Sarabun Semi-Bold"/>
                <a:cs typeface="Sarabun Semi-Bold"/>
                <a:sym typeface="Sarabun Semi-Bold"/>
              </a:rPr>
              <a:t>Authorize</a:t>
            </a:r>
          </a:p>
        </p:txBody>
      </p:sp>
      <p:sp>
        <p:nvSpPr>
          <p:cNvPr name="AutoShape 19" id="19"/>
          <p:cNvSpPr/>
          <p:nvPr/>
        </p:nvSpPr>
        <p:spPr>
          <a:xfrm rot="0">
            <a:off x="11028045" y="5787390"/>
            <a:ext cx="3771900" cy="33528"/>
          </a:xfrm>
          <a:prstGeom prst="rect">
            <a:avLst/>
          </a:prstGeom>
          <a:solidFill>
            <a:srgbClr val="28766D"/>
          </a:solidFill>
        </p:spPr>
      </p:sp>
      <p:sp>
        <p:nvSpPr>
          <p:cNvPr name="TextBox 20" id="20"/>
          <p:cNvSpPr txBox="true"/>
          <p:nvPr/>
        </p:nvSpPr>
        <p:spPr>
          <a:xfrm rot="0">
            <a:off x="14380845" y="5410676"/>
            <a:ext cx="838200" cy="778002"/>
          </a:xfrm>
          <a:prstGeom prst="rect">
            <a:avLst/>
          </a:prstGeom>
        </p:spPr>
        <p:txBody>
          <a:bodyPr anchor="t" rtlCol="false" tIns="0" lIns="0" bIns="0" rIns="0">
            <a:spAutoFit/>
          </a:bodyPr>
          <a:lstStyle/>
          <a:p>
            <a:pPr algn="ctr">
              <a:lnSpc>
                <a:spcPts val="5660"/>
              </a:lnSpc>
            </a:pPr>
            <a:r>
              <a:rPr lang="en-US" sz="4224">
                <a:solidFill>
                  <a:srgbClr val="28766D"/>
                </a:solidFill>
                <a:latin typeface="Sarabun"/>
                <a:ea typeface="Sarabun"/>
                <a:cs typeface="Sarabun"/>
                <a:sym typeface="Sarabun"/>
              </a:rPr>
              <a:t>→</a:t>
            </a:r>
          </a:p>
        </p:txBody>
      </p:sp>
      <p:sp>
        <p:nvSpPr>
          <p:cNvPr name="TextBox 21" id="21"/>
          <p:cNvSpPr txBox="true"/>
          <p:nvPr/>
        </p:nvSpPr>
        <p:spPr>
          <a:xfrm rot="0">
            <a:off x="11447145" y="5244370"/>
            <a:ext cx="2766060" cy="390144"/>
          </a:xfrm>
          <a:prstGeom prst="rect">
            <a:avLst/>
          </a:prstGeom>
        </p:spPr>
        <p:txBody>
          <a:bodyPr anchor="t" rtlCol="false" tIns="0" lIns="0" bIns="0" rIns="0">
            <a:spAutoFit/>
          </a:bodyPr>
          <a:lstStyle/>
          <a:p>
            <a:pPr algn="ctr">
              <a:lnSpc>
                <a:spcPts val="2741"/>
              </a:lnSpc>
            </a:pPr>
            <a:r>
              <a:rPr lang="en-US" b="true" sz="2046">
                <a:solidFill>
                  <a:srgbClr val="28766D"/>
                </a:solidFill>
                <a:latin typeface="Sarabun Semi-Bold"/>
                <a:ea typeface="Sarabun Semi-Bold"/>
                <a:cs typeface="Sarabun Semi-Bold"/>
                <a:sym typeface="Sarabun Semi-Bold"/>
              </a:rPr>
              <a:t>Lock + Save</a:t>
            </a:r>
          </a:p>
        </p:txBody>
      </p:sp>
      <p:grpSp>
        <p:nvGrpSpPr>
          <p:cNvPr name="Group 22" id="22"/>
          <p:cNvGrpSpPr/>
          <p:nvPr/>
        </p:nvGrpSpPr>
        <p:grpSpPr>
          <a:xfrm rot="0">
            <a:off x="2604135" y="7631430"/>
            <a:ext cx="2598420" cy="502920"/>
            <a:chOff x="0" y="0"/>
            <a:chExt cx="3464560" cy="670560"/>
          </a:xfrm>
        </p:grpSpPr>
        <p:sp>
          <p:nvSpPr>
            <p:cNvPr name="Freeform 23" id="23"/>
            <p:cNvSpPr/>
            <p:nvPr/>
          </p:nvSpPr>
          <p:spPr>
            <a:xfrm flipH="false" flipV="false" rot="0">
              <a:off x="0" y="0"/>
              <a:ext cx="3464560" cy="670560"/>
            </a:xfrm>
            <a:custGeom>
              <a:avLst/>
              <a:gdLst/>
              <a:ahLst/>
              <a:cxnLst/>
              <a:rect r="r" b="b" t="t" l="l"/>
              <a:pathLst>
                <a:path h="670560" w="3464560">
                  <a:moveTo>
                    <a:pt x="335280" y="0"/>
                  </a:moveTo>
                  <a:lnTo>
                    <a:pt x="3129280" y="0"/>
                  </a:lnTo>
                  <a:cubicBezTo>
                    <a:pt x="3314446" y="0"/>
                    <a:pt x="3464560" y="150114"/>
                    <a:pt x="3464560" y="335280"/>
                  </a:cubicBezTo>
                  <a:cubicBezTo>
                    <a:pt x="3464560" y="520446"/>
                    <a:pt x="3314446" y="670560"/>
                    <a:pt x="312928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24" id="24"/>
          <p:cNvSpPr txBox="true"/>
          <p:nvPr/>
        </p:nvSpPr>
        <p:spPr>
          <a:xfrm rot="0">
            <a:off x="2704719" y="7688580"/>
            <a:ext cx="239725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201 + QR</a:t>
            </a:r>
          </a:p>
        </p:txBody>
      </p:sp>
      <p:sp>
        <p:nvSpPr>
          <p:cNvPr name="TextBox 25" id="25"/>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Service ตรวจสิทธิ์และเงื่อนไข แล้วล็อกโต๊ะก่อนสร้างรอบ ระบบบันทึกรอบกับสถานะโต๊ะใน Transaction เดียวกัน และคืน 201 พร้อม QR</a:t>
            </a:r>
          </a:p>
        </p:txBody>
      </p:sp>
      <p:sp>
        <p:nvSpPr>
          <p:cNvPr name="TextBox 26" id="26"/>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pavarit_673380278-9_01</a:t>
            </a:r>
          </a:p>
        </p:txBody>
      </p:sp>
      <p:sp>
        <p:nvSpPr>
          <p:cNvPr name="TextBox 27" id="27"/>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Q&amp;A · 19/24</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Sequence · สั่งก่อน หักเมื่อเริ่มทำ</a:t>
            </a:r>
          </a:p>
        </p:txBody>
      </p:sp>
      <p:grpSp>
        <p:nvGrpSpPr>
          <p:cNvPr name="Group 5" id="5"/>
          <p:cNvGrpSpPr/>
          <p:nvPr/>
        </p:nvGrpSpPr>
        <p:grpSpPr>
          <a:xfrm rot="0">
            <a:off x="2185035" y="2308860"/>
            <a:ext cx="4358640" cy="880110"/>
            <a:chOff x="0" y="0"/>
            <a:chExt cx="5811520" cy="1173480"/>
          </a:xfrm>
        </p:grpSpPr>
        <p:sp>
          <p:nvSpPr>
            <p:cNvPr name="Freeform 6" id="6"/>
            <p:cNvSpPr/>
            <p:nvPr/>
          </p:nvSpPr>
          <p:spPr>
            <a:xfrm flipH="false" flipV="false" rot="0">
              <a:off x="0" y="0"/>
              <a:ext cx="5811520" cy="1173480"/>
            </a:xfrm>
            <a:custGeom>
              <a:avLst/>
              <a:gdLst/>
              <a:ahLst/>
              <a:cxnLst/>
              <a:rect r="r" b="b" t="t" l="l"/>
              <a:pathLst>
                <a:path h="1173480" w="5811520">
                  <a:moveTo>
                    <a:pt x="228600" y="0"/>
                  </a:moveTo>
                  <a:lnTo>
                    <a:pt x="5582920" y="0"/>
                  </a:lnTo>
                  <a:cubicBezTo>
                    <a:pt x="5709158" y="0"/>
                    <a:pt x="5811520" y="102362"/>
                    <a:pt x="5811520" y="228600"/>
                  </a:cubicBezTo>
                  <a:lnTo>
                    <a:pt x="5811520" y="944880"/>
                  </a:lnTo>
                  <a:cubicBezTo>
                    <a:pt x="5811520" y="1071118"/>
                    <a:pt x="5709158" y="1173480"/>
                    <a:pt x="558292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F1E3CB"/>
            </a:solidFill>
          </p:spPr>
        </p:sp>
      </p:grpSp>
      <p:sp>
        <p:nvSpPr>
          <p:cNvPr name="TextBox 7" id="7"/>
          <p:cNvSpPr txBox="true"/>
          <p:nvPr/>
        </p:nvSpPr>
        <p:spPr>
          <a:xfrm rot="0">
            <a:off x="2335911" y="2519077"/>
            <a:ext cx="405688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Customer · สั่ง</a:t>
            </a:r>
          </a:p>
        </p:txBody>
      </p:sp>
      <p:sp>
        <p:nvSpPr>
          <p:cNvPr name="TextBox 8" id="8"/>
          <p:cNvSpPr txBox="true"/>
          <p:nvPr/>
        </p:nvSpPr>
        <p:spPr>
          <a:xfrm rot="0">
            <a:off x="6711315" y="2292572"/>
            <a:ext cx="108966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grpSp>
        <p:nvGrpSpPr>
          <p:cNvPr name="Group 9" id="9"/>
          <p:cNvGrpSpPr/>
          <p:nvPr/>
        </p:nvGrpSpPr>
        <p:grpSpPr>
          <a:xfrm rot="0">
            <a:off x="7968615" y="2308860"/>
            <a:ext cx="4358640" cy="880110"/>
            <a:chOff x="0" y="0"/>
            <a:chExt cx="5811520" cy="1173480"/>
          </a:xfrm>
        </p:grpSpPr>
        <p:sp>
          <p:nvSpPr>
            <p:cNvPr name="Freeform 10" id="10"/>
            <p:cNvSpPr/>
            <p:nvPr/>
          </p:nvSpPr>
          <p:spPr>
            <a:xfrm flipH="false" flipV="false" rot="0">
              <a:off x="0" y="0"/>
              <a:ext cx="5811520" cy="1173480"/>
            </a:xfrm>
            <a:custGeom>
              <a:avLst/>
              <a:gdLst/>
              <a:ahLst/>
              <a:cxnLst/>
              <a:rect r="r" b="b" t="t" l="l"/>
              <a:pathLst>
                <a:path h="1173480" w="5811520">
                  <a:moveTo>
                    <a:pt x="228600" y="0"/>
                  </a:moveTo>
                  <a:lnTo>
                    <a:pt x="5582920" y="0"/>
                  </a:lnTo>
                  <a:cubicBezTo>
                    <a:pt x="5709158" y="0"/>
                    <a:pt x="5811520" y="102362"/>
                    <a:pt x="5811520" y="228600"/>
                  </a:cubicBezTo>
                  <a:lnTo>
                    <a:pt x="5811520" y="944880"/>
                  </a:lnTo>
                  <a:cubicBezTo>
                    <a:pt x="5811520" y="1071118"/>
                    <a:pt x="5709158" y="1173480"/>
                    <a:pt x="558292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DAEBE4"/>
            </a:solidFill>
          </p:spPr>
        </p:sp>
      </p:grpSp>
      <p:sp>
        <p:nvSpPr>
          <p:cNvPr name="TextBox 11" id="11"/>
          <p:cNvSpPr txBox="true"/>
          <p:nvPr/>
        </p:nvSpPr>
        <p:spPr>
          <a:xfrm rot="0">
            <a:off x="8119491" y="2519077"/>
            <a:ext cx="405688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RECEIVED</a:t>
            </a:r>
          </a:p>
        </p:txBody>
      </p:sp>
      <p:grpSp>
        <p:nvGrpSpPr>
          <p:cNvPr name="Group 12" id="12"/>
          <p:cNvGrpSpPr/>
          <p:nvPr/>
        </p:nvGrpSpPr>
        <p:grpSpPr>
          <a:xfrm rot="0">
            <a:off x="12913995" y="2518410"/>
            <a:ext cx="2849880" cy="502920"/>
            <a:chOff x="0" y="0"/>
            <a:chExt cx="3799840" cy="670560"/>
          </a:xfrm>
        </p:grpSpPr>
        <p:sp>
          <p:nvSpPr>
            <p:cNvPr name="Freeform 13" id="13"/>
            <p:cNvSpPr/>
            <p:nvPr/>
          </p:nvSpPr>
          <p:spPr>
            <a:xfrm flipH="false" flipV="false" rot="0">
              <a:off x="0" y="0"/>
              <a:ext cx="3799840" cy="670560"/>
            </a:xfrm>
            <a:custGeom>
              <a:avLst/>
              <a:gdLst/>
              <a:ahLst/>
              <a:cxnLst/>
              <a:rect r="r" b="b" t="t" l="l"/>
              <a:pathLst>
                <a:path h="670560" w="3799840">
                  <a:moveTo>
                    <a:pt x="335280" y="0"/>
                  </a:moveTo>
                  <a:lnTo>
                    <a:pt x="3464560" y="0"/>
                  </a:lnTo>
                  <a:cubicBezTo>
                    <a:pt x="3649726" y="0"/>
                    <a:pt x="3799840" y="150114"/>
                    <a:pt x="3799840" y="335280"/>
                  </a:cubicBezTo>
                  <a:cubicBezTo>
                    <a:pt x="3799840" y="520446"/>
                    <a:pt x="3649726" y="670560"/>
                    <a:pt x="346456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14" id="14"/>
          <p:cNvSpPr txBox="true"/>
          <p:nvPr/>
        </p:nvSpPr>
        <p:spPr>
          <a:xfrm rot="0">
            <a:off x="13014579" y="2575560"/>
            <a:ext cx="264871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Snapshot</a:t>
            </a:r>
          </a:p>
        </p:txBody>
      </p:sp>
      <p:sp>
        <p:nvSpPr>
          <p:cNvPr name="TextBox 15" id="15"/>
          <p:cNvSpPr txBox="true"/>
          <p:nvPr/>
        </p:nvSpPr>
        <p:spPr>
          <a:xfrm rot="0">
            <a:off x="9393555" y="3340322"/>
            <a:ext cx="1257300" cy="778002"/>
          </a:xfrm>
          <a:prstGeom prst="rect">
            <a:avLst/>
          </a:prstGeom>
        </p:spPr>
        <p:txBody>
          <a:bodyPr anchor="t" rtlCol="false" tIns="0" lIns="0" bIns="0" rIns="0">
            <a:spAutoFit/>
          </a:bodyPr>
          <a:lstStyle/>
          <a:p>
            <a:pPr algn="ctr">
              <a:lnSpc>
                <a:spcPts val="5660"/>
              </a:lnSpc>
            </a:pPr>
            <a:r>
              <a:rPr lang="en-US" sz="4224">
                <a:solidFill>
                  <a:srgbClr val="28766D"/>
                </a:solidFill>
                <a:latin typeface="Sarabun"/>
                <a:ea typeface="Sarabun"/>
                <a:cs typeface="Sarabun"/>
                <a:sym typeface="Sarabun"/>
              </a:rPr>
              <a:t>↓</a:t>
            </a:r>
          </a:p>
        </p:txBody>
      </p:sp>
      <p:grpSp>
        <p:nvGrpSpPr>
          <p:cNvPr name="Group 16" id="16"/>
          <p:cNvGrpSpPr/>
          <p:nvPr/>
        </p:nvGrpSpPr>
        <p:grpSpPr>
          <a:xfrm rot="0">
            <a:off x="7968615" y="4572000"/>
            <a:ext cx="4358640" cy="880110"/>
            <a:chOff x="0" y="0"/>
            <a:chExt cx="5811520" cy="1173480"/>
          </a:xfrm>
        </p:grpSpPr>
        <p:sp>
          <p:nvSpPr>
            <p:cNvPr name="Freeform 17" id="17"/>
            <p:cNvSpPr/>
            <p:nvPr/>
          </p:nvSpPr>
          <p:spPr>
            <a:xfrm flipH="false" flipV="false" rot="0">
              <a:off x="0" y="0"/>
              <a:ext cx="5811520" cy="1173480"/>
            </a:xfrm>
            <a:custGeom>
              <a:avLst/>
              <a:gdLst/>
              <a:ahLst/>
              <a:cxnLst/>
              <a:rect r="r" b="b" t="t" l="l"/>
              <a:pathLst>
                <a:path h="1173480" w="5811520">
                  <a:moveTo>
                    <a:pt x="228600" y="0"/>
                  </a:moveTo>
                  <a:lnTo>
                    <a:pt x="5582920" y="0"/>
                  </a:lnTo>
                  <a:cubicBezTo>
                    <a:pt x="5709158" y="0"/>
                    <a:pt x="5811520" y="102362"/>
                    <a:pt x="5811520" y="228600"/>
                  </a:cubicBezTo>
                  <a:lnTo>
                    <a:pt x="5811520" y="944880"/>
                  </a:lnTo>
                  <a:cubicBezTo>
                    <a:pt x="5811520" y="1071118"/>
                    <a:pt x="5709158" y="1173480"/>
                    <a:pt x="558292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F1E3CB"/>
            </a:solidFill>
          </p:spPr>
        </p:sp>
      </p:grpSp>
      <p:sp>
        <p:nvSpPr>
          <p:cNvPr name="TextBox 18" id="18"/>
          <p:cNvSpPr txBox="true"/>
          <p:nvPr/>
        </p:nvSpPr>
        <p:spPr>
          <a:xfrm rot="0">
            <a:off x="8119491" y="4782217"/>
            <a:ext cx="405688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Kitchen · เริ่มทำ</a:t>
            </a:r>
          </a:p>
        </p:txBody>
      </p:sp>
      <p:sp>
        <p:nvSpPr>
          <p:cNvPr name="TextBox 19" id="19"/>
          <p:cNvSpPr txBox="true"/>
          <p:nvPr/>
        </p:nvSpPr>
        <p:spPr>
          <a:xfrm rot="0">
            <a:off x="6669405" y="4597622"/>
            <a:ext cx="108966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grpSp>
        <p:nvGrpSpPr>
          <p:cNvPr name="Group 20" id="20"/>
          <p:cNvGrpSpPr/>
          <p:nvPr/>
        </p:nvGrpSpPr>
        <p:grpSpPr>
          <a:xfrm rot="0">
            <a:off x="2185035" y="4572000"/>
            <a:ext cx="4358640" cy="880110"/>
            <a:chOff x="0" y="0"/>
            <a:chExt cx="5811520" cy="1173480"/>
          </a:xfrm>
        </p:grpSpPr>
        <p:sp>
          <p:nvSpPr>
            <p:cNvPr name="Freeform 21" id="21"/>
            <p:cNvSpPr/>
            <p:nvPr/>
          </p:nvSpPr>
          <p:spPr>
            <a:xfrm flipH="false" flipV="false" rot="0">
              <a:off x="0" y="0"/>
              <a:ext cx="5811520" cy="1173480"/>
            </a:xfrm>
            <a:custGeom>
              <a:avLst/>
              <a:gdLst/>
              <a:ahLst/>
              <a:cxnLst/>
              <a:rect r="r" b="b" t="t" l="l"/>
              <a:pathLst>
                <a:path h="1173480" w="5811520">
                  <a:moveTo>
                    <a:pt x="228600" y="0"/>
                  </a:moveTo>
                  <a:lnTo>
                    <a:pt x="5582920" y="0"/>
                  </a:lnTo>
                  <a:cubicBezTo>
                    <a:pt x="5709158" y="0"/>
                    <a:pt x="5811520" y="102362"/>
                    <a:pt x="5811520" y="228600"/>
                  </a:cubicBezTo>
                  <a:lnTo>
                    <a:pt x="5811520" y="944880"/>
                  </a:lnTo>
                  <a:cubicBezTo>
                    <a:pt x="5811520" y="1071118"/>
                    <a:pt x="5709158" y="1173480"/>
                    <a:pt x="558292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F1E3CB"/>
            </a:solidFill>
          </p:spPr>
        </p:sp>
      </p:grpSp>
      <p:sp>
        <p:nvSpPr>
          <p:cNvPr name="TextBox 22" id="22"/>
          <p:cNvSpPr txBox="true"/>
          <p:nvPr/>
        </p:nvSpPr>
        <p:spPr>
          <a:xfrm rot="0">
            <a:off x="2335911" y="4782217"/>
            <a:ext cx="405688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ตรวจ Stock ทุกตัว</a:t>
            </a:r>
          </a:p>
        </p:txBody>
      </p:sp>
      <p:sp>
        <p:nvSpPr>
          <p:cNvPr name="TextBox 23" id="23"/>
          <p:cNvSpPr txBox="true"/>
          <p:nvPr/>
        </p:nvSpPr>
        <p:spPr>
          <a:xfrm rot="0">
            <a:off x="3651885" y="5561552"/>
            <a:ext cx="1424940" cy="778002"/>
          </a:xfrm>
          <a:prstGeom prst="rect">
            <a:avLst/>
          </a:prstGeom>
        </p:spPr>
        <p:txBody>
          <a:bodyPr anchor="t" rtlCol="false" tIns="0" lIns="0" bIns="0" rIns="0">
            <a:spAutoFit/>
          </a:bodyPr>
          <a:lstStyle/>
          <a:p>
            <a:pPr algn="ctr">
              <a:lnSpc>
                <a:spcPts val="5660"/>
              </a:lnSpc>
            </a:pPr>
            <a:r>
              <a:rPr lang="en-US" sz="4224">
                <a:solidFill>
                  <a:srgbClr val="28766D"/>
                </a:solidFill>
                <a:latin typeface="Sarabun"/>
                <a:ea typeface="Sarabun"/>
                <a:cs typeface="Sarabun"/>
                <a:sym typeface="Sarabun"/>
              </a:rPr>
              <a:t>↓</a:t>
            </a:r>
          </a:p>
        </p:txBody>
      </p:sp>
      <p:grpSp>
        <p:nvGrpSpPr>
          <p:cNvPr name="Group 24" id="24"/>
          <p:cNvGrpSpPr/>
          <p:nvPr/>
        </p:nvGrpSpPr>
        <p:grpSpPr>
          <a:xfrm rot="0">
            <a:off x="2185035" y="7296150"/>
            <a:ext cx="8633460" cy="880110"/>
            <a:chOff x="0" y="0"/>
            <a:chExt cx="11511280" cy="1173480"/>
          </a:xfrm>
        </p:grpSpPr>
        <p:sp>
          <p:nvSpPr>
            <p:cNvPr name="Freeform 25" id="25"/>
            <p:cNvSpPr/>
            <p:nvPr/>
          </p:nvSpPr>
          <p:spPr>
            <a:xfrm flipH="false" flipV="false" rot="0">
              <a:off x="0" y="0"/>
              <a:ext cx="11511280" cy="1173480"/>
            </a:xfrm>
            <a:custGeom>
              <a:avLst/>
              <a:gdLst/>
              <a:ahLst/>
              <a:cxnLst/>
              <a:rect r="r" b="b" t="t" l="l"/>
              <a:pathLst>
                <a:path h="1173480" w="11511280">
                  <a:moveTo>
                    <a:pt x="228600" y="0"/>
                  </a:moveTo>
                  <a:lnTo>
                    <a:pt x="11282680" y="0"/>
                  </a:lnTo>
                  <a:cubicBezTo>
                    <a:pt x="11408918" y="0"/>
                    <a:pt x="11511280" y="102362"/>
                    <a:pt x="11511280" y="228600"/>
                  </a:cubicBezTo>
                  <a:lnTo>
                    <a:pt x="11511280" y="944880"/>
                  </a:lnTo>
                  <a:cubicBezTo>
                    <a:pt x="11511280" y="1071118"/>
                    <a:pt x="11408918" y="1173480"/>
                    <a:pt x="1128268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DAEBE4"/>
            </a:solidFill>
          </p:spPr>
        </p:sp>
      </p:grpSp>
      <p:sp>
        <p:nvSpPr>
          <p:cNvPr name="TextBox 26" id="26"/>
          <p:cNvSpPr txBox="true"/>
          <p:nvPr/>
        </p:nvSpPr>
        <p:spPr>
          <a:xfrm rot="0">
            <a:off x="2335911" y="7481221"/>
            <a:ext cx="8331708" cy="481203"/>
          </a:xfrm>
          <a:prstGeom prst="rect">
            <a:avLst/>
          </a:prstGeom>
        </p:spPr>
        <p:txBody>
          <a:bodyPr anchor="t" rtlCol="false" tIns="0" lIns="0" bIns="0" rIns="0">
            <a:spAutoFit/>
          </a:bodyPr>
          <a:lstStyle/>
          <a:p>
            <a:pPr algn="ctr">
              <a:lnSpc>
                <a:spcPts val="3537"/>
              </a:lnSpc>
            </a:pPr>
            <a:r>
              <a:rPr lang="en-US" b="true" sz="2640">
                <a:solidFill>
                  <a:srgbClr val="173A45"/>
                </a:solidFill>
                <a:latin typeface="Sarabun Semi-Bold"/>
                <a:ea typeface="Sarabun Semi-Bold"/>
                <a:cs typeface="Sarabun Semi-Bold"/>
                <a:sym typeface="Sarabun Semi-Bold"/>
              </a:rPr>
              <a:t>หัก + Audit + PREPARING</a:t>
            </a:r>
          </a:p>
        </p:txBody>
      </p:sp>
      <p:grpSp>
        <p:nvGrpSpPr>
          <p:cNvPr name="Group 27" id="27"/>
          <p:cNvGrpSpPr/>
          <p:nvPr/>
        </p:nvGrpSpPr>
        <p:grpSpPr>
          <a:xfrm rot="0">
            <a:off x="11824335" y="7338060"/>
            <a:ext cx="3939540" cy="502920"/>
            <a:chOff x="0" y="0"/>
            <a:chExt cx="5252720" cy="670560"/>
          </a:xfrm>
        </p:grpSpPr>
        <p:sp>
          <p:nvSpPr>
            <p:cNvPr name="Freeform 28" id="28"/>
            <p:cNvSpPr/>
            <p:nvPr/>
          </p:nvSpPr>
          <p:spPr>
            <a:xfrm flipH="false" flipV="false" rot="0">
              <a:off x="0" y="0"/>
              <a:ext cx="5252720" cy="670560"/>
            </a:xfrm>
            <a:custGeom>
              <a:avLst/>
              <a:gdLst/>
              <a:ahLst/>
              <a:cxnLst/>
              <a:rect r="r" b="b" t="t" l="l"/>
              <a:pathLst>
                <a:path h="670560" w="5252720">
                  <a:moveTo>
                    <a:pt x="335280" y="0"/>
                  </a:moveTo>
                  <a:lnTo>
                    <a:pt x="4917440" y="0"/>
                  </a:lnTo>
                  <a:cubicBezTo>
                    <a:pt x="5102606" y="0"/>
                    <a:pt x="5252720" y="150114"/>
                    <a:pt x="5252720" y="335280"/>
                  </a:cubicBezTo>
                  <a:cubicBezTo>
                    <a:pt x="5252720" y="520446"/>
                    <a:pt x="5102606" y="670560"/>
                    <a:pt x="491744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29" id="29"/>
          <p:cNvSpPr txBox="true"/>
          <p:nvPr/>
        </p:nvSpPr>
        <p:spPr>
          <a:xfrm rot="0">
            <a:off x="11924919" y="7395210"/>
            <a:ext cx="373837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Transaction เดียว</a:t>
            </a:r>
          </a:p>
        </p:txBody>
      </p:sp>
      <p:sp>
        <p:nvSpPr>
          <p:cNvPr name="TextBox 30" id="30"/>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ตอนสั่ง ระบบสร้าง RECEIVED พร้อมสูตร Snapshot เมื่อครัวเริ่มทำ จึงตรวจทุกวัตถุดิบแล้วหักยอดพร้อมเปลี่ยนสถานะใน Transaction เดียว</a:t>
            </a:r>
          </a:p>
        </p:txBody>
      </p:sp>
      <p:sp>
        <p:nvSpPr>
          <p:cNvPr name="TextBox 31" id="31"/>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sarun_673380515-1_02</a:t>
            </a:r>
          </a:p>
        </p:txBody>
      </p:sp>
      <p:sp>
        <p:nvSpPr>
          <p:cNvPr name="TextBox 32" id="32"/>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Q&amp;A · 20/24</a:t>
            </a: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Sequence · PAID แล้วจึงปิดรอบ</a:t>
            </a:r>
          </a:p>
        </p:txBody>
      </p:sp>
      <p:grpSp>
        <p:nvGrpSpPr>
          <p:cNvPr name="Group 5" id="5"/>
          <p:cNvGrpSpPr/>
          <p:nvPr/>
        </p:nvGrpSpPr>
        <p:grpSpPr>
          <a:xfrm rot="0">
            <a:off x="2478405" y="2979420"/>
            <a:ext cx="1139952" cy="1911096"/>
            <a:chOff x="0" y="0"/>
            <a:chExt cx="1519936" cy="2548128"/>
          </a:xfrm>
        </p:grpSpPr>
        <p:sp>
          <p:nvSpPr>
            <p:cNvPr name="Freeform 6" id="6"/>
            <p:cNvSpPr/>
            <p:nvPr/>
          </p:nvSpPr>
          <p:spPr>
            <a:xfrm flipH="false" flipV="false" rot="0">
              <a:off x="0" y="0"/>
              <a:ext cx="1519936" cy="2548128"/>
            </a:xfrm>
            <a:custGeom>
              <a:avLst/>
              <a:gdLst/>
              <a:ahLst/>
              <a:cxnLst/>
              <a:rect r="r" b="b" t="t" l="l"/>
              <a:pathLst>
                <a:path h="2548128" w="1519936">
                  <a:moveTo>
                    <a:pt x="243840" y="0"/>
                  </a:moveTo>
                  <a:lnTo>
                    <a:pt x="1276096" y="0"/>
                  </a:lnTo>
                  <a:cubicBezTo>
                    <a:pt x="1410716" y="0"/>
                    <a:pt x="1519936" y="109220"/>
                    <a:pt x="1519936" y="243840"/>
                  </a:cubicBezTo>
                  <a:lnTo>
                    <a:pt x="1519936" y="2304288"/>
                  </a:lnTo>
                  <a:cubicBezTo>
                    <a:pt x="1519936" y="2438908"/>
                    <a:pt x="1410716" y="2548128"/>
                    <a:pt x="1276096" y="2548128"/>
                  </a:cubicBezTo>
                  <a:lnTo>
                    <a:pt x="243840" y="2548128"/>
                  </a:lnTo>
                  <a:cubicBezTo>
                    <a:pt x="109220" y="2548128"/>
                    <a:pt x="0" y="2438908"/>
                    <a:pt x="0" y="2304288"/>
                  </a:cubicBezTo>
                  <a:lnTo>
                    <a:pt x="0" y="243840"/>
                  </a:lnTo>
                  <a:cubicBezTo>
                    <a:pt x="0" y="109220"/>
                    <a:pt x="109220" y="0"/>
                    <a:pt x="243840" y="0"/>
                  </a:cubicBezTo>
                  <a:close/>
                </a:path>
              </a:pathLst>
            </a:custGeom>
            <a:solidFill>
              <a:srgbClr val="173A45"/>
            </a:solidFill>
          </p:spPr>
        </p:sp>
      </p:grpSp>
      <p:grpSp>
        <p:nvGrpSpPr>
          <p:cNvPr name="Group 7" id="7"/>
          <p:cNvGrpSpPr/>
          <p:nvPr/>
        </p:nvGrpSpPr>
        <p:grpSpPr>
          <a:xfrm rot="0">
            <a:off x="2566321" y="3147060"/>
            <a:ext cx="963930" cy="1542288"/>
            <a:chOff x="0" y="0"/>
            <a:chExt cx="1285240" cy="2056384"/>
          </a:xfrm>
        </p:grpSpPr>
        <p:sp>
          <p:nvSpPr>
            <p:cNvPr name="Freeform 8" id="8"/>
            <p:cNvSpPr/>
            <p:nvPr/>
          </p:nvSpPr>
          <p:spPr>
            <a:xfrm flipH="false" flipV="false" rot="0">
              <a:off x="0" y="0"/>
              <a:ext cx="1285240" cy="2056384"/>
            </a:xfrm>
            <a:custGeom>
              <a:avLst/>
              <a:gdLst/>
              <a:ahLst/>
              <a:cxnLst/>
              <a:rect r="r" b="b" t="t" l="l"/>
              <a:pathLst>
                <a:path h="2056384" w="1285240">
                  <a:moveTo>
                    <a:pt x="81280" y="0"/>
                  </a:moveTo>
                  <a:lnTo>
                    <a:pt x="1203960" y="0"/>
                  </a:lnTo>
                  <a:cubicBezTo>
                    <a:pt x="1248791" y="0"/>
                    <a:pt x="1285240" y="36449"/>
                    <a:pt x="1285240" y="81280"/>
                  </a:cubicBezTo>
                  <a:lnTo>
                    <a:pt x="1285240" y="1975104"/>
                  </a:lnTo>
                  <a:cubicBezTo>
                    <a:pt x="1285240" y="2019935"/>
                    <a:pt x="1248791" y="2056384"/>
                    <a:pt x="1203960" y="2056384"/>
                  </a:cubicBezTo>
                  <a:lnTo>
                    <a:pt x="81280" y="2056384"/>
                  </a:lnTo>
                  <a:cubicBezTo>
                    <a:pt x="36449" y="2056384"/>
                    <a:pt x="0" y="2019935"/>
                    <a:pt x="0" y="1975104"/>
                  </a:cubicBezTo>
                  <a:lnTo>
                    <a:pt x="0" y="81280"/>
                  </a:lnTo>
                  <a:cubicBezTo>
                    <a:pt x="0" y="36449"/>
                    <a:pt x="36449" y="0"/>
                    <a:pt x="81280" y="0"/>
                  </a:cubicBezTo>
                  <a:close/>
                </a:path>
              </a:pathLst>
            </a:custGeom>
            <a:solidFill>
              <a:srgbClr val="FFFFFF"/>
            </a:solidFill>
          </p:spPr>
        </p:sp>
      </p:grpSp>
      <p:grpSp>
        <p:nvGrpSpPr>
          <p:cNvPr name="Group 9" id="9"/>
          <p:cNvGrpSpPr/>
          <p:nvPr/>
        </p:nvGrpSpPr>
        <p:grpSpPr>
          <a:xfrm rot="0">
            <a:off x="2905792" y="3046476"/>
            <a:ext cx="284988" cy="33528"/>
            <a:chOff x="0" y="0"/>
            <a:chExt cx="379984" cy="44704"/>
          </a:xfrm>
        </p:grpSpPr>
        <p:sp>
          <p:nvSpPr>
            <p:cNvPr name="Freeform 10" id="10"/>
            <p:cNvSpPr/>
            <p:nvPr/>
          </p:nvSpPr>
          <p:spPr>
            <a:xfrm flipH="false" flipV="false" rot="0">
              <a:off x="0" y="0"/>
              <a:ext cx="379984" cy="44704"/>
            </a:xfrm>
            <a:custGeom>
              <a:avLst/>
              <a:gdLst/>
              <a:ahLst/>
              <a:cxnLst/>
              <a:rect r="r" b="b" t="t" l="l"/>
              <a:pathLst>
                <a:path h="44704" w="379984">
                  <a:moveTo>
                    <a:pt x="20320" y="0"/>
                  </a:moveTo>
                  <a:lnTo>
                    <a:pt x="359664" y="0"/>
                  </a:lnTo>
                  <a:cubicBezTo>
                    <a:pt x="370840" y="0"/>
                    <a:pt x="379984" y="9144"/>
                    <a:pt x="379984" y="20320"/>
                  </a:cubicBezTo>
                  <a:lnTo>
                    <a:pt x="379984" y="24384"/>
                  </a:lnTo>
                  <a:cubicBezTo>
                    <a:pt x="379984" y="35560"/>
                    <a:pt x="370840" y="44704"/>
                    <a:pt x="359664" y="44704"/>
                  </a:cubicBezTo>
                  <a:lnTo>
                    <a:pt x="20320" y="44704"/>
                  </a:lnTo>
                  <a:cubicBezTo>
                    <a:pt x="9144" y="44704"/>
                    <a:pt x="0" y="35560"/>
                    <a:pt x="0" y="24384"/>
                  </a:cubicBezTo>
                  <a:lnTo>
                    <a:pt x="0" y="20320"/>
                  </a:lnTo>
                  <a:cubicBezTo>
                    <a:pt x="0" y="9144"/>
                    <a:pt x="9144" y="0"/>
                    <a:pt x="20320" y="0"/>
                  </a:cubicBezTo>
                  <a:close/>
                </a:path>
              </a:pathLst>
            </a:custGeom>
            <a:solidFill>
              <a:srgbClr val="FFFFFF"/>
            </a:solidFill>
          </p:spPr>
        </p:sp>
      </p:grpSp>
      <p:grpSp>
        <p:nvGrpSpPr>
          <p:cNvPr name="Group 11" id="11"/>
          <p:cNvGrpSpPr/>
          <p:nvPr/>
        </p:nvGrpSpPr>
        <p:grpSpPr>
          <a:xfrm rot="0">
            <a:off x="2993803" y="4748784"/>
            <a:ext cx="108966" cy="108966"/>
            <a:chOff x="0" y="0"/>
            <a:chExt cx="145288" cy="145288"/>
          </a:xfrm>
        </p:grpSpPr>
        <p:sp>
          <p:nvSpPr>
            <p:cNvPr name="Freeform 12" id="12"/>
            <p:cNvSpPr/>
            <p:nvPr/>
          </p:nvSpPr>
          <p:spPr>
            <a:xfrm flipH="false" flipV="false" rot="0">
              <a:off x="0" y="0"/>
              <a:ext cx="145288" cy="145288"/>
            </a:xfrm>
            <a:custGeom>
              <a:avLst/>
              <a:gdLst/>
              <a:ahLst/>
              <a:cxnLst/>
              <a:rect r="r" b="b" t="t" l="l"/>
              <a:pathLst>
                <a:path h="145288" w="145288">
                  <a:moveTo>
                    <a:pt x="72644" y="0"/>
                  </a:moveTo>
                  <a:cubicBezTo>
                    <a:pt x="112776" y="0"/>
                    <a:pt x="145288" y="32512"/>
                    <a:pt x="145288" y="72644"/>
                  </a:cubicBezTo>
                  <a:cubicBezTo>
                    <a:pt x="145288" y="112776"/>
                    <a:pt x="112776" y="145288"/>
                    <a:pt x="72644" y="145288"/>
                  </a:cubicBezTo>
                  <a:cubicBezTo>
                    <a:pt x="32512" y="145288"/>
                    <a:pt x="0" y="112776"/>
                    <a:pt x="0" y="72644"/>
                  </a:cubicBezTo>
                  <a:cubicBezTo>
                    <a:pt x="0" y="32512"/>
                    <a:pt x="32512" y="0"/>
                    <a:pt x="72644" y="0"/>
                  </a:cubicBezTo>
                  <a:close/>
                </a:path>
              </a:pathLst>
            </a:custGeom>
            <a:solidFill>
              <a:srgbClr val="FFFFFF"/>
            </a:solidFill>
          </p:spPr>
        </p:sp>
      </p:grpSp>
      <p:sp>
        <p:nvSpPr>
          <p:cNvPr name="AutoShape 13" id="13"/>
          <p:cNvSpPr/>
          <p:nvPr/>
        </p:nvSpPr>
        <p:spPr>
          <a:xfrm rot="0">
            <a:off x="2713101" y="3462147"/>
            <a:ext cx="234696" cy="234696"/>
          </a:xfrm>
          <a:prstGeom prst="rect">
            <a:avLst/>
          </a:prstGeom>
          <a:solidFill>
            <a:srgbClr val="173A45"/>
          </a:solidFill>
        </p:spPr>
      </p:sp>
      <p:sp>
        <p:nvSpPr>
          <p:cNvPr name="AutoShape 14" id="14"/>
          <p:cNvSpPr/>
          <p:nvPr/>
        </p:nvSpPr>
        <p:spPr>
          <a:xfrm rot="0">
            <a:off x="3115437" y="3462147"/>
            <a:ext cx="234696" cy="234696"/>
          </a:xfrm>
          <a:prstGeom prst="rect">
            <a:avLst/>
          </a:prstGeom>
          <a:solidFill>
            <a:srgbClr val="173A45"/>
          </a:solidFill>
        </p:spPr>
      </p:sp>
      <p:sp>
        <p:nvSpPr>
          <p:cNvPr name="AutoShape 15" id="15"/>
          <p:cNvSpPr/>
          <p:nvPr/>
        </p:nvSpPr>
        <p:spPr>
          <a:xfrm rot="0">
            <a:off x="2713101" y="3864483"/>
            <a:ext cx="234696" cy="234696"/>
          </a:xfrm>
          <a:prstGeom prst="rect">
            <a:avLst/>
          </a:prstGeom>
          <a:solidFill>
            <a:srgbClr val="173A45"/>
          </a:solidFill>
        </p:spPr>
      </p:sp>
      <p:sp>
        <p:nvSpPr>
          <p:cNvPr name="AutoShape 16" id="16"/>
          <p:cNvSpPr/>
          <p:nvPr/>
        </p:nvSpPr>
        <p:spPr>
          <a:xfrm rot="0">
            <a:off x="3114580" y="3863626"/>
            <a:ext cx="108966" cy="108966"/>
          </a:xfrm>
          <a:prstGeom prst="rect">
            <a:avLst/>
          </a:prstGeom>
          <a:solidFill>
            <a:srgbClr val="173A45"/>
          </a:solidFill>
        </p:spPr>
      </p:sp>
      <p:sp>
        <p:nvSpPr>
          <p:cNvPr name="AutoShape 17" id="17"/>
          <p:cNvSpPr/>
          <p:nvPr/>
        </p:nvSpPr>
        <p:spPr>
          <a:xfrm rot="0">
            <a:off x="3234309" y="3990213"/>
            <a:ext cx="117348" cy="117348"/>
          </a:xfrm>
          <a:prstGeom prst="rect">
            <a:avLst/>
          </a:prstGeom>
          <a:solidFill>
            <a:srgbClr val="173A45"/>
          </a:solidFill>
        </p:spPr>
      </p:sp>
      <p:sp>
        <p:nvSpPr>
          <p:cNvPr name="AutoShape 18" id="18"/>
          <p:cNvSpPr/>
          <p:nvPr/>
        </p:nvSpPr>
        <p:spPr>
          <a:xfrm rot="0">
            <a:off x="2995422" y="3737896"/>
            <a:ext cx="92202" cy="92202"/>
          </a:xfrm>
          <a:prstGeom prst="rect">
            <a:avLst/>
          </a:prstGeom>
          <a:solidFill>
            <a:srgbClr val="173A45"/>
          </a:solidFill>
        </p:spPr>
      </p:sp>
      <p:grpSp>
        <p:nvGrpSpPr>
          <p:cNvPr name="Group 19" id="19"/>
          <p:cNvGrpSpPr/>
          <p:nvPr/>
        </p:nvGrpSpPr>
        <p:grpSpPr>
          <a:xfrm rot="0">
            <a:off x="8261985" y="2978372"/>
            <a:ext cx="1592580" cy="2112264"/>
            <a:chOff x="0" y="0"/>
            <a:chExt cx="2123440" cy="2816352"/>
          </a:xfrm>
        </p:grpSpPr>
        <p:sp>
          <p:nvSpPr>
            <p:cNvPr name="Freeform 20" id="20"/>
            <p:cNvSpPr/>
            <p:nvPr/>
          </p:nvSpPr>
          <p:spPr>
            <a:xfrm flipH="false" flipV="false" rot="0">
              <a:off x="0" y="0"/>
              <a:ext cx="2123440" cy="2816352"/>
            </a:xfrm>
            <a:custGeom>
              <a:avLst/>
              <a:gdLst/>
              <a:ahLst/>
              <a:cxnLst/>
              <a:rect r="r" b="b" t="t" l="l"/>
              <a:pathLst>
                <a:path h="2816352" w="2123440">
                  <a:moveTo>
                    <a:pt x="48260" y="0"/>
                  </a:moveTo>
                  <a:lnTo>
                    <a:pt x="2075180" y="0"/>
                  </a:lnTo>
                  <a:cubicBezTo>
                    <a:pt x="2101850" y="0"/>
                    <a:pt x="2123440" y="21590"/>
                    <a:pt x="2123440" y="48260"/>
                  </a:cubicBezTo>
                  <a:lnTo>
                    <a:pt x="2123440" y="2768092"/>
                  </a:lnTo>
                  <a:cubicBezTo>
                    <a:pt x="2123440" y="2794762"/>
                    <a:pt x="2101850" y="2816352"/>
                    <a:pt x="2075180" y="2816352"/>
                  </a:cubicBezTo>
                  <a:lnTo>
                    <a:pt x="48260" y="2816352"/>
                  </a:lnTo>
                  <a:cubicBezTo>
                    <a:pt x="21590" y="2816352"/>
                    <a:pt x="0" y="2794762"/>
                    <a:pt x="0" y="2768092"/>
                  </a:cubicBezTo>
                  <a:lnTo>
                    <a:pt x="0" y="48260"/>
                  </a:lnTo>
                  <a:cubicBezTo>
                    <a:pt x="0" y="21590"/>
                    <a:pt x="21590" y="0"/>
                    <a:pt x="48260" y="0"/>
                  </a:cubicBezTo>
                  <a:close/>
                </a:path>
              </a:pathLst>
            </a:custGeom>
            <a:solidFill>
              <a:srgbClr val="FFFFFF"/>
            </a:solidFill>
          </p:spPr>
        </p:sp>
        <p:sp>
          <p:nvSpPr>
            <p:cNvPr name="Freeform 21" id="21"/>
            <p:cNvSpPr/>
            <p:nvPr/>
          </p:nvSpPr>
          <p:spPr>
            <a:xfrm flipH="false" flipV="false" rot="0">
              <a:off x="0" y="0"/>
              <a:ext cx="2123440" cy="2816352"/>
            </a:xfrm>
            <a:custGeom>
              <a:avLst/>
              <a:gdLst/>
              <a:ahLst/>
              <a:cxnLst/>
              <a:rect r="r" b="b" t="t" l="l"/>
              <a:pathLst>
                <a:path h="2816352" w="2123440">
                  <a:moveTo>
                    <a:pt x="48260" y="0"/>
                  </a:moveTo>
                  <a:lnTo>
                    <a:pt x="2075180" y="0"/>
                  </a:lnTo>
                  <a:cubicBezTo>
                    <a:pt x="2101850" y="0"/>
                    <a:pt x="2123440" y="21590"/>
                    <a:pt x="2123440" y="48260"/>
                  </a:cubicBezTo>
                  <a:lnTo>
                    <a:pt x="2123440" y="2768092"/>
                  </a:lnTo>
                  <a:cubicBezTo>
                    <a:pt x="2123440" y="2794762"/>
                    <a:pt x="2101850" y="2816352"/>
                    <a:pt x="2075180" y="2816352"/>
                  </a:cubicBezTo>
                  <a:lnTo>
                    <a:pt x="48260" y="2816352"/>
                  </a:lnTo>
                  <a:cubicBezTo>
                    <a:pt x="21590" y="2816352"/>
                    <a:pt x="0" y="2794762"/>
                    <a:pt x="0" y="2768092"/>
                  </a:cubicBezTo>
                  <a:lnTo>
                    <a:pt x="0" y="48260"/>
                  </a:lnTo>
                  <a:cubicBezTo>
                    <a:pt x="0" y="21590"/>
                    <a:pt x="21590" y="0"/>
                    <a:pt x="48260" y="0"/>
                  </a:cubicBezTo>
                  <a:close/>
                </a:path>
              </a:pathLst>
            </a:custGeom>
            <a:solidFill>
              <a:srgbClr val="000000">
                <a:alpha val="0"/>
              </a:srgbClr>
            </a:solidFill>
            <a:ln w="28575" cap="sq">
              <a:solidFill>
                <a:srgbClr val="173A45"/>
              </a:solidFill>
              <a:prstDash val="solid"/>
              <a:miter/>
            </a:ln>
          </p:spPr>
        </p:sp>
      </p:grpSp>
      <p:sp>
        <p:nvSpPr>
          <p:cNvPr name="TextBox 22" id="22"/>
          <p:cNvSpPr txBox="true"/>
          <p:nvPr/>
        </p:nvSpPr>
        <p:spPr>
          <a:xfrm rot="0">
            <a:off x="8660130" y="2997994"/>
            <a:ext cx="796290" cy="931164"/>
          </a:xfrm>
          <a:prstGeom prst="rect">
            <a:avLst/>
          </a:prstGeom>
        </p:spPr>
        <p:txBody>
          <a:bodyPr anchor="t" rtlCol="false" tIns="0" lIns="0" bIns="0" rIns="0">
            <a:spAutoFit/>
          </a:bodyPr>
          <a:lstStyle/>
          <a:p>
            <a:pPr algn="ctr">
              <a:lnSpc>
                <a:spcPts val="6721"/>
              </a:lnSpc>
            </a:pPr>
            <a:r>
              <a:rPr lang="en-US" b="true" sz="5016">
                <a:solidFill>
                  <a:srgbClr val="AC4D31"/>
                </a:solidFill>
                <a:latin typeface="Sarabun Semi-Bold"/>
                <a:ea typeface="Sarabun Semi-Bold"/>
                <a:cs typeface="Sarabun Semi-Bold"/>
                <a:sym typeface="Sarabun Semi-Bold"/>
              </a:rPr>
              <a:t>฿</a:t>
            </a:r>
          </a:p>
        </p:txBody>
      </p:sp>
      <p:sp>
        <p:nvSpPr>
          <p:cNvPr name="AutoShape 23" id="23"/>
          <p:cNvSpPr/>
          <p:nvPr/>
        </p:nvSpPr>
        <p:spPr>
          <a:xfrm rot="0">
            <a:off x="8500872" y="4054412"/>
            <a:ext cx="1114806" cy="33528"/>
          </a:xfrm>
          <a:prstGeom prst="rect">
            <a:avLst/>
          </a:prstGeom>
          <a:solidFill>
            <a:srgbClr val="173A45"/>
          </a:solidFill>
        </p:spPr>
      </p:sp>
      <p:sp>
        <p:nvSpPr>
          <p:cNvPr name="AutoShape 24" id="24"/>
          <p:cNvSpPr/>
          <p:nvPr/>
        </p:nvSpPr>
        <p:spPr>
          <a:xfrm rot="0">
            <a:off x="8500872" y="4333113"/>
            <a:ext cx="1114806" cy="33528"/>
          </a:xfrm>
          <a:prstGeom prst="rect">
            <a:avLst/>
          </a:prstGeom>
          <a:solidFill>
            <a:srgbClr val="173A45"/>
          </a:solidFill>
        </p:spPr>
      </p:sp>
      <p:sp>
        <p:nvSpPr>
          <p:cNvPr name="AutoShape 25" id="25"/>
          <p:cNvSpPr/>
          <p:nvPr/>
        </p:nvSpPr>
        <p:spPr>
          <a:xfrm rot="0">
            <a:off x="8501920" y="4611814"/>
            <a:ext cx="754380" cy="33528"/>
          </a:xfrm>
          <a:prstGeom prst="rect">
            <a:avLst/>
          </a:prstGeom>
          <a:solidFill>
            <a:srgbClr val="173A45"/>
          </a:solidFill>
        </p:spPr>
      </p:sp>
      <p:grpSp>
        <p:nvGrpSpPr>
          <p:cNvPr name="Group 26" id="26"/>
          <p:cNvGrpSpPr/>
          <p:nvPr/>
        </p:nvGrpSpPr>
        <p:grpSpPr>
          <a:xfrm rot="0">
            <a:off x="13500735" y="3188970"/>
            <a:ext cx="1424940" cy="1424940"/>
            <a:chOff x="0" y="0"/>
            <a:chExt cx="1899920" cy="1899920"/>
          </a:xfrm>
        </p:grpSpPr>
        <p:sp>
          <p:nvSpPr>
            <p:cNvPr name="Freeform 27" id="27"/>
            <p:cNvSpPr/>
            <p:nvPr/>
          </p:nvSpPr>
          <p:spPr>
            <a:xfrm flipH="false" flipV="false" rot="0">
              <a:off x="0" y="0"/>
              <a:ext cx="1899920" cy="1899920"/>
            </a:xfrm>
            <a:custGeom>
              <a:avLst/>
              <a:gdLst/>
              <a:ahLst/>
              <a:cxnLst/>
              <a:rect r="r" b="b" t="t" l="l"/>
              <a:pathLst>
                <a:path h="1899920" w="1899920">
                  <a:moveTo>
                    <a:pt x="949960" y="0"/>
                  </a:moveTo>
                  <a:cubicBezTo>
                    <a:pt x="1474597" y="0"/>
                    <a:pt x="1899920" y="425323"/>
                    <a:pt x="1899920" y="949960"/>
                  </a:cubicBezTo>
                  <a:cubicBezTo>
                    <a:pt x="1899920" y="1474597"/>
                    <a:pt x="1474597" y="1899920"/>
                    <a:pt x="949960" y="1899920"/>
                  </a:cubicBezTo>
                  <a:cubicBezTo>
                    <a:pt x="425323" y="1899920"/>
                    <a:pt x="0" y="1474597"/>
                    <a:pt x="0" y="949960"/>
                  </a:cubicBezTo>
                  <a:cubicBezTo>
                    <a:pt x="0" y="425323"/>
                    <a:pt x="425323" y="0"/>
                    <a:pt x="949960" y="0"/>
                  </a:cubicBezTo>
                  <a:close/>
                </a:path>
              </a:pathLst>
            </a:custGeom>
            <a:solidFill>
              <a:srgbClr val="FFFFFF"/>
            </a:solidFill>
          </p:spPr>
        </p:sp>
        <p:sp>
          <p:nvSpPr>
            <p:cNvPr name="Freeform 28" id="28"/>
            <p:cNvSpPr/>
            <p:nvPr/>
          </p:nvSpPr>
          <p:spPr>
            <a:xfrm flipH="false" flipV="false" rot="0">
              <a:off x="0" y="0"/>
              <a:ext cx="1899920" cy="1899920"/>
            </a:xfrm>
            <a:custGeom>
              <a:avLst/>
              <a:gdLst/>
              <a:ahLst/>
              <a:cxnLst/>
              <a:rect r="r" b="b" t="t" l="l"/>
              <a:pathLst>
                <a:path h="1899920" w="1899920">
                  <a:moveTo>
                    <a:pt x="949960" y="0"/>
                  </a:moveTo>
                  <a:cubicBezTo>
                    <a:pt x="1474597" y="0"/>
                    <a:pt x="1899920" y="425323"/>
                    <a:pt x="1899920" y="949960"/>
                  </a:cubicBezTo>
                  <a:cubicBezTo>
                    <a:pt x="1899920" y="1474597"/>
                    <a:pt x="1474597" y="1899920"/>
                    <a:pt x="949960" y="1899920"/>
                  </a:cubicBezTo>
                  <a:cubicBezTo>
                    <a:pt x="425323" y="1899920"/>
                    <a:pt x="0" y="1474597"/>
                    <a:pt x="0" y="949960"/>
                  </a:cubicBezTo>
                  <a:cubicBezTo>
                    <a:pt x="0" y="425323"/>
                    <a:pt x="425323" y="0"/>
                    <a:pt x="949960" y="0"/>
                  </a:cubicBezTo>
                  <a:close/>
                </a:path>
              </a:pathLst>
            </a:custGeom>
            <a:solidFill>
              <a:srgbClr val="000000">
                <a:alpha val="0"/>
              </a:srgbClr>
            </a:solidFill>
            <a:ln w="28575" cap="sq">
              <a:solidFill>
                <a:srgbClr val="173A45"/>
              </a:solidFill>
              <a:prstDash val="solid"/>
              <a:miter/>
            </a:ln>
          </p:spPr>
        </p:sp>
      </p:grpSp>
      <p:grpSp>
        <p:nvGrpSpPr>
          <p:cNvPr name="Group 29" id="29"/>
          <p:cNvGrpSpPr/>
          <p:nvPr/>
        </p:nvGrpSpPr>
        <p:grpSpPr>
          <a:xfrm rot="0">
            <a:off x="13714476" y="3402711"/>
            <a:ext cx="997458" cy="997458"/>
            <a:chOff x="0" y="0"/>
            <a:chExt cx="1329944" cy="1329944"/>
          </a:xfrm>
        </p:grpSpPr>
        <p:sp>
          <p:nvSpPr>
            <p:cNvPr name="Freeform 30" id="30"/>
            <p:cNvSpPr/>
            <p:nvPr/>
          </p:nvSpPr>
          <p:spPr>
            <a:xfrm flipH="false" flipV="false" rot="0">
              <a:off x="0" y="0"/>
              <a:ext cx="1329944" cy="1329944"/>
            </a:xfrm>
            <a:custGeom>
              <a:avLst/>
              <a:gdLst/>
              <a:ahLst/>
              <a:cxnLst/>
              <a:rect r="r" b="b" t="t" l="l"/>
              <a:pathLst>
                <a:path h="1329944" w="1329944">
                  <a:moveTo>
                    <a:pt x="664972" y="0"/>
                  </a:moveTo>
                  <a:cubicBezTo>
                    <a:pt x="1032256" y="0"/>
                    <a:pt x="1329944" y="297688"/>
                    <a:pt x="1329944" y="664972"/>
                  </a:cubicBezTo>
                  <a:cubicBezTo>
                    <a:pt x="1329944" y="1032256"/>
                    <a:pt x="1032256" y="1329944"/>
                    <a:pt x="664972" y="1329944"/>
                  </a:cubicBezTo>
                  <a:cubicBezTo>
                    <a:pt x="297688" y="1329944"/>
                    <a:pt x="0" y="1032256"/>
                    <a:pt x="0" y="664972"/>
                  </a:cubicBezTo>
                  <a:cubicBezTo>
                    <a:pt x="0" y="297688"/>
                    <a:pt x="297688" y="0"/>
                    <a:pt x="664972" y="0"/>
                  </a:cubicBezTo>
                  <a:close/>
                </a:path>
              </a:pathLst>
            </a:custGeom>
            <a:solidFill>
              <a:srgbClr val="F1E3CB"/>
            </a:solidFill>
          </p:spPr>
        </p:sp>
        <p:sp>
          <p:nvSpPr>
            <p:cNvPr name="Freeform 31" id="31"/>
            <p:cNvSpPr/>
            <p:nvPr/>
          </p:nvSpPr>
          <p:spPr>
            <a:xfrm flipH="false" flipV="false" rot="0">
              <a:off x="0" y="0"/>
              <a:ext cx="1329944" cy="1329944"/>
            </a:xfrm>
            <a:custGeom>
              <a:avLst/>
              <a:gdLst/>
              <a:ahLst/>
              <a:cxnLst/>
              <a:rect r="r" b="b" t="t" l="l"/>
              <a:pathLst>
                <a:path h="1329944" w="1329944">
                  <a:moveTo>
                    <a:pt x="664972" y="0"/>
                  </a:moveTo>
                  <a:cubicBezTo>
                    <a:pt x="1032256" y="0"/>
                    <a:pt x="1329944" y="297688"/>
                    <a:pt x="1329944" y="664972"/>
                  </a:cubicBezTo>
                  <a:cubicBezTo>
                    <a:pt x="1329944" y="1032256"/>
                    <a:pt x="1032256" y="1329944"/>
                    <a:pt x="664972" y="1329944"/>
                  </a:cubicBezTo>
                  <a:cubicBezTo>
                    <a:pt x="297688" y="1329944"/>
                    <a:pt x="0" y="1032256"/>
                    <a:pt x="0" y="664972"/>
                  </a:cubicBezTo>
                  <a:cubicBezTo>
                    <a:pt x="0" y="297688"/>
                    <a:pt x="297688" y="0"/>
                    <a:pt x="664972" y="0"/>
                  </a:cubicBezTo>
                  <a:close/>
                </a:path>
              </a:pathLst>
            </a:custGeom>
            <a:solidFill>
              <a:srgbClr val="000000">
                <a:alpha val="0"/>
              </a:srgbClr>
            </a:solidFill>
            <a:ln w="28575" cap="sq">
              <a:solidFill>
                <a:srgbClr val="173A45"/>
              </a:solidFill>
              <a:prstDash val="solid"/>
              <a:miter/>
            </a:ln>
          </p:spPr>
        </p:sp>
      </p:grpSp>
      <p:sp>
        <p:nvSpPr>
          <p:cNvPr name="AutoShape 32" id="32"/>
          <p:cNvSpPr/>
          <p:nvPr/>
        </p:nvSpPr>
        <p:spPr>
          <a:xfrm rot="0">
            <a:off x="13265468" y="3222498"/>
            <a:ext cx="33528" cy="1357884"/>
          </a:xfrm>
          <a:prstGeom prst="rect">
            <a:avLst/>
          </a:prstGeom>
          <a:solidFill>
            <a:srgbClr val="173A45"/>
          </a:solidFill>
        </p:spPr>
      </p:sp>
      <p:sp>
        <p:nvSpPr>
          <p:cNvPr name="AutoShape 33" id="33"/>
          <p:cNvSpPr/>
          <p:nvPr/>
        </p:nvSpPr>
        <p:spPr>
          <a:xfrm rot="0">
            <a:off x="15125128" y="3222498"/>
            <a:ext cx="33528" cy="1357884"/>
          </a:xfrm>
          <a:prstGeom prst="rect">
            <a:avLst/>
          </a:prstGeom>
          <a:solidFill>
            <a:srgbClr val="173A45"/>
          </a:solidFill>
        </p:spPr>
      </p:sp>
      <p:grpSp>
        <p:nvGrpSpPr>
          <p:cNvPr name="Group 34" id="34"/>
          <p:cNvGrpSpPr/>
          <p:nvPr/>
        </p:nvGrpSpPr>
        <p:grpSpPr>
          <a:xfrm rot="0">
            <a:off x="13195935" y="3187922"/>
            <a:ext cx="167640" cy="393954"/>
            <a:chOff x="0" y="0"/>
            <a:chExt cx="223520" cy="525272"/>
          </a:xfrm>
        </p:grpSpPr>
        <p:sp>
          <p:nvSpPr>
            <p:cNvPr name="Freeform 35" id="35"/>
            <p:cNvSpPr/>
            <p:nvPr/>
          </p:nvSpPr>
          <p:spPr>
            <a:xfrm flipH="false" flipV="false" rot="0">
              <a:off x="0" y="0"/>
              <a:ext cx="223520" cy="525272"/>
            </a:xfrm>
            <a:custGeom>
              <a:avLst/>
              <a:gdLst/>
              <a:ahLst/>
              <a:cxnLst/>
              <a:rect r="r" b="b" t="t" l="l"/>
              <a:pathLst>
                <a:path h="525272" w="223520">
                  <a:moveTo>
                    <a:pt x="75565" y="0"/>
                  </a:moveTo>
                  <a:lnTo>
                    <a:pt x="147955" y="0"/>
                  </a:lnTo>
                  <a:cubicBezTo>
                    <a:pt x="189738" y="0"/>
                    <a:pt x="223520" y="33782"/>
                    <a:pt x="223520" y="75565"/>
                  </a:cubicBezTo>
                  <a:lnTo>
                    <a:pt x="223520" y="449707"/>
                  </a:lnTo>
                  <a:cubicBezTo>
                    <a:pt x="223520" y="491490"/>
                    <a:pt x="189738" y="525272"/>
                    <a:pt x="147955" y="525272"/>
                  </a:cubicBezTo>
                  <a:lnTo>
                    <a:pt x="75565" y="525272"/>
                  </a:lnTo>
                  <a:cubicBezTo>
                    <a:pt x="33782" y="525272"/>
                    <a:pt x="0" y="491490"/>
                    <a:pt x="0" y="449707"/>
                  </a:cubicBezTo>
                  <a:lnTo>
                    <a:pt x="0" y="75565"/>
                  </a:lnTo>
                  <a:cubicBezTo>
                    <a:pt x="0" y="33782"/>
                    <a:pt x="33782" y="0"/>
                    <a:pt x="75565" y="0"/>
                  </a:cubicBezTo>
                  <a:close/>
                </a:path>
              </a:pathLst>
            </a:custGeom>
            <a:solidFill>
              <a:srgbClr val="173A45"/>
            </a:solidFill>
          </p:spPr>
        </p:sp>
      </p:grpSp>
      <p:grpSp>
        <p:nvGrpSpPr>
          <p:cNvPr name="Group 36" id="36"/>
          <p:cNvGrpSpPr/>
          <p:nvPr/>
        </p:nvGrpSpPr>
        <p:grpSpPr>
          <a:xfrm rot="0">
            <a:off x="15076456" y="3190018"/>
            <a:ext cx="125730" cy="603504"/>
            <a:chOff x="0" y="0"/>
            <a:chExt cx="167640" cy="804672"/>
          </a:xfrm>
        </p:grpSpPr>
        <p:sp>
          <p:nvSpPr>
            <p:cNvPr name="Freeform 37" id="37"/>
            <p:cNvSpPr/>
            <p:nvPr/>
          </p:nvSpPr>
          <p:spPr>
            <a:xfrm flipH="false" flipV="false" rot="0">
              <a:off x="0" y="0"/>
              <a:ext cx="167640" cy="804672"/>
            </a:xfrm>
            <a:custGeom>
              <a:avLst/>
              <a:gdLst/>
              <a:ahLst/>
              <a:cxnLst/>
              <a:rect r="r" b="b" t="t" l="l"/>
              <a:pathLst>
                <a:path h="804672" w="167640">
                  <a:moveTo>
                    <a:pt x="75565" y="0"/>
                  </a:moveTo>
                  <a:lnTo>
                    <a:pt x="92075" y="0"/>
                  </a:lnTo>
                  <a:cubicBezTo>
                    <a:pt x="133858" y="0"/>
                    <a:pt x="167640" y="33782"/>
                    <a:pt x="167640" y="75565"/>
                  </a:cubicBezTo>
                  <a:lnTo>
                    <a:pt x="167640" y="729107"/>
                  </a:lnTo>
                  <a:cubicBezTo>
                    <a:pt x="167640" y="770890"/>
                    <a:pt x="133858" y="804672"/>
                    <a:pt x="92075" y="804672"/>
                  </a:cubicBezTo>
                  <a:lnTo>
                    <a:pt x="75565" y="804672"/>
                  </a:lnTo>
                  <a:cubicBezTo>
                    <a:pt x="33782" y="804672"/>
                    <a:pt x="0" y="770890"/>
                    <a:pt x="0" y="729107"/>
                  </a:cubicBezTo>
                  <a:lnTo>
                    <a:pt x="0" y="75565"/>
                  </a:lnTo>
                  <a:cubicBezTo>
                    <a:pt x="0" y="33782"/>
                    <a:pt x="33782" y="0"/>
                    <a:pt x="75565" y="0"/>
                  </a:cubicBezTo>
                  <a:close/>
                </a:path>
              </a:pathLst>
            </a:custGeom>
            <a:solidFill>
              <a:srgbClr val="173A45"/>
            </a:solidFill>
          </p:spPr>
        </p:sp>
      </p:grpSp>
      <p:sp>
        <p:nvSpPr>
          <p:cNvPr name="TextBox 38" id="38"/>
          <p:cNvSpPr txBox="true"/>
          <p:nvPr/>
        </p:nvSpPr>
        <p:spPr>
          <a:xfrm rot="0">
            <a:off x="4699635" y="3675602"/>
            <a:ext cx="226314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TextBox 39" id="39"/>
          <p:cNvSpPr txBox="true"/>
          <p:nvPr/>
        </p:nvSpPr>
        <p:spPr>
          <a:xfrm rot="0">
            <a:off x="10650855" y="3675602"/>
            <a:ext cx="192786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TextBox 40" id="40"/>
          <p:cNvSpPr txBox="true"/>
          <p:nvPr/>
        </p:nvSpPr>
        <p:spPr>
          <a:xfrm rot="0">
            <a:off x="1933575" y="5960078"/>
            <a:ext cx="3520440" cy="541020"/>
          </a:xfrm>
          <a:prstGeom prst="rect">
            <a:avLst/>
          </a:prstGeom>
        </p:spPr>
        <p:txBody>
          <a:bodyPr anchor="t" rtlCol="false" tIns="0" lIns="0" bIns="0" rIns="0">
            <a:spAutoFit/>
          </a:bodyPr>
          <a:lstStyle/>
          <a:p>
            <a:pPr algn="ctr">
              <a:lnSpc>
                <a:spcPts val="3979"/>
              </a:lnSpc>
            </a:pPr>
            <a:r>
              <a:rPr lang="en-US" b="true" sz="2970">
                <a:solidFill>
                  <a:srgbClr val="173A45"/>
                </a:solidFill>
                <a:latin typeface="Sarabun Semi-Bold"/>
                <a:ea typeface="Sarabun Semi-Bold"/>
                <a:cs typeface="Sarabun Semi-Bold"/>
                <a:sym typeface="Sarabun Semi-Bold"/>
              </a:rPr>
              <a:t>ขอคิดบิล</a:t>
            </a:r>
          </a:p>
        </p:txBody>
      </p:sp>
      <p:sp>
        <p:nvSpPr>
          <p:cNvPr name="TextBox 41" id="41"/>
          <p:cNvSpPr txBox="true"/>
          <p:nvPr/>
        </p:nvSpPr>
        <p:spPr>
          <a:xfrm rot="0">
            <a:off x="7339965" y="5950934"/>
            <a:ext cx="3520440" cy="718185"/>
          </a:xfrm>
          <a:prstGeom prst="rect">
            <a:avLst/>
          </a:prstGeom>
        </p:spPr>
        <p:txBody>
          <a:bodyPr anchor="t" rtlCol="false" tIns="0" lIns="0" bIns="0" rIns="0">
            <a:spAutoFit/>
          </a:bodyPr>
          <a:lstStyle/>
          <a:p>
            <a:pPr algn="ctr">
              <a:lnSpc>
                <a:spcPts val="5306"/>
              </a:lnSpc>
            </a:pPr>
            <a:r>
              <a:rPr lang="en-US" b="true" sz="3959">
                <a:solidFill>
                  <a:srgbClr val="28766D"/>
                </a:solidFill>
                <a:latin typeface="Sarabun Bold"/>
                <a:ea typeface="Sarabun Bold"/>
                <a:cs typeface="Sarabun Bold"/>
                <a:sym typeface="Sarabun Bold"/>
              </a:rPr>
              <a:t>PAID</a:t>
            </a:r>
          </a:p>
        </p:txBody>
      </p:sp>
      <p:sp>
        <p:nvSpPr>
          <p:cNvPr name="TextBox 42" id="42"/>
          <p:cNvSpPr txBox="true"/>
          <p:nvPr/>
        </p:nvSpPr>
        <p:spPr>
          <a:xfrm rot="0">
            <a:off x="12452985" y="5960078"/>
            <a:ext cx="3520440" cy="541020"/>
          </a:xfrm>
          <a:prstGeom prst="rect">
            <a:avLst/>
          </a:prstGeom>
        </p:spPr>
        <p:txBody>
          <a:bodyPr anchor="t" rtlCol="false" tIns="0" lIns="0" bIns="0" rIns="0">
            <a:spAutoFit/>
          </a:bodyPr>
          <a:lstStyle/>
          <a:p>
            <a:pPr algn="ctr">
              <a:lnSpc>
                <a:spcPts val="3979"/>
              </a:lnSpc>
            </a:pPr>
            <a:r>
              <a:rPr lang="en-US" b="true" sz="2970">
                <a:solidFill>
                  <a:srgbClr val="173A45"/>
                </a:solidFill>
                <a:latin typeface="Sarabun Semi-Bold"/>
                <a:ea typeface="Sarabun Semi-Bold"/>
                <a:cs typeface="Sarabun Semi-Bold"/>
                <a:sym typeface="Sarabun Semi-Bold"/>
              </a:rPr>
              <a:t>ปิดรอบ</a:t>
            </a:r>
          </a:p>
        </p:txBody>
      </p:sp>
      <p:grpSp>
        <p:nvGrpSpPr>
          <p:cNvPr name="Group 43" id="43"/>
          <p:cNvGrpSpPr/>
          <p:nvPr/>
        </p:nvGrpSpPr>
        <p:grpSpPr>
          <a:xfrm rot="0">
            <a:off x="2604135" y="7128510"/>
            <a:ext cx="2095500" cy="502920"/>
            <a:chOff x="0" y="0"/>
            <a:chExt cx="2794000" cy="670560"/>
          </a:xfrm>
        </p:grpSpPr>
        <p:sp>
          <p:nvSpPr>
            <p:cNvPr name="Freeform 44" id="44"/>
            <p:cNvSpPr/>
            <p:nvPr/>
          </p:nvSpPr>
          <p:spPr>
            <a:xfrm flipH="false" flipV="false" rot="0">
              <a:off x="0" y="0"/>
              <a:ext cx="2794000" cy="670560"/>
            </a:xfrm>
            <a:custGeom>
              <a:avLst/>
              <a:gdLst/>
              <a:ahLst/>
              <a:cxnLst/>
              <a:rect r="r" b="b" t="t" l="l"/>
              <a:pathLst>
                <a:path h="670560" w="2794000">
                  <a:moveTo>
                    <a:pt x="335280" y="0"/>
                  </a:moveTo>
                  <a:lnTo>
                    <a:pt x="2458720" y="0"/>
                  </a:lnTo>
                  <a:cubicBezTo>
                    <a:pt x="2643886" y="0"/>
                    <a:pt x="2794000" y="150114"/>
                    <a:pt x="2794000" y="335280"/>
                  </a:cubicBezTo>
                  <a:cubicBezTo>
                    <a:pt x="2794000" y="520446"/>
                    <a:pt x="2643886" y="670560"/>
                    <a:pt x="245872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45" id="45"/>
          <p:cNvSpPr txBox="true"/>
          <p:nvPr/>
        </p:nvSpPr>
        <p:spPr>
          <a:xfrm rot="0">
            <a:off x="2704719" y="7185660"/>
            <a:ext cx="189433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Customer</a:t>
            </a:r>
          </a:p>
        </p:txBody>
      </p:sp>
      <p:grpSp>
        <p:nvGrpSpPr>
          <p:cNvPr name="Group 46" id="46"/>
          <p:cNvGrpSpPr/>
          <p:nvPr/>
        </p:nvGrpSpPr>
        <p:grpSpPr>
          <a:xfrm rot="0">
            <a:off x="7800975" y="7128510"/>
            <a:ext cx="2766060" cy="502920"/>
            <a:chOff x="0" y="0"/>
            <a:chExt cx="3688080" cy="670560"/>
          </a:xfrm>
        </p:grpSpPr>
        <p:sp>
          <p:nvSpPr>
            <p:cNvPr name="Freeform 47" id="47"/>
            <p:cNvSpPr/>
            <p:nvPr/>
          </p:nvSpPr>
          <p:spPr>
            <a:xfrm flipH="false" flipV="false" rot="0">
              <a:off x="0" y="0"/>
              <a:ext cx="3688080" cy="670560"/>
            </a:xfrm>
            <a:custGeom>
              <a:avLst/>
              <a:gdLst/>
              <a:ahLst/>
              <a:cxnLst/>
              <a:rect r="r" b="b" t="t" l="l"/>
              <a:pathLst>
                <a:path h="670560" w="3688080">
                  <a:moveTo>
                    <a:pt x="335280" y="0"/>
                  </a:moveTo>
                  <a:lnTo>
                    <a:pt x="3352800" y="0"/>
                  </a:lnTo>
                  <a:cubicBezTo>
                    <a:pt x="3537966" y="0"/>
                    <a:pt x="3688080" y="150114"/>
                    <a:pt x="3688080" y="335280"/>
                  </a:cubicBezTo>
                  <a:cubicBezTo>
                    <a:pt x="3688080" y="520446"/>
                    <a:pt x="3537966" y="670560"/>
                    <a:pt x="335280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48" id="48"/>
          <p:cNvSpPr txBox="true"/>
          <p:nvPr/>
        </p:nvSpPr>
        <p:spPr>
          <a:xfrm rot="0">
            <a:off x="7901559" y="7185660"/>
            <a:ext cx="256489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Service Staff</a:t>
            </a:r>
          </a:p>
        </p:txBody>
      </p:sp>
      <p:grpSp>
        <p:nvGrpSpPr>
          <p:cNvPr name="Group 49" id="49"/>
          <p:cNvGrpSpPr/>
          <p:nvPr/>
        </p:nvGrpSpPr>
        <p:grpSpPr>
          <a:xfrm rot="0">
            <a:off x="12997815" y="7128510"/>
            <a:ext cx="2514600" cy="502920"/>
            <a:chOff x="0" y="0"/>
            <a:chExt cx="3352800" cy="670560"/>
          </a:xfrm>
        </p:grpSpPr>
        <p:sp>
          <p:nvSpPr>
            <p:cNvPr name="Freeform 50" id="50"/>
            <p:cNvSpPr/>
            <p:nvPr/>
          </p:nvSpPr>
          <p:spPr>
            <a:xfrm flipH="false" flipV="false" rot="0">
              <a:off x="0" y="0"/>
              <a:ext cx="3352800" cy="670560"/>
            </a:xfrm>
            <a:custGeom>
              <a:avLst/>
              <a:gdLst/>
              <a:ahLst/>
              <a:cxnLst/>
              <a:rect r="r" b="b" t="t" l="l"/>
              <a:pathLst>
                <a:path h="670560" w="3352800">
                  <a:moveTo>
                    <a:pt x="335280" y="0"/>
                  </a:moveTo>
                  <a:lnTo>
                    <a:pt x="3017520" y="0"/>
                  </a:lnTo>
                  <a:cubicBezTo>
                    <a:pt x="3202686" y="0"/>
                    <a:pt x="3352800" y="150114"/>
                    <a:pt x="3352800" y="335280"/>
                  </a:cubicBezTo>
                  <a:cubicBezTo>
                    <a:pt x="3352800" y="520446"/>
                    <a:pt x="3202686" y="670560"/>
                    <a:pt x="301752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51" id="51"/>
          <p:cNvSpPr txBox="true"/>
          <p:nvPr/>
        </p:nvSpPr>
        <p:spPr>
          <a:xfrm rot="0">
            <a:off x="13098399" y="7185660"/>
            <a:ext cx="231343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AVAILABLE</a:t>
            </a:r>
          </a:p>
        </p:txBody>
      </p:sp>
      <p:sp>
        <p:nvSpPr>
          <p:cNvPr name="TextBox 52" id="52"/>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PAID ยืนยันการรับชำระ ส่วนการปิดรอบเป็นอีกคำสั่งหนึ่ง พนักงานปิดรอบหลังชำระแล้ว เพื่อคืนโต๊ะ AVAILABLE และยกเลิกสิทธิ์ลูกค้า</a:t>
            </a:r>
          </a:p>
        </p:txBody>
      </p:sp>
      <p:sp>
        <p:nvSpPr>
          <p:cNvPr name="TextBox 53" id="53"/>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teeramet_673380273-9_02</a:t>
            </a:r>
          </a:p>
        </p:txBody>
      </p:sp>
      <p:sp>
        <p:nvSpPr>
          <p:cNvPr name="TextBox 54" id="54"/>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Q&amp;A · 21/24</a:t>
            </a: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Activity · ลูกค้าสั่งและติดตาม</a:t>
            </a:r>
          </a:p>
        </p:txBody>
      </p:sp>
      <p:grpSp>
        <p:nvGrpSpPr>
          <p:cNvPr name="Group 5" id="5"/>
          <p:cNvGrpSpPr/>
          <p:nvPr/>
        </p:nvGrpSpPr>
        <p:grpSpPr>
          <a:xfrm rot="0">
            <a:off x="2268855" y="2434590"/>
            <a:ext cx="3939540" cy="880110"/>
            <a:chOff x="0" y="0"/>
            <a:chExt cx="5252720" cy="1173480"/>
          </a:xfrm>
        </p:grpSpPr>
        <p:sp>
          <p:nvSpPr>
            <p:cNvPr name="Freeform 6" id="6"/>
            <p:cNvSpPr/>
            <p:nvPr/>
          </p:nvSpPr>
          <p:spPr>
            <a:xfrm flipH="false" flipV="false" rot="0">
              <a:off x="0" y="0"/>
              <a:ext cx="5252720" cy="1173480"/>
            </a:xfrm>
            <a:custGeom>
              <a:avLst/>
              <a:gdLst/>
              <a:ahLst/>
              <a:cxnLst/>
              <a:rect r="r" b="b" t="t" l="l"/>
              <a:pathLst>
                <a:path h="1173480" w="5252720">
                  <a:moveTo>
                    <a:pt x="228600" y="0"/>
                  </a:moveTo>
                  <a:lnTo>
                    <a:pt x="5024120" y="0"/>
                  </a:lnTo>
                  <a:cubicBezTo>
                    <a:pt x="5150358" y="0"/>
                    <a:pt x="5252720" y="102362"/>
                    <a:pt x="5252720" y="228600"/>
                  </a:cubicBezTo>
                  <a:lnTo>
                    <a:pt x="5252720" y="944880"/>
                  </a:lnTo>
                  <a:cubicBezTo>
                    <a:pt x="5252720" y="1071118"/>
                    <a:pt x="5150358" y="1173480"/>
                    <a:pt x="502412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F1E3CB"/>
            </a:solidFill>
          </p:spPr>
        </p:sp>
      </p:grpSp>
      <p:sp>
        <p:nvSpPr>
          <p:cNvPr name="TextBox 7" id="7"/>
          <p:cNvSpPr txBox="true"/>
          <p:nvPr/>
        </p:nvSpPr>
        <p:spPr>
          <a:xfrm rot="0">
            <a:off x="2419731" y="2644807"/>
            <a:ext cx="363778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แลก QR</a:t>
            </a:r>
          </a:p>
        </p:txBody>
      </p:sp>
      <p:sp>
        <p:nvSpPr>
          <p:cNvPr name="TextBox 8" id="8"/>
          <p:cNvSpPr txBox="true"/>
          <p:nvPr/>
        </p:nvSpPr>
        <p:spPr>
          <a:xfrm rot="0">
            <a:off x="6417945" y="2418302"/>
            <a:ext cx="108966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grpSp>
        <p:nvGrpSpPr>
          <p:cNvPr name="Group 9" id="9"/>
          <p:cNvGrpSpPr/>
          <p:nvPr/>
        </p:nvGrpSpPr>
        <p:grpSpPr>
          <a:xfrm rot="0">
            <a:off x="7717155" y="2434590"/>
            <a:ext cx="3939540" cy="880110"/>
            <a:chOff x="0" y="0"/>
            <a:chExt cx="5252720" cy="1173480"/>
          </a:xfrm>
        </p:grpSpPr>
        <p:sp>
          <p:nvSpPr>
            <p:cNvPr name="Freeform 10" id="10"/>
            <p:cNvSpPr/>
            <p:nvPr/>
          </p:nvSpPr>
          <p:spPr>
            <a:xfrm flipH="false" flipV="false" rot="0">
              <a:off x="0" y="0"/>
              <a:ext cx="5252720" cy="1173480"/>
            </a:xfrm>
            <a:custGeom>
              <a:avLst/>
              <a:gdLst/>
              <a:ahLst/>
              <a:cxnLst/>
              <a:rect r="r" b="b" t="t" l="l"/>
              <a:pathLst>
                <a:path h="1173480" w="5252720">
                  <a:moveTo>
                    <a:pt x="228600" y="0"/>
                  </a:moveTo>
                  <a:lnTo>
                    <a:pt x="5024120" y="0"/>
                  </a:lnTo>
                  <a:cubicBezTo>
                    <a:pt x="5150358" y="0"/>
                    <a:pt x="5252720" y="102362"/>
                    <a:pt x="5252720" y="228600"/>
                  </a:cubicBezTo>
                  <a:lnTo>
                    <a:pt x="5252720" y="944880"/>
                  </a:lnTo>
                  <a:cubicBezTo>
                    <a:pt x="5252720" y="1071118"/>
                    <a:pt x="5150358" y="1173480"/>
                    <a:pt x="502412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F1E3CB"/>
            </a:solidFill>
          </p:spPr>
        </p:sp>
      </p:grpSp>
      <p:sp>
        <p:nvSpPr>
          <p:cNvPr name="TextBox 11" id="11"/>
          <p:cNvSpPr txBox="true"/>
          <p:nvPr/>
        </p:nvSpPr>
        <p:spPr>
          <a:xfrm rot="0">
            <a:off x="7868031" y="2644807"/>
            <a:ext cx="363778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สั่งอาหาร</a:t>
            </a:r>
          </a:p>
        </p:txBody>
      </p:sp>
      <p:sp>
        <p:nvSpPr>
          <p:cNvPr name="TextBox 12" id="12"/>
          <p:cNvSpPr txBox="true"/>
          <p:nvPr/>
        </p:nvSpPr>
        <p:spPr>
          <a:xfrm rot="0">
            <a:off x="11866245" y="2418302"/>
            <a:ext cx="108966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grpSp>
        <p:nvGrpSpPr>
          <p:cNvPr name="Group 13" id="13"/>
          <p:cNvGrpSpPr/>
          <p:nvPr/>
        </p:nvGrpSpPr>
        <p:grpSpPr>
          <a:xfrm rot="0">
            <a:off x="13165455" y="2434590"/>
            <a:ext cx="2933700" cy="880110"/>
            <a:chOff x="0" y="0"/>
            <a:chExt cx="3911600" cy="1173480"/>
          </a:xfrm>
        </p:grpSpPr>
        <p:sp>
          <p:nvSpPr>
            <p:cNvPr name="Freeform 14" id="14"/>
            <p:cNvSpPr/>
            <p:nvPr/>
          </p:nvSpPr>
          <p:spPr>
            <a:xfrm flipH="false" flipV="false" rot="0">
              <a:off x="0" y="0"/>
              <a:ext cx="3911600" cy="1173480"/>
            </a:xfrm>
            <a:custGeom>
              <a:avLst/>
              <a:gdLst/>
              <a:ahLst/>
              <a:cxnLst/>
              <a:rect r="r" b="b" t="t" l="l"/>
              <a:pathLst>
                <a:path h="1173480" w="3911600">
                  <a:moveTo>
                    <a:pt x="228600" y="0"/>
                  </a:moveTo>
                  <a:lnTo>
                    <a:pt x="3683000" y="0"/>
                  </a:lnTo>
                  <a:cubicBezTo>
                    <a:pt x="3809238" y="0"/>
                    <a:pt x="3911600" y="102362"/>
                    <a:pt x="3911600" y="228600"/>
                  </a:cubicBezTo>
                  <a:lnTo>
                    <a:pt x="3911600" y="944880"/>
                  </a:lnTo>
                  <a:cubicBezTo>
                    <a:pt x="3911600" y="1071118"/>
                    <a:pt x="3809238" y="1173480"/>
                    <a:pt x="368300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DAEBE4"/>
            </a:solidFill>
          </p:spPr>
        </p:sp>
      </p:grpSp>
      <p:sp>
        <p:nvSpPr>
          <p:cNvPr name="TextBox 15" id="15"/>
          <p:cNvSpPr txBox="true"/>
          <p:nvPr/>
        </p:nvSpPr>
        <p:spPr>
          <a:xfrm rot="0">
            <a:off x="13316331" y="2644807"/>
            <a:ext cx="263194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RECEIVED</a:t>
            </a:r>
          </a:p>
        </p:txBody>
      </p:sp>
      <p:sp>
        <p:nvSpPr>
          <p:cNvPr name="TextBox 16" id="16"/>
          <p:cNvSpPr txBox="true"/>
          <p:nvPr/>
        </p:nvSpPr>
        <p:spPr>
          <a:xfrm rot="0">
            <a:off x="13961745" y="3549872"/>
            <a:ext cx="1341120" cy="778002"/>
          </a:xfrm>
          <a:prstGeom prst="rect">
            <a:avLst/>
          </a:prstGeom>
        </p:spPr>
        <p:txBody>
          <a:bodyPr anchor="t" rtlCol="false" tIns="0" lIns="0" bIns="0" rIns="0">
            <a:spAutoFit/>
          </a:bodyPr>
          <a:lstStyle/>
          <a:p>
            <a:pPr algn="ctr">
              <a:lnSpc>
                <a:spcPts val="5660"/>
              </a:lnSpc>
            </a:pPr>
            <a:r>
              <a:rPr lang="en-US" sz="4224">
                <a:solidFill>
                  <a:srgbClr val="28766D"/>
                </a:solidFill>
                <a:latin typeface="Sarabun"/>
                <a:ea typeface="Sarabun"/>
                <a:cs typeface="Sarabun"/>
                <a:sym typeface="Sarabun"/>
              </a:rPr>
              <a:t>↓</a:t>
            </a:r>
          </a:p>
        </p:txBody>
      </p:sp>
      <p:grpSp>
        <p:nvGrpSpPr>
          <p:cNvPr name="Group 17" id="17"/>
          <p:cNvGrpSpPr/>
          <p:nvPr/>
        </p:nvGrpSpPr>
        <p:grpSpPr>
          <a:xfrm rot="0">
            <a:off x="13165455" y="5326380"/>
            <a:ext cx="2933700" cy="880110"/>
            <a:chOff x="0" y="0"/>
            <a:chExt cx="3911600" cy="1173480"/>
          </a:xfrm>
        </p:grpSpPr>
        <p:sp>
          <p:nvSpPr>
            <p:cNvPr name="Freeform 18" id="18"/>
            <p:cNvSpPr/>
            <p:nvPr/>
          </p:nvSpPr>
          <p:spPr>
            <a:xfrm flipH="false" flipV="false" rot="0">
              <a:off x="0" y="0"/>
              <a:ext cx="3911600" cy="1173480"/>
            </a:xfrm>
            <a:custGeom>
              <a:avLst/>
              <a:gdLst/>
              <a:ahLst/>
              <a:cxnLst/>
              <a:rect r="r" b="b" t="t" l="l"/>
              <a:pathLst>
                <a:path h="1173480" w="3911600">
                  <a:moveTo>
                    <a:pt x="228600" y="0"/>
                  </a:moveTo>
                  <a:lnTo>
                    <a:pt x="3683000" y="0"/>
                  </a:lnTo>
                  <a:cubicBezTo>
                    <a:pt x="3809238" y="0"/>
                    <a:pt x="3911600" y="102362"/>
                    <a:pt x="3911600" y="228600"/>
                  </a:cubicBezTo>
                  <a:lnTo>
                    <a:pt x="3911600" y="944880"/>
                  </a:lnTo>
                  <a:cubicBezTo>
                    <a:pt x="3911600" y="1071118"/>
                    <a:pt x="3809238" y="1173480"/>
                    <a:pt x="368300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F1E3CB"/>
            </a:solidFill>
          </p:spPr>
        </p:sp>
      </p:grpSp>
      <p:sp>
        <p:nvSpPr>
          <p:cNvPr name="TextBox 19" id="19"/>
          <p:cNvSpPr txBox="true"/>
          <p:nvPr/>
        </p:nvSpPr>
        <p:spPr>
          <a:xfrm rot="0">
            <a:off x="13316331" y="5536597"/>
            <a:ext cx="263194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ติดตาม</a:t>
            </a:r>
          </a:p>
        </p:txBody>
      </p:sp>
      <p:sp>
        <p:nvSpPr>
          <p:cNvPr name="TextBox 20" id="20"/>
          <p:cNvSpPr txBox="true"/>
          <p:nvPr/>
        </p:nvSpPr>
        <p:spPr>
          <a:xfrm rot="0">
            <a:off x="11866245" y="5268182"/>
            <a:ext cx="108966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grpSp>
        <p:nvGrpSpPr>
          <p:cNvPr name="Group 21" id="21"/>
          <p:cNvGrpSpPr/>
          <p:nvPr/>
        </p:nvGrpSpPr>
        <p:grpSpPr>
          <a:xfrm rot="0">
            <a:off x="7717155" y="5326380"/>
            <a:ext cx="3939540" cy="880110"/>
            <a:chOff x="0" y="0"/>
            <a:chExt cx="5252720" cy="1173480"/>
          </a:xfrm>
        </p:grpSpPr>
        <p:sp>
          <p:nvSpPr>
            <p:cNvPr name="Freeform 22" id="22"/>
            <p:cNvSpPr/>
            <p:nvPr/>
          </p:nvSpPr>
          <p:spPr>
            <a:xfrm flipH="false" flipV="false" rot="0">
              <a:off x="0" y="0"/>
              <a:ext cx="5252720" cy="1173480"/>
            </a:xfrm>
            <a:custGeom>
              <a:avLst/>
              <a:gdLst/>
              <a:ahLst/>
              <a:cxnLst/>
              <a:rect r="r" b="b" t="t" l="l"/>
              <a:pathLst>
                <a:path h="1173480" w="5252720">
                  <a:moveTo>
                    <a:pt x="228600" y="0"/>
                  </a:moveTo>
                  <a:lnTo>
                    <a:pt x="5024120" y="0"/>
                  </a:lnTo>
                  <a:cubicBezTo>
                    <a:pt x="5150358" y="0"/>
                    <a:pt x="5252720" y="102362"/>
                    <a:pt x="5252720" y="228600"/>
                  </a:cubicBezTo>
                  <a:lnTo>
                    <a:pt x="5252720" y="944880"/>
                  </a:lnTo>
                  <a:cubicBezTo>
                    <a:pt x="5252720" y="1071118"/>
                    <a:pt x="5150358" y="1173480"/>
                    <a:pt x="502412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F1E3CB"/>
            </a:solidFill>
          </p:spPr>
        </p:sp>
      </p:grpSp>
      <p:sp>
        <p:nvSpPr>
          <p:cNvPr name="TextBox 23" id="23"/>
          <p:cNvSpPr txBox="true"/>
          <p:nvPr/>
        </p:nvSpPr>
        <p:spPr>
          <a:xfrm rot="0">
            <a:off x="7868031" y="5536597"/>
            <a:ext cx="363778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ขอคิดบิล</a:t>
            </a:r>
          </a:p>
        </p:txBody>
      </p:sp>
      <p:sp>
        <p:nvSpPr>
          <p:cNvPr name="TextBox 24" id="24"/>
          <p:cNvSpPr txBox="true"/>
          <p:nvPr/>
        </p:nvSpPr>
        <p:spPr>
          <a:xfrm rot="0">
            <a:off x="6417945" y="5268182"/>
            <a:ext cx="108966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grpSp>
        <p:nvGrpSpPr>
          <p:cNvPr name="Group 25" id="25"/>
          <p:cNvGrpSpPr/>
          <p:nvPr/>
        </p:nvGrpSpPr>
        <p:grpSpPr>
          <a:xfrm rot="0">
            <a:off x="2268855" y="5326380"/>
            <a:ext cx="3939540" cy="880110"/>
            <a:chOff x="0" y="0"/>
            <a:chExt cx="5252720" cy="1173480"/>
          </a:xfrm>
        </p:grpSpPr>
        <p:sp>
          <p:nvSpPr>
            <p:cNvPr name="Freeform 26" id="26"/>
            <p:cNvSpPr/>
            <p:nvPr/>
          </p:nvSpPr>
          <p:spPr>
            <a:xfrm flipH="false" flipV="false" rot="0">
              <a:off x="0" y="0"/>
              <a:ext cx="5252720" cy="1173480"/>
            </a:xfrm>
            <a:custGeom>
              <a:avLst/>
              <a:gdLst/>
              <a:ahLst/>
              <a:cxnLst/>
              <a:rect r="r" b="b" t="t" l="l"/>
              <a:pathLst>
                <a:path h="1173480" w="5252720">
                  <a:moveTo>
                    <a:pt x="228600" y="0"/>
                  </a:moveTo>
                  <a:lnTo>
                    <a:pt x="5024120" y="0"/>
                  </a:lnTo>
                  <a:cubicBezTo>
                    <a:pt x="5150358" y="0"/>
                    <a:pt x="5252720" y="102362"/>
                    <a:pt x="5252720" y="228600"/>
                  </a:cubicBezTo>
                  <a:lnTo>
                    <a:pt x="5252720" y="944880"/>
                  </a:lnTo>
                  <a:cubicBezTo>
                    <a:pt x="5252720" y="1071118"/>
                    <a:pt x="5150358" y="1173480"/>
                    <a:pt x="5024120" y="1173480"/>
                  </a:cubicBezTo>
                  <a:lnTo>
                    <a:pt x="228600" y="1173480"/>
                  </a:lnTo>
                  <a:cubicBezTo>
                    <a:pt x="102362" y="1173480"/>
                    <a:pt x="0" y="1071118"/>
                    <a:pt x="0" y="944880"/>
                  </a:cubicBezTo>
                  <a:lnTo>
                    <a:pt x="0" y="228600"/>
                  </a:lnTo>
                  <a:cubicBezTo>
                    <a:pt x="0" y="102362"/>
                    <a:pt x="102362" y="0"/>
                    <a:pt x="228600" y="0"/>
                  </a:cubicBezTo>
                  <a:close/>
                </a:path>
              </a:pathLst>
            </a:custGeom>
            <a:solidFill>
              <a:srgbClr val="F6DFD6"/>
            </a:solidFill>
          </p:spPr>
        </p:sp>
      </p:grpSp>
      <p:sp>
        <p:nvSpPr>
          <p:cNvPr name="TextBox 27" id="27"/>
          <p:cNvSpPr txBox="true"/>
          <p:nvPr/>
        </p:nvSpPr>
        <p:spPr>
          <a:xfrm rot="0">
            <a:off x="2419731" y="5540788"/>
            <a:ext cx="3637788" cy="422529"/>
          </a:xfrm>
          <a:prstGeom prst="rect">
            <a:avLst/>
          </a:prstGeom>
        </p:spPr>
        <p:txBody>
          <a:bodyPr anchor="t" rtlCol="false" tIns="0" lIns="0" bIns="0" rIns="0">
            <a:spAutoFit/>
          </a:bodyPr>
          <a:lstStyle/>
          <a:p>
            <a:pPr algn="ctr">
              <a:lnSpc>
                <a:spcPts val="3095"/>
              </a:lnSpc>
            </a:pPr>
            <a:r>
              <a:rPr lang="en-US" b="true" sz="2310">
                <a:solidFill>
                  <a:srgbClr val="173A45"/>
                </a:solidFill>
                <a:latin typeface="Sarabun Semi-Bold"/>
                <a:ea typeface="Sarabun Semi-Bold"/>
                <a:cs typeface="Sarabun Semi-Bold"/>
                <a:sym typeface="Sarabun Semi-Bold"/>
              </a:rPr>
              <a:t>ปิดรอบ · สิทธิ์สิ้นสุด</a:t>
            </a:r>
          </a:p>
        </p:txBody>
      </p:sp>
      <p:grpSp>
        <p:nvGrpSpPr>
          <p:cNvPr name="Group 28" id="28"/>
          <p:cNvGrpSpPr/>
          <p:nvPr/>
        </p:nvGrpSpPr>
        <p:grpSpPr>
          <a:xfrm rot="0">
            <a:off x="6627495" y="7505700"/>
            <a:ext cx="5029200" cy="502920"/>
            <a:chOff x="0" y="0"/>
            <a:chExt cx="6705600" cy="670560"/>
          </a:xfrm>
        </p:grpSpPr>
        <p:sp>
          <p:nvSpPr>
            <p:cNvPr name="Freeform 29" id="29"/>
            <p:cNvSpPr/>
            <p:nvPr/>
          </p:nvSpPr>
          <p:spPr>
            <a:xfrm flipH="false" flipV="false" rot="0">
              <a:off x="0" y="0"/>
              <a:ext cx="6705600" cy="670560"/>
            </a:xfrm>
            <a:custGeom>
              <a:avLst/>
              <a:gdLst/>
              <a:ahLst/>
              <a:cxnLst/>
              <a:rect r="r" b="b" t="t" l="l"/>
              <a:pathLst>
                <a:path h="670560" w="6705600">
                  <a:moveTo>
                    <a:pt x="335280" y="0"/>
                  </a:moveTo>
                  <a:lnTo>
                    <a:pt x="6370320" y="0"/>
                  </a:lnTo>
                  <a:cubicBezTo>
                    <a:pt x="6555486" y="0"/>
                    <a:pt x="6705600" y="150114"/>
                    <a:pt x="6705600" y="335280"/>
                  </a:cubicBezTo>
                  <a:cubicBezTo>
                    <a:pt x="6705600" y="520446"/>
                    <a:pt x="6555486" y="670560"/>
                    <a:pt x="637032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30" id="30"/>
          <p:cNvSpPr txBox="true"/>
          <p:nvPr/>
        </p:nvSpPr>
        <p:spPr>
          <a:xfrm rot="0">
            <a:off x="6728079" y="7562850"/>
            <a:ext cx="482803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Network / 5xx → Retry</a:t>
            </a:r>
          </a:p>
        </p:txBody>
      </p:sp>
      <p:sp>
        <p:nvSpPr>
          <p:cNvPr name="TextBox 31" id="31"/>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เมื่อขอคิดบิล ระบบหยุดรับออเดอร์เพิ่ม และเมื่อปิดรอบ สิทธิ์ลูกค้าสิ้นสุด หน้าเว็บแยกสิทธิ์หมดอายุออกจาก Network หรือ 5xx ที่ให้ลองใหม่ได้</a:t>
            </a:r>
          </a:p>
        </p:txBody>
      </p:sp>
      <p:sp>
        <p:nvSpPr>
          <p:cNvPr name="TextBox 32" id="32"/>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sirapat_673380293-3_01</a:t>
            </a:r>
          </a:p>
        </p:txBody>
      </p:sp>
      <p:sp>
        <p:nvSpPr>
          <p:cNvPr name="TextBox 33" id="33"/>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Q&amp;A · 22/24</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Deployment · API คุมการเข้าถึงข้อมูล</a:t>
            </a:r>
          </a:p>
        </p:txBody>
      </p:sp>
      <p:grpSp>
        <p:nvGrpSpPr>
          <p:cNvPr name="Group 5" id="5"/>
          <p:cNvGrpSpPr/>
          <p:nvPr/>
        </p:nvGrpSpPr>
        <p:grpSpPr>
          <a:xfrm rot="0">
            <a:off x="2310765" y="2811780"/>
            <a:ext cx="1139952" cy="1911096"/>
            <a:chOff x="0" y="0"/>
            <a:chExt cx="1519936" cy="2548128"/>
          </a:xfrm>
        </p:grpSpPr>
        <p:sp>
          <p:nvSpPr>
            <p:cNvPr name="Freeform 6" id="6"/>
            <p:cNvSpPr/>
            <p:nvPr/>
          </p:nvSpPr>
          <p:spPr>
            <a:xfrm flipH="false" flipV="false" rot="0">
              <a:off x="0" y="0"/>
              <a:ext cx="1519936" cy="2548128"/>
            </a:xfrm>
            <a:custGeom>
              <a:avLst/>
              <a:gdLst/>
              <a:ahLst/>
              <a:cxnLst/>
              <a:rect r="r" b="b" t="t" l="l"/>
              <a:pathLst>
                <a:path h="2548128" w="1519936">
                  <a:moveTo>
                    <a:pt x="243840" y="0"/>
                  </a:moveTo>
                  <a:lnTo>
                    <a:pt x="1276096" y="0"/>
                  </a:lnTo>
                  <a:cubicBezTo>
                    <a:pt x="1410716" y="0"/>
                    <a:pt x="1519936" y="109220"/>
                    <a:pt x="1519936" y="243840"/>
                  </a:cubicBezTo>
                  <a:lnTo>
                    <a:pt x="1519936" y="2304288"/>
                  </a:lnTo>
                  <a:cubicBezTo>
                    <a:pt x="1519936" y="2438908"/>
                    <a:pt x="1410716" y="2548128"/>
                    <a:pt x="1276096" y="2548128"/>
                  </a:cubicBezTo>
                  <a:lnTo>
                    <a:pt x="243840" y="2548128"/>
                  </a:lnTo>
                  <a:cubicBezTo>
                    <a:pt x="109220" y="2548128"/>
                    <a:pt x="0" y="2438908"/>
                    <a:pt x="0" y="2304288"/>
                  </a:cubicBezTo>
                  <a:lnTo>
                    <a:pt x="0" y="243840"/>
                  </a:lnTo>
                  <a:cubicBezTo>
                    <a:pt x="0" y="109220"/>
                    <a:pt x="109220" y="0"/>
                    <a:pt x="243840" y="0"/>
                  </a:cubicBezTo>
                  <a:close/>
                </a:path>
              </a:pathLst>
            </a:custGeom>
            <a:solidFill>
              <a:srgbClr val="173A45"/>
            </a:solidFill>
          </p:spPr>
        </p:sp>
      </p:grpSp>
      <p:grpSp>
        <p:nvGrpSpPr>
          <p:cNvPr name="Group 7" id="7"/>
          <p:cNvGrpSpPr/>
          <p:nvPr/>
        </p:nvGrpSpPr>
        <p:grpSpPr>
          <a:xfrm rot="0">
            <a:off x="2398681" y="2979420"/>
            <a:ext cx="963930" cy="1542288"/>
            <a:chOff x="0" y="0"/>
            <a:chExt cx="1285240" cy="2056384"/>
          </a:xfrm>
        </p:grpSpPr>
        <p:sp>
          <p:nvSpPr>
            <p:cNvPr name="Freeform 8" id="8"/>
            <p:cNvSpPr/>
            <p:nvPr/>
          </p:nvSpPr>
          <p:spPr>
            <a:xfrm flipH="false" flipV="false" rot="0">
              <a:off x="0" y="0"/>
              <a:ext cx="1285240" cy="2056384"/>
            </a:xfrm>
            <a:custGeom>
              <a:avLst/>
              <a:gdLst/>
              <a:ahLst/>
              <a:cxnLst/>
              <a:rect r="r" b="b" t="t" l="l"/>
              <a:pathLst>
                <a:path h="2056384" w="1285240">
                  <a:moveTo>
                    <a:pt x="81280" y="0"/>
                  </a:moveTo>
                  <a:lnTo>
                    <a:pt x="1203960" y="0"/>
                  </a:lnTo>
                  <a:cubicBezTo>
                    <a:pt x="1248791" y="0"/>
                    <a:pt x="1285240" y="36449"/>
                    <a:pt x="1285240" y="81280"/>
                  </a:cubicBezTo>
                  <a:lnTo>
                    <a:pt x="1285240" y="1975104"/>
                  </a:lnTo>
                  <a:cubicBezTo>
                    <a:pt x="1285240" y="2019935"/>
                    <a:pt x="1248791" y="2056384"/>
                    <a:pt x="1203960" y="2056384"/>
                  </a:cubicBezTo>
                  <a:lnTo>
                    <a:pt x="81280" y="2056384"/>
                  </a:lnTo>
                  <a:cubicBezTo>
                    <a:pt x="36449" y="2056384"/>
                    <a:pt x="0" y="2019935"/>
                    <a:pt x="0" y="1975104"/>
                  </a:cubicBezTo>
                  <a:lnTo>
                    <a:pt x="0" y="81280"/>
                  </a:lnTo>
                  <a:cubicBezTo>
                    <a:pt x="0" y="36449"/>
                    <a:pt x="36449" y="0"/>
                    <a:pt x="81280" y="0"/>
                  </a:cubicBezTo>
                  <a:close/>
                </a:path>
              </a:pathLst>
            </a:custGeom>
            <a:solidFill>
              <a:srgbClr val="FFFFFF"/>
            </a:solidFill>
          </p:spPr>
        </p:sp>
      </p:grpSp>
      <p:grpSp>
        <p:nvGrpSpPr>
          <p:cNvPr name="Group 9" id="9"/>
          <p:cNvGrpSpPr/>
          <p:nvPr/>
        </p:nvGrpSpPr>
        <p:grpSpPr>
          <a:xfrm rot="0">
            <a:off x="2738152" y="2878836"/>
            <a:ext cx="284988" cy="33528"/>
            <a:chOff x="0" y="0"/>
            <a:chExt cx="379984" cy="44704"/>
          </a:xfrm>
        </p:grpSpPr>
        <p:sp>
          <p:nvSpPr>
            <p:cNvPr name="Freeform 10" id="10"/>
            <p:cNvSpPr/>
            <p:nvPr/>
          </p:nvSpPr>
          <p:spPr>
            <a:xfrm flipH="false" flipV="false" rot="0">
              <a:off x="0" y="0"/>
              <a:ext cx="379984" cy="44704"/>
            </a:xfrm>
            <a:custGeom>
              <a:avLst/>
              <a:gdLst/>
              <a:ahLst/>
              <a:cxnLst/>
              <a:rect r="r" b="b" t="t" l="l"/>
              <a:pathLst>
                <a:path h="44704" w="379984">
                  <a:moveTo>
                    <a:pt x="20320" y="0"/>
                  </a:moveTo>
                  <a:lnTo>
                    <a:pt x="359664" y="0"/>
                  </a:lnTo>
                  <a:cubicBezTo>
                    <a:pt x="370840" y="0"/>
                    <a:pt x="379984" y="9144"/>
                    <a:pt x="379984" y="20320"/>
                  </a:cubicBezTo>
                  <a:lnTo>
                    <a:pt x="379984" y="24384"/>
                  </a:lnTo>
                  <a:cubicBezTo>
                    <a:pt x="379984" y="35560"/>
                    <a:pt x="370840" y="44704"/>
                    <a:pt x="359664" y="44704"/>
                  </a:cubicBezTo>
                  <a:lnTo>
                    <a:pt x="20320" y="44704"/>
                  </a:lnTo>
                  <a:cubicBezTo>
                    <a:pt x="9144" y="44704"/>
                    <a:pt x="0" y="35560"/>
                    <a:pt x="0" y="24384"/>
                  </a:cubicBezTo>
                  <a:lnTo>
                    <a:pt x="0" y="20320"/>
                  </a:lnTo>
                  <a:cubicBezTo>
                    <a:pt x="0" y="9144"/>
                    <a:pt x="9144" y="0"/>
                    <a:pt x="20320" y="0"/>
                  </a:cubicBezTo>
                  <a:close/>
                </a:path>
              </a:pathLst>
            </a:custGeom>
            <a:solidFill>
              <a:srgbClr val="FFFFFF"/>
            </a:solidFill>
          </p:spPr>
        </p:sp>
      </p:grpSp>
      <p:grpSp>
        <p:nvGrpSpPr>
          <p:cNvPr name="Group 11" id="11"/>
          <p:cNvGrpSpPr/>
          <p:nvPr/>
        </p:nvGrpSpPr>
        <p:grpSpPr>
          <a:xfrm rot="0">
            <a:off x="2826163" y="4581144"/>
            <a:ext cx="108966" cy="108966"/>
            <a:chOff x="0" y="0"/>
            <a:chExt cx="145288" cy="145288"/>
          </a:xfrm>
        </p:grpSpPr>
        <p:sp>
          <p:nvSpPr>
            <p:cNvPr name="Freeform 12" id="12"/>
            <p:cNvSpPr/>
            <p:nvPr/>
          </p:nvSpPr>
          <p:spPr>
            <a:xfrm flipH="false" flipV="false" rot="0">
              <a:off x="0" y="0"/>
              <a:ext cx="145288" cy="145288"/>
            </a:xfrm>
            <a:custGeom>
              <a:avLst/>
              <a:gdLst/>
              <a:ahLst/>
              <a:cxnLst/>
              <a:rect r="r" b="b" t="t" l="l"/>
              <a:pathLst>
                <a:path h="145288" w="145288">
                  <a:moveTo>
                    <a:pt x="72644" y="0"/>
                  </a:moveTo>
                  <a:cubicBezTo>
                    <a:pt x="112776" y="0"/>
                    <a:pt x="145288" y="32512"/>
                    <a:pt x="145288" y="72644"/>
                  </a:cubicBezTo>
                  <a:cubicBezTo>
                    <a:pt x="145288" y="112776"/>
                    <a:pt x="112776" y="145288"/>
                    <a:pt x="72644" y="145288"/>
                  </a:cubicBezTo>
                  <a:cubicBezTo>
                    <a:pt x="32512" y="145288"/>
                    <a:pt x="0" y="112776"/>
                    <a:pt x="0" y="72644"/>
                  </a:cubicBezTo>
                  <a:cubicBezTo>
                    <a:pt x="0" y="32512"/>
                    <a:pt x="32512" y="0"/>
                    <a:pt x="72644" y="0"/>
                  </a:cubicBezTo>
                  <a:close/>
                </a:path>
              </a:pathLst>
            </a:custGeom>
            <a:solidFill>
              <a:srgbClr val="FFFFFF"/>
            </a:solidFill>
          </p:spPr>
        </p:sp>
      </p:grpSp>
      <p:sp>
        <p:nvSpPr>
          <p:cNvPr name="AutoShape 13" id="13"/>
          <p:cNvSpPr/>
          <p:nvPr/>
        </p:nvSpPr>
        <p:spPr>
          <a:xfrm rot="0">
            <a:off x="2545461" y="3294507"/>
            <a:ext cx="234696" cy="234696"/>
          </a:xfrm>
          <a:prstGeom prst="rect">
            <a:avLst/>
          </a:prstGeom>
          <a:solidFill>
            <a:srgbClr val="173A45"/>
          </a:solidFill>
        </p:spPr>
      </p:sp>
      <p:sp>
        <p:nvSpPr>
          <p:cNvPr name="AutoShape 14" id="14"/>
          <p:cNvSpPr/>
          <p:nvPr/>
        </p:nvSpPr>
        <p:spPr>
          <a:xfrm rot="0">
            <a:off x="2947797" y="3294507"/>
            <a:ext cx="234696" cy="234696"/>
          </a:xfrm>
          <a:prstGeom prst="rect">
            <a:avLst/>
          </a:prstGeom>
          <a:solidFill>
            <a:srgbClr val="173A45"/>
          </a:solidFill>
        </p:spPr>
      </p:sp>
      <p:sp>
        <p:nvSpPr>
          <p:cNvPr name="AutoShape 15" id="15"/>
          <p:cNvSpPr/>
          <p:nvPr/>
        </p:nvSpPr>
        <p:spPr>
          <a:xfrm rot="0">
            <a:off x="2545461" y="3696843"/>
            <a:ext cx="234696" cy="234696"/>
          </a:xfrm>
          <a:prstGeom prst="rect">
            <a:avLst/>
          </a:prstGeom>
          <a:solidFill>
            <a:srgbClr val="173A45"/>
          </a:solidFill>
        </p:spPr>
      </p:sp>
      <p:sp>
        <p:nvSpPr>
          <p:cNvPr name="AutoShape 16" id="16"/>
          <p:cNvSpPr/>
          <p:nvPr/>
        </p:nvSpPr>
        <p:spPr>
          <a:xfrm rot="0">
            <a:off x="2946940" y="3695986"/>
            <a:ext cx="108966" cy="108966"/>
          </a:xfrm>
          <a:prstGeom prst="rect">
            <a:avLst/>
          </a:prstGeom>
          <a:solidFill>
            <a:srgbClr val="173A45"/>
          </a:solidFill>
        </p:spPr>
      </p:sp>
      <p:sp>
        <p:nvSpPr>
          <p:cNvPr name="AutoShape 17" id="17"/>
          <p:cNvSpPr/>
          <p:nvPr/>
        </p:nvSpPr>
        <p:spPr>
          <a:xfrm rot="0">
            <a:off x="3066669" y="3822573"/>
            <a:ext cx="117348" cy="117348"/>
          </a:xfrm>
          <a:prstGeom prst="rect">
            <a:avLst/>
          </a:prstGeom>
          <a:solidFill>
            <a:srgbClr val="173A45"/>
          </a:solidFill>
        </p:spPr>
      </p:sp>
      <p:sp>
        <p:nvSpPr>
          <p:cNvPr name="AutoShape 18" id="18"/>
          <p:cNvSpPr/>
          <p:nvPr/>
        </p:nvSpPr>
        <p:spPr>
          <a:xfrm rot="0">
            <a:off x="2827782" y="3570256"/>
            <a:ext cx="92202" cy="92202"/>
          </a:xfrm>
          <a:prstGeom prst="rect">
            <a:avLst/>
          </a:prstGeom>
          <a:solidFill>
            <a:srgbClr val="173A45"/>
          </a:solidFill>
        </p:spPr>
      </p:sp>
      <p:grpSp>
        <p:nvGrpSpPr>
          <p:cNvPr name="Group 19" id="19"/>
          <p:cNvGrpSpPr/>
          <p:nvPr/>
        </p:nvGrpSpPr>
        <p:grpSpPr>
          <a:xfrm rot="0">
            <a:off x="5034915" y="3398520"/>
            <a:ext cx="3939540" cy="1089660"/>
            <a:chOff x="0" y="0"/>
            <a:chExt cx="5252720" cy="1452880"/>
          </a:xfrm>
        </p:grpSpPr>
        <p:sp>
          <p:nvSpPr>
            <p:cNvPr name="Freeform 20" id="20"/>
            <p:cNvSpPr/>
            <p:nvPr/>
          </p:nvSpPr>
          <p:spPr>
            <a:xfrm flipH="false" flipV="false" rot="0">
              <a:off x="0" y="0"/>
              <a:ext cx="5252720" cy="1452880"/>
            </a:xfrm>
            <a:custGeom>
              <a:avLst/>
              <a:gdLst/>
              <a:ahLst/>
              <a:cxnLst/>
              <a:rect r="r" b="b" t="t" l="l"/>
              <a:pathLst>
                <a:path h="1452880" w="5252720">
                  <a:moveTo>
                    <a:pt x="228600" y="0"/>
                  </a:moveTo>
                  <a:lnTo>
                    <a:pt x="5024120" y="0"/>
                  </a:lnTo>
                  <a:cubicBezTo>
                    <a:pt x="5150358" y="0"/>
                    <a:pt x="5252720" y="102362"/>
                    <a:pt x="5252720" y="228600"/>
                  </a:cubicBezTo>
                  <a:lnTo>
                    <a:pt x="5252720" y="1224280"/>
                  </a:lnTo>
                  <a:cubicBezTo>
                    <a:pt x="5252720" y="1350518"/>
                    <a:pt x="5150358" y="1452880"/>
                    <a:pt x="5024120" y="1452880"/>
                  </a:cubicBezTo>
                  <a:lnTo>
                    <a:pt x="228600" y="1452880"/>
                  </a:lnTo>
                  <a:cubicBezTo>
                    <a:pt x="102362" y="1452880"/>
                    <a:pt x="0" y="1350518"/>
                    <a:pt x="0" y="1224280"/>
                  </a:cubicBezTo>
                  <a:lnTo>
                    <a:pt x="0" y="228600"/>
                  </a:lnTo>
                  <a:cubicBezTo>
                    <a:pt x="0" y="102362"/>
                    <a:pt x="102362" y="0"/>
                    <a:pt x="228600" y="0"/>
                  </a:cubicBezTo>
                  <a:close/>
                </a:path>
              </a:pathLst>
            </a:custGeom>
            <a:solidFill>
              <a:srgbClr val="F1E3CB"/>
            </a:solidFill>
          </p:spPr>
        </p:sp>
      </p:grpSp>
      <p:sp>
        <p:nvSpPr>
          <p:cNvPr name="TextBox 21" id="21"/>
          <p:cNvSpPr txBox="true"/>
          <p:nvPr/>
        </p:nvSpPr>
        <p:spPr>
          <a:xfrm rot="0">
            <a:off x="5185791" y="3713512"/>
            <a:ext cx="363778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Render · TLS</a:t>
            </a:r>
          </a:p>
        </p:txBody>
      </p:sp>
      <p:grpSp>
        <p:nvGrpSpPr>
          <p:cNvPr name="Group 22" id="22"/>
          <p:cNvGrpSpPr/>
          <p:nvPr/>
        </p:nvGrpSpPr>
        <p:grpSpPr>
          <a:xfrm rot="0">
            <a:off x="10734675" y="3147060"/>
            <a:ext cx="5029200" cy="1341120"/>
            <a:chOff x="0" y="0"/>
            <a:chExt cx="6705600" cy="1788160"/>
          </a:xfrm>
        </p:grpSpPr>
        <p:sp>
          <p:nvSpPr>
            <p:cNvPr name="Freeform 23" id="23"/>
            <p:cNvSpPr/>
            <p:nvPr/>
          </p:nvSpPr>
          <p:spPr>
            <a:xfrm flipH="false" flipV="false" rot="0">
              <a:off x="0" y="0"/>
              <a:ext cx="6705600" cy="1788160"/>
            </a:xfrm>
            <a:custGeom>
              <a:avLst/>
              <a:gdLst/>
              <a:ahLst/>
              <a:cxnLst/>
              <a:rect r="r" b="b" t="t" l="l"/>
              <a:pathLst>
                <a:path h="1788160" w="6705600">
                  <a:moveTo>
                    <a:pt x="228600" y="0"/>
                  </a:moveTo>
                  <a:lnTo>
                    <a:pt x="6477000" y="0"/>
                  </a:lnTo>
                  <a:cubicBezTo>
                    <a:pt x="6603238" y="0"/>
                    <a:pt x="6705600" y="102362"/>
                    <a:pt x="6705600" y="228600"/>
                  </a:cubicBezTo>
                  <a:lnTo>
                    <a:pt x="6705600" y="1559560"/>
                  </a:lnTo>
                  <a:cubicBezTo>
                    <a:pt x="6705600" y="1685798"/>
                    <a:pt x="6603238" y="1788160"/>
                    <a:pt x="6477000" y="1788160"/>
                  </a:cubicBezTo>
                  <a:lnTo>
                    <a:pt x="228600" y="1788160"/>
                  </a:lnTo>
                  <a:cubicBezTo>
                    <a:pt x="102362" y="1788160"/>
                    <a:pt x="0" y="1685798"/>
                    <a:pt x="0" y="1559560"/>
                  </a:cubicBezTo>
                  <a:lnTo>
                    <a:pt x="0" y="228600"/>
                  </a:lnTo>
                  <a:cubicBezTo>
                    <a:pt x="0" y="102362"/>
                    <a:pt x="102362" y="0"/>
                    <a:pt x="228600" y="0"/>
                  </a:cubicBezTo>
                  <a:close/>
                </a:path>
              </a:pathLst>
            </a:custGeom>
            <a:solidFill>
              <a:srgbClr val="DAEBE4"/>
            </a:solidFill>
          </p:spPr>
        </p:sp>
      </p:grpSp>
      <p:sp>
        <p:nvSpPr>
          <p:cNvPr name="TextBox 24" id="24"/>
          <p:cNvSpPr txBox="true"/>
          <p:nvPr/>
        </p:nvSpPr>
        <p:spPr>
          <a:xfrm rot="0">
            <a:off x="10885551" y="3386614"/>
            <a:ext cx="4727448" cy="833247"/>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Spring Boot React / API</a:t>
            </a:r>
          </a:p>
        </p:txBody>
      </p:sp>
      <p:sp>
        <p:nvSpPr>
          <p:cNvPr name="TextBox 25" id="25"/>
          <p:cNvSpPr txBox="true"/>
          <p:nvPr/>
        </p:nvSpPr>
        <p:spPr>
          <a:xfrm rot="0">
            <a:off x="3693795" y="3466052"/>
            <a:ext cx="117348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TextBox 26" id="26"/>
          <p:cNvSpPr txBox="true"/>
          <p:nvPr/>
        </p:nvSpPr>
        <p:spPr>
          <a:xfrm rot="0">
            <a:off x="9100185" y="3466052"/>
            <a:ext cx="146685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sp>
        <p:nvSpPr>
          <p:cNvPr name="TextBox 27" id="27"/>
          <p:cNvSpPr txBox="true"/>
          <p:nvPr/>
        </p:nvSpPr>
        <p:spPr>
          <a:xfrm rot="0">
            <a:off x="12494895" y="4765262"/>
            <a:ext cx="1424940" cy="778002"/>
          </a:xfrm>
          <a:prstGeom prst="rect">
            <a:avLst/>
          </a:prstGeom>
        </p:spPr>
        <p:txBody>
          <a:bodyPr anchor="t" rtlCol="false" tIns="0" lIns="0" bIns="0" rIns="0">
            <a:spAutoFit/>
          </a:bodyPr>
          <a:lstStyle/>
          <a:p>
            <a:pPr algn="ctr">
              <a:lnSpc>
                <a:spcPts val="5660"/>
              </a:lnSpc>
            </a:pPr>
            <a:r>
              <a:rPr lang="en-US" sz="4224">
                <a:solidFill>
                  <a:srgbClr val="28766D"/>
                </a:solidFill>
                <a:latin typeface="Sarabun"/>
                <a:ea typeface="Sarabun"/>
                <a:cs typeface="Sarabun"/>
                <a:sym typeface="Sarabun"/>
              </a:rPr>
              <a:t>↓</a:t>
            </a:r>
          </a:p>
        </p:txBody>
      </p:sp>
      <p:grpSp>
        <p:nvGrpSpPr>
          <p:cNvPr name="Group 28" id="28"/>
          <p:cNvGrpSpPr/>
          <p:nvPr/>
        </p:nvGrpSpPr>
        <p:grpSpPr>
          <a:xfrm rot="0">
            <a:off x="10734675" y="6499860"/>
            <a:ext cx="5029200" cy="1047750"/>
            <a:chOff x="0" y="0"/>
            <a:chExt cx="6705600" cy="1397000"/>
          </a:xfrm>
        </p:grpSpPr>
        <p:sp>
          <p:nvSpPr>
            <p:cNvPr name="Freeform 29" id="29"/>
            <p:cNvSpPr/>
            <p:nvPr/>
          </p:nvSpPr>
          <p:spPr>
            <a:xfrm flipH="false" flipV="false" rot="0">
              <a:off x="0" y="0"/>
              <a:ext cx="6705600" cy="1397000"/>
            </a:xfrm>
            <a:custGeom>
              <a:avLst/>
              <a:gdLst/>
              <a:ahLst/>
              <a:cxnLst/>
              <a:rect r="r" b="b" t="t" l="l"/>
              <a:pathLst>
                <a:path h="1397000" w="6705600">
                  <a:moveTo>
                    <a:pt x="228600" y="0"/>
                  </a:moveTo>
                  <a:lnTo>
                    <a:pt x="6477000" y="0"/>
                  </a:lnTo>
                  <a:cubicBezTo>
                    <a:pt x="6603238" y="0"/>
                    <a:pt x="6705600" y="102362"/>
                    <a:pt x="6705600" y="228600"/>
                  </a:cubicBezTo>
                  <a:lnTo>
                    <a:pt x="6705600" y="1168400"/>
                  </a:lnTo>
                  <a:cubicBezTo>
                    <a:pt x="6705600" y="1294638"/>
                    <a:pt x="6603238" y="1397000"/>
                    <a:pt x="6477000" y="1397000"/>
                  </a:cubicBezTo>
                  <a:lnTo>
                    <a:pt x="228600" y="1397000"/>
                  </a:lnTo>
                  <a:cubicBezTo>
                    <a:pt x="102362" y="1397000"/>
                    <a:pt x="0" y="1294638"/>
                    <a:pt x="0" y="1168400"/>
                  </a:cubicBezTo>
                  <a:lnTo>
                    <a:pt x="0" y="228600"/>
                  </a:lnTo>
                  <a:cubicBezTo>
                    <a:pt x="0" y="102362"/>
                    <a:pt x="102362" y="0"/>
                    <a:pt x="228600" y="0"/>
                  </a:cubicBezTo>
                  <a:close/>
                </a:path>
              </a:pathLst>
            </a:custGeom>
            <a:solidFill>
              <a:srgbClr val="F1E3CB"/>
            </a:solidFill>
          </p:spPr>
        </p:sp>
      </p:grpSp>
      <p:sp>
        <p:nvSpPr>
          <p:cNvPr name="TextBox 30" id="30"/>
          <p:cNvSpPr txBox="true"/>
          <p:nvPr/>
        </p:nvSpPr>
        <p:spPr>
          <a:xfrm rot="0">
            <a:off x="10885551" y="6793897"/>
            <a:ext cx="4727448" cy="430911"/>
          </a:xfrm>
          <a:prstGeom prst="rect">
            <a:avLst/>
          </a:prstGeom>
        </p:spPr>
        <p:txBody>
          <a:bodyPr anchor="t" rtlCol="false" tIns="0" lIns="0" bIns="0" rIns="0">
            <a:spAutoFit/>
          </a:bodyPr>
          <a:lstStyle/>
          <a:p>
            <a:pPr algn="ctr">
              <a:lnSpc>
                <a:spcPts val="3183"/>
              </a:lnSpc>
            </a:pPr>
            <a:r>
              <a:rPr lang="en-US" b="true" sz="2376">
                <a:solidFill>
                  <a:srgbClr val="173A45"/>
                </a:solidFill>
                <a:latin typeface="Sarabun Semi-Bold"/>
                <a:ea typeface="Sarabun Semi-Bold"/>
                <a:cs typeface="Sarabun Semi-Bold"/>
                <a:sym typeface="Sarabun Semi-Bold"/>
              </a:rPr>
              <a:t>Session Pooler</a:t>
            </a:r>
          </a:p>
        </p:txBody>
      </p:sp>
      <p:sp>
        <p:nvSpPr>
          <p:cNvPr name="TextBox 31" id="31"/>
          <p:cNvSpPr txBox="true"/>
          <p:nvPr/>
        </p:nvSpPr>
        <p:spPr>
          <a:xfrm rot="0">
            <a:off x="8974455" y="6609302"/>
            <a:ext cx="146685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grpSp>
        <p:nvGrpSpPr>
          <p:cNvPr name="Group 32" id="32"/>
          <p:cNvGrpSpPr/>
          <p:nvPr/>
        </p:nvGrpSpPr>
        <p:grpSpPr>
          <a:xfrm rot="0">
            <a:off x="6040755" y="6437757"/>
            <a:ext cx="1408176" cy="1173480"/>
            <a:chOff x="0" y="0"/>
            <a:chExt cx="1877568" cy="1564640"/>
          </a:xfrm>
        </p:grpSpPr>
        <p:sp>
          <p:nvSpPr>
            <p:cNvPr name="Freeform 33" id="33"/>
            <p:cNvSpPr/>
            <p:nvPr/>
          </p:nvSpPr>
          <p:spPr>
            <a:xfrm flipH="false" flipV="false" rot="0">
              <a:off x="0" y="0"/>
              <a:ext cx="1877568" cy="1564640"/>
            </a:xfrm>
            <a:custGeom>
              <a:avLst/>
              <a:gdLst/>
              <a:ahLst/>
              <a:cxnLst/>
              <a:rect r="r" b="b" t="t" l="l"/>
              <a:pathLst>
                <a:path h="1564640" w="1877568">
                  <a:moveTo>
                    <a:pt x="203200" y="0"/>
                  </a:moveTo>
                  <a:lnTo>
                    <a:pt x="1674368" y="0"/>
                  </a:lnTo>
                  <a:cubicBezTo>
                    <a:pt x="1786636" y="0"/>
                    <a:pt x="1877568" y="90932"/>
                    <a:pt x="1877568" y="203200"/>
                  </a:cubicBezTo>
                  <a:lnTo>
                    <a:pt x="1877568" y="1361440"/>
                  </a:lnTo>
                  <a:cubicBezTo>
                    <a:pt x="1877568" y="1473708"/>
                    <a:pt x="1786636" y="1564640"/>
                    <a:pt x="1674368" y="1564640"/>
                  </a:cubicBezTo>
                  <a:lnTo>
                    <a:pt x="203200" y="1564640"/>
                  </a:lnTo>
                  <a:cubicBezTo>
                    <a:pt x="90932" y="1564640"/>
                    <a:pt x="0" y="1473708"/>
                    <a:pt x="0" y="1361440"/>
                  </a:cubicBezTo>
                  <a:lnTo>
                    <a:pt x="0" y="203200"/>
                  </a:lnTo>
                  <a:cubicBezTo>
                    <a:pt x="0" y="90932"/>
                    <a:pt x="90932" y="0"/>
                    <a:pt x="203200" y="0"/>
                  </a:cubicBezTo>
                  <a:close/>
                </a:path>
              </a:pathLst>
            </a:custGeom>
            <a:solidFill>
              <a:srgbClr val="28766D"/>
            </a:solidFill>
          </p:spPr>
        </p:sp>
      </p:grpSp>
      <p:grpSp>
        <p:nvGrpSpPr>
          <p:cNvPr name="Group 34" id="34"/>
          <p:cNvGrpSpPr/>
          <p:nvPr/>
        </p:nvGrpSpPr>
        <p:grpSpPr>
          <a:xfrm rot="0">
            <a:off x="6040755" y="6290310"/>
            <a:ext cx="1408176" cy="435864"/>
            <a:chOff x="0" y="0"/>
            <a:chExt cx="1877568" cy="581152"/>
          </a:xfrm>
        </p:grpSpPr>
        <p:sp>
          <p:nvSpPr>
            <p:cNvPr name="Freeform 35" id="35"/>
            <p:cNvSpPr/>
            <p:nvPr/>
          </p:nvSpPr>
          <p:spPr>
            <a:xfrm flipH="false" flipV="false" rot="0">
              <a:off x="0" y="0"/>
              <a:ext cx="1877568" cy="581152"/>
            </a:xfrm>
            <a:custGeom>
              <a:avLst/>
              <a:gdLst/>
              <a:ahLst/>
              <a:cxnLst/>
              <a:rect r="r" b="b" t="t" l="l"/>
              <a:pathLst>
                <a:path h="581152" w="1877568">
                  <a:moveTo>
                    <a:pt x="290576" y="0"/>
                  </a:moveTo>
                  <a:lnTo>
                    <a:pt x="1586992" y="0"/>
                  </a:lnTo>
                  <a:cubicBezTo>
                    <a:pt x="1747520" y="0"/>
                    <a:pt x="1877568" y="130048"/>
                    <a:pt x="1877568" y="290576"/>
                  </a:cubicBezTo>
                  <a:cubicBezTo>
                    <a:pt x="1877568" y="451104"/>
                    <a:pt x="1747520" y="581152"/>
                    <a:pt x="1586992" y="581152"/>
                  </a:cubicBezTo>
                  <a:lnTo>
                    <a:pt x="290576" y="581152"/>
                  </a:lnTo>
                  <a:cubicBezTo>
                    <a:pt x="130048" y="581152"/>
                    <a:pt x="0" y="451104"/>
                    <a:pt x="0" y="290576"/>
                  </a:cubicBezTo>
                  <a:cubicBezTo>
                    <a:pt x="0" y="130048"/>
                    <a:pt x="130048" y="0"/>
                    <a:pt x="290576" y="0"/>
                  </a:cubicBezTo>
                  <a:close/>
                </a:path>
              </a:pathLst>
            </a:custGeom>
            <a:solidFill>
              <a:srgbClr val="DAEBE4"/>
            </a:solidFill>
          </p:spPr>
        </p:sp>
        <p:sp>
          <p:nvSpPr>
            <p:cNvPr name="Freeform 36" id="36"/>
            <p:cNvSpPr/>
            <p:nvPr/>
          </p:nvSpPr>
          <p:spPr>
            <a:xfrm flipH="false" flipV="false" rot="0">
              <a:off x="0" y="0"/>
              <a:ext cx="1877568" cy="581152"/>
            </a:xfrm>
            <a:custGeom>
              <a:avLst/>
              <a:gdLst/>
              <a:ahLst/>
              <a:cxnLst/>
              <a:rect r="r" b="b" t="t" l="l"/>
              <a:pathLst>
                <a:path h="581152" w="1877568">
                  <a:moveTo>
                    <a:pt x="290576" y="0"/>
                  </a:moveTo>
                  <a:lnTo>
                    <a:pt x="1586992" y="0"/>
                  </a:lnTo>
                  <a:cubicBezTo>
                    <a:pt x="1747520" y="0"/>
                    <a:pt x="1877568" y="130048"/>
                    <a:pt x="1877568" y="290576"/>
                  </a:cubicBezTo>
                  <a:cubicBezTo>
                    <a:pt x="1877568" y="451104"/>
                    <a:pt x="1747520" y="581152"/>
                    <a:pt x="1586992" y="581152"/>
                  </a:cubicBezTo>
                  <a:lnTo>
                    <a:pt x="290576" y="581152"/>
                  </a:lnTo>
                  <a:cubicBezTo>
                    <a:pt x="130048" y="581152"/>
                    <a:pt x="0" y="451104"/>
                    <a:pt x="0" y="290576"/>
                  </a:cubicBezTo>
                  <a:cubicBezTo>
                    <a:pt x="0" y="130048"/>
                    <a:pt x="130048" y="0"/>
                    <a:pt x="290576" y="0"/>
                  </a:cubicBezTo>
                  <a:close/>
                </a:path>
              </a:pathLst>
            </a:custGeom>
            <a:solidFill>
              <a:srgbClr val="000000">
                <a:alpha val="0"/>
              </a:srgbClr>
            </a:solidFill>
            <a:ln w="28575" cap="sq">
              <a:solidFill>
                <a:srgbClr val="173A45"/>
              </a:solidFill>
              <a:prstDash val="solid"/>
              <a:miter/>
            </a:ln>
          </p:spPr>
        </p:sp>
      </p:grpSp>
      <p:grpSp>
        <p:nvGrpSpPr>
          <p:cNvPr name="Group 37" id="37"/>
          <p:cNvGrpSpPr/>
          <p:nvPr/>
        </p:nvGrpSpPr>
        <p:grpSpPr>
          <a:xfrm rot="0">
            <a:off x="6040755" y="7229094"/>
            <a:ext cx="1408176" cy="435864"/>
            <a:chOff x="0" y="0"/>
            <a:chExt cx="1877568" cy="581152"/>
          </a:xfrm>
        </p:grpSpPr>
        <p:sp>
          <p:nvSpPr>
            <p:cNvPr name="Freeform 38" id="38"/>
            <p:cNvSpPr/>
            <p:nvPr/>
          </p:nvSpPr>
          <p:spPr>
            <a:xfrm flipH="false" flipV="false" rot="0">
              <a:off x="0" y="0"/>
              <a:ext cx="1877568" cy="581152"/>
            </a:xfrm>
            <a:custGeom>
              <a:avLst/>
              <a:gdLst/>
              <a:ahLst/>
              <a:cxnLst/>
              <a:rect r="r" b="b" t="t" l="l"/>
              <a:pathLst>
                <a:path h="581152" w="1877568">
                  <a:moveTo>
                    <a:pt x="290576" y="0"/>
                  </a:moveTo>
                  <a:lnTo>
                    <a:pt x="1586992" y="0"/>
                  </a:lnTo>
                  <a:cubicBezTo>
                    <a:pt x="1747520" y="0"/>
                    <a:pt x="1877568" y="130048"/>
                    <a:pt x="1877568" y="290576"/>
                  </a:cubicBezTo>
                  <a:cubicBezTo>
                    <a:pt x="1877568" y="451104"/>
                    <a:pt x="1747520" y="581152"/>
                    <a:pt x="1586992" y="581152"/>
                  </a:cubicBezTo>
                  <a:lnTo>
                    <a:pt x="290576" y="581152"/>
                  </a:lnTo>
                  <a:cubicBezTo>
                    <a:pt x="130048" y="581152"/>
                    <a:pt x="0" y="451104"/>
                    <a:pt x="0" y="290576"/>
                  </a:cubicBezTo>
                  <a:cubicBezTo>
                    <a:pt x="0" y="130048"/>
                    <a:pt x="130048" y="0"/>
                    <a:pt x="290576" y="0"/>
                  </a:cubicBezTo>
                  <a:close/>
                </a:path>
              </a:pathLst>
            </a:custGeom>
            <a:solidFill>
              <a:srgbClr val="28766D"/>
            </a:solidFill>
          </p:spPr>
        </p:sp>
        <p:sp>
          <p:nvSpPr>
            <p:cNvPr name="Freeform 39" id="39"/>
            <p:cNvSpPr/>
            <p:nvPr/>
          </p:nvSpPr>
          <p:spPr>
            <a:xfrm flipH="false" flipV="false" rot="0">
              <a:off x="0" y="0"/>
              <a:ext cx="1877568" cy="581152"/>
            </a:xfrm>
            <a:custGeom>
              <a:avLst/>
              <a:gdLst/>
              <a:ahLst/>
              <a:cxnLst/>
              <a:rect r="r" b="b" t="t" l="l"/>
              <a:pathLst>
                <a:path h="581152" w="1877568">
                  <a:moveTo>
                    <a:pt x="290576" y="0"/>
                  </a:moveTo>
                  <a:lnTo>
                    <a:pt x="1586992" y="0"/>
                  </a:lnTo>
                  <a:cubicBezTo>
                    <a:pt x="1747520" y="0"/>
                    <a:pt x="1877568" y="130048"/>
                    <a:pt x="1877568" y="290576"/>
                  </a:cubicBezTo>
                  <a:cubicBezTo>
                    <a:pt x="1877568" y="451104"/>
                    <a:pt x="1747520" y="581152"/>
                    <a:pt x="1586992" y="581152"/>
                  </a:cubicBezTo>
                  <a:lnTo>
                    <a:pt x="290576" y="581152"/>
                  </a:lnTo>
                  <a:cubicBezTo>
                    <a:pt x="130048" y="581152"/>
                    <a:pt x="0" y="451104"/>
                    <a:pt x="0" y="290576"/>
                  </a:cubicBezTo>
                  <a:cubicBezTo>
                    <a:pt x="0" y="130048"/>
                    <a:pt x="130048" y="0"/>
                    <a:pt x="290576" y="0"/>
                  </a:cubicBezTo>
                  <a:close/>
                </a:path>
              </a:pathLst>
            </a:custGeom>
            <a:solidFill>
              <a:srgbClr val="000000">
                <a:alpha val="0"/>
              </a:srgbClr>
            </a:solidFill>
            <a:ln w="28575" cap="sq">
              <a:solidFill>
                <a:srgbClr val="173A45"/>
              </a:solidFill>
              <a:prstDash val="solid"/>
              <a:miter/>
            </a:ln>
          </p:spPr>
        </p:sp>
      </p:grpSp>
      <p:sp>
        <p:nvSpPr>
          <p:cNvPr name="AutoShape 40" id="40"/>
          <p:cNvSpPr/>
          <p:nvPr/>
        </p:nvSpPr>
        <p:spPr>
          <a:xfrm rot="0">
            <a:off x="6040755" y="6960870"/>
            <a:ext cx="1408176" cy="33528"/>
          </a:xfrm>
          <a:prstGeom prst="rect">
            <a:avLst/>
          </a:prstGeom>
          <a:solidFill>
            <a:srgbClr val="FFFFFF"/>
          </a:solidFill>
        </p:spPr>
      </p:sp>
      <p:sp>
        <p:nvSpPr>
          <p:cNvPr name="TextBox 41" id="41"/>
          <p:cNvSpPr txBox="true"/>
          <p:nvPr/>
        </p:nvSpPr>
        <p:spPr>
          <a:xfrm rot="0">
            <a:off x="5118735" y="7895749"/>
            <a:ext cx="3520440" cy="422529"/>
          </a:xfrm>
          <a:prstGeom prst="rect">
            <a:avLst/>
          </a:prstGeom>
        </p:spPr>
        <p:txBody>
          <a:bodyPr anchor="t" rtlCol="false" tIns="0" lIns="0" bIns="0" rIns="0">
            <a:spAutoFit/>
          </a:bodyPr>
          <a:lstStyle/>
          <a:p>
            <a:pPr algn="ctr">
              <a:lnSpc>
                <a:spcPts val="3095"/>
              </a:lnSpc>
            </a:pPr>
            <a:r>
              <a:rPr lang="en-US" sz="2310">
                <a:solidFill>
                  <a:srgbClr val="647477"/>
                </a:solidFill>
                <a:latin typeface="Sarabun"/>
                <a:ea typeface="Sarabun"/>
                <a:cs typeface="Sarabun"/>
                <a:sym typeface="Sarabun"/>
              </a:rPr>
              <a:t>PostgreSQL</a:t>
            </a:r>
          </a:p>
        </p:txBody>
      </p:sp>
      <p:sp>
        <p:nvSpPr>
          <p:cNvPr name="TextBox 42" id="42"/>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Browser เรียก API ผ่าน HTTPS แล้ว backend จึงติดต่อฐานข้อมูลผ่าน Pooler ภาพแสดงโครงสร้างที่ตั้งค่าไว้ ต้องยืนยันรุ่นที่ deploy ก่อนสาธิตจริง</a:t>
            </a:r>
          </a:p>
        </p:txBody>
      </p:sp>
      <p:sp>
        <p:nvSpPr>
          <p:cNvPr name="TextBox 43" id="43"/>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teeramet_673380273-9_02</a:t>
            </a:r>
          </a:p>
        </p:txBody>
      </p:sp>
      <p:sp>
        <p:nvSpPr>
          <p:cNvPr name="TextBox 44" id="44"/>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Q&amp;A · 23/24</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0"/>
            <a:ext cx="18288000" cy="10287000"/>
          </a:xfrm>
          <a:prstGeom prst="rect">
            <a:avLst/>
          </a:prstGeom>
          <a:solidFill>
            <a:srgbClr val="FFF9EE"/>
          </a:solidFill>
        </p:spPr>
      </p:sp>
      <p:sp>
        <p:nvSpPr>
          <p:cNvPr name="AutoShape 3" id="3"/>
          <p:cNvSpPr/>
          <p:nvPr/>
        </p:nvSpPr>
        <p:spPr>
          <a:xfrm rot="0">
            <a:off x="1047750" y="952500"/>
            <a:ext cx="666750" cy="66675"/>
          </a:xfrm>
          <a:prstGeom prst="rect">
            <a:avLst/>
          </a:prstGeom>
          <a:solidFill>
            <a:srgbClr val="AC4D31"/>
          </a:solidFill>
        </p:spPr>
      </p:sp>
      <p:sp>
        <p:nvSpPr>
          <p:cNvPr name="TextBox 4" id="4"/>
          <p:cNvSpPr txBox="true"/>
          <p:nvPr/>
        </p:nvSpPr>
        <p:spPr>
          <a:xfrm rot="0">
            <a:off x="1047750" y="1181100"/>
            <a:ext cx="16287750" cy="797433"/>
          </a:xfrm>
          <a:prstGeom prst="rect">
            <a:avLst/>
          </a:prstGeom>
        </p:spPr>
        <p:txBody>
          <a:bodyPr anchor="t" rtlCol="false" tIns="0" lIns="0" bIns="0" rIns="0">
            <a:spAutoFit/>
          </a:bodyPr>
          <a:lstStyle/>
          <a:p>
            <a:pPr algn="l">
              <a:lnSpc>
                <a:spcPts val="5829"/>
              </a:lnSpc>
            </a:pPr>
            <a:r>
              <a:rPr lang="en-US" b="true" sz="4350">
                <a:solidFill>
                  <a:srgbClr val="173A45"/>
                </a:solidFill>
                <a:latin typeface="Sarabun Bold"/>
                <a:ea typeface="Sarabun Bold"/>
                <a:cs typeface="Sarabun Bold"/>
                <a:sym typeface="Sarabun Bold"/>
              </a:rPr>
              <a:t>Use Case · เปิดโต๊ะ</a:t>
            </a:r>
          </a:p>
        </p:txBody>
      </p:sp>
      <p:grpSp>
        <p:nvGrpSpPr>
          <p:cNvPr name="Group 5" id="5"/>
          <p:cNvGrpSpPr/>
          <p:nvPr/>
        </p:nvGrpSpPr>
        <p:grpSpPr>
          <a:xfrm rot="0">
            <a:off x="3123819" y="2979420"/>
            <a:ext cx="637032" cy="637032"/>
            <a:chOff x="0" y="0"/>
            <a:chExt cx="849376" cy="849376"/>
          </a:xfrm>
        </p:grpSpPr>
        <p:sp>
          <p:nvSpPr>
            <p:cNvPr name="Freeform 6" id="6"/>
            <p:cNvSpPr/>
            <p:nvPr/>
          </p:nvSpPr>
          <p:spPr>
            <a:xfrm flipH="false" flipV="false" rot="0">
              <a:off x="0" y="0"/>
              <a:ext cx="849376" cy="849376"/>
            </a:xfrm>
            <a:custGeom>
              <a:avLst/>
              <a:gdLst/>
              <a:ahLst/>
              <a:cxnLst/>
              <a:rect r="r" b="b" t="t" l="l"/>
              <a:pathLst>
                <a:path h="849376" w="849376">
                  <a:moveTo>
                    <a:pt x="424688" y="0"/>
                  </a:moveTo>
                  <a:cubicBezTo>
                    <a:pt x="659257" y="0"/>
                    <a:pt x="849376" y="190119"/>
                    <a:pt x="849376" y="424688"/>
                  </a:cubicBezTo>
                  <a:cubicBezTo>
                    <a:pt x="849376" y="659257"/>
                    <a:pt x="659257" y="849376"/>
                    <a:pt x="424688" y="849376"/>
                  </a:cubicBezTo>
                  <a:cubicBezTo>
                    <a:pt x="190119" y="849376"/>
                    <a:pt x="0" y="659257"/>
                    <a:pt x="0" y="424688"/>
                  </a:cubicBezTo>
                  <a:cubicBezTo>
                    <a:pt x="0" y="190119"/>
                    <a:pt x="190119" y="0"/>
                    <a:pt x="424688" y="0"/>
                  </a:cubicBezTo>
                  <a:close/>
                </a:path>
              </a:pathLst>
            </a:custGeom>
            <a:solidFill>
              <a:srgbClr val="28766D"/>
            </a:solidFill>
          </p:spPr>
        </p:sp>
      </p:grpSp>
      <p:grpSp>
        <p:nvGrpSpPr>
          <p:cNvPr name="Group 7" id="7"/>
          <p:cNvGrpSpPr/>
          <p:nvPr/>
        </p:nvGrpSpPr>
        <p:grpSpPr>
          <a:xfrm rot="0">
            <a:off x="2889123" y="3733800"/>
            <a:ext cx="1106424" cy="1047750"/>
            <a:chOff x="0" y="0"/>
            <a:chExt cx="1475232" cy="1397000"/>
          </a:xfrm>
        </p:grpSpPr>
        <p:sp>
          <p:nvSpPr>
            <p:cNvPr name="Freeform 8" id="8"/>
            <p:cNvSpPr/>
            <p:nvPr/>
          </p:nvSpPr>
          <p:spPr>
            <a:xfrm flipH="false" flipV="false" rot="0">
              <a:off x="0" y="0"/>
              <a:ext cx="1475232" cy="1397000"/>
            </a:xfrm>
            <a:custGeom>
              <a:avLst/>
              <a:gdLst/>
              <a:ahLst/>
              <a:cxnLst/>
              <a:rect r="r" b="b" t="t" l="l"/>
              <a:pathLst>
                <a:path h="1397000" w="1475232">
                  <a:moveTo>
                    <a:pt x="698500" y="0"/>
                  </a:moveTo>
                  <a:lnTo>
                    <a:pt x="776732" y="0"/>
                  </a:lnTo>
                  <a:cubicBezTo>
                    <a:pt x="1162558" y="0"/>
                    <a:pt x="1475232" y="312674"/>
                    <a:pt x="1475232" y="698500"/>
                  </a:cubicBezTo>
                  <a:cubicBezTo>
                    <a:pt x="1475232" y="1084326"/>
                    <a:pt x="1162558" y="1397000"/>
                    <a:pt x="776732" y="1397000"/>
                  </a:cubicBezTo>
                  <a:lnTo>
                    <a:pt x="698500" y="1397000"/>
                  </a:lnTo>
                  <a:cubicBezTo>
                    <a:pt x="312674" y="1397000"/>
                    <a:pt x="0" y="1084326"/>
                    <a:pt x="0" y="698500"/>
                  </a:cubicBezTo>
                  <a:cubicBezTo>
                    <a:pt x="0" y="312674"/>
                    <a:pt x="312674" y="0"/>
                    <a:pt x="698500" y="0"/>
                  </a:cubicBezTo>
                  <a:close/>
                </a:path>
              </a:pathLst>
            </a:custGeom>
            <a:solidFill>
              <a:srgbClr val="28766D"/>
            </a:solidFill>
          </p:spPr>
        </p:sp>
      </p:grpSp>
      <p:grpSp>
        <p:nvGrpSpPr>
          <p:cNvPr name="Group 9" id="9"/>
          <p:cNvGrpSpPr/>
          <p:nvPr/>
        </p:nvGrpSpPr>
        <p:grpSpPr>
          <a:xfrm rot="0">
            <a:off x="2771775" y="3985260"/>
            <a:ext cx="234696" cy="796290"/>
            <a:chOff x="0" y="0"/>
            <a:chExt cx="312928" cy="1061720"/>
          </a:xfrm>
        </p:grpSpPr>
        <p:sp>
          <p:nvSpPr>
            <p:cNvPr name="Freeform 10" id="10"/>
            <p:cNvSpPr/>
            <p:nvPr/>
          </p:nvSpPr>
          <p:spPr>
            <a:xfrm flipH="false" flipV="false" rot="0">
              <a:off x="0" y="0"/>
              <a:ext cx="312928" cy="1061720"/>
            </a:xfrm>
            <a:custGeom>
              <a:avLst/>
              <a:gdLst/>
              <a:ahLst/>
              <a:cxnLst/>
              <a:rect r="r" b="b" t="t" l="l"/>
              <a:pathLst>
                <a:path h="1061720" w="312928">
                  <a:moveTo>
                    <a:pt x="156464" y="0"/>
                  </a:moveTo>
                  <a:cubicBezTo>
                    <a:pt x="242824" y="0"/>
                    <a:pt x="312928" y="70104"/>
                    <a:pt x="312928" y="156464"/>
                  </a:cubicBezTo>
                  <a:lnTo>
                    <a:pt x="312928" y="905256"/>
                  </a:lnTo>
                  <a:cubicBezTo>
                    <a:pt x="312928" y="991616"/>
                    <a:pt x="242824" y="1061720"/>
                    <a:pt x="156464" y="1061720"/>
                  </a:cubicBezTo>
                  <a:cubicBezTo>
                    <a:pt x="70104" y="1061720"/>
                    <a:pt x="0" y="991616"/>
                    <a:pt x="0" y="905256"/>
                  </a:cubicBezTo>
                  <a:lnTo>
                    <a:pt x="0" y="156464"/>
                  </a:lnTo>
                  <a:cubicBezTo>
                    <a:pt x="0" y="70104"/>
                    <a:pt x="70104" y="0"/>
                    <a:pt x="156464" y="0"/>
                  </a:cubicBezTo>
                  <a:close/>
                </a:path>
              </a:pathLst>
            </a:custGeom>
            <a:solidFill>
              <a:srgbClr val="28766D"/>
            </a:solidFill>
          </p:spPr>
        </p:sp>
      </p:grpSp>
      <p:grpSp>
        <p:nvGrpSpPr>
          <p:cNvPr name="Group 11" id="11"/>
          <p:cNvGrpSpPr/>
          <p:nvPr/>
        </p:nvGrpSpPr>
        <p:grpSpPr>
          <a:xfrm rot="0">
            <a:off x="3878199" y="3985260"/>
            <a:ext cx="234696" cy="796290"/>
            <a:chOff x="0" y="0"/>
            <a:chExt cx="312928" cy="1061720"/>
          </a:xfrm>
        </p:grpSpPr>
        <p:sp>
          <p:nvSpPr>
            <p:cNvPr name="Freeform 12" id="12"/>
            <p:cNvSpPr/>
            <p:nvPr/>
          </p:nvSpPr>
          <p:spPr>
            <a:xfrm flipH="false" flipV="false" rot="0">
              <a:off x="0" y="0"/>
              <a:ext cx="312928" cy="1061720"/>
            </a:xfrm>
            <a:custGeom>
              <a:avLst/>
              <a:gdLst/>
              <a:ahLst/>
              <a:cxnLst/>
              <a:rect r="r" b="b" t="t" l="l"/>
              <a:pathLst>
                <a:path h="1061720" w="312928">
                  <a:moveTo>
                    <a:pt x="156464" y="0"/>
                  </a:moveTo>
                  <a:cubicBezTo>
                    <a:pt x="242824" y="0"/>
                    <a:pt x="312928" y="70104"/>
                    <a:pt x="312928" y="156464"/>
                  </a:cubicBezTo>
                  <a:lnTo>
                    <a:pt x="312928" y="905256"/>
                  </a:lnTo>
                  <a:cubicBezTo>
                    <a:pt x="312928" y="991616"/>
                    <a:pt x="242824" y="1061720"/>
                    <a:pt x="156464" y="1061720"/>
                  </a:cubicBezTo>
                  <a:cubicBezTo>
                    <a:pt x="70104" y="1061720"/>
                    <a:pt x="0" y="991616"/>
                    <a:pt x="0" y="905256"/>
                  </a:cubicBezTo>
                  <a:lnTo>
                    <a:pt x="0" y="156464"/>
                  </a:lnTo>
                  <a:cubicBezTo>
                    <a:pt x="0" y="70104"/>
                    <a:pt x="70104" y="0"/>
                    <a:pt x="156464" y="0"/>
                  </a:cubicBezTo>
                  <a:close/>
                </a:path>
              </a:pathLst>
            </a:custGeom>
            <a:solidFill>
              <a:srgbClr val="28766D"/>
            </a:solidFill>
          </p:spPr>
        </p:sp>
      </p:grpSp>
      <p:sp>
        <p:nvSpPr>
          <p:cNvPr name="TextBox 13" id="13"/>
          <p:cNvSpPr txBox="true"/>
          <p:nvPr/>
        </p:nvSpPr>
        <p:spPr>
          <a:xfrm rot="0">
            <a:off x="4615815" y="3675602"/>
            <a:ext cx="142494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grpSp>
        <p:nvGrpSpPr>
          <p:cNvPr name="Group 14" id="14"/>
          <p:cNvGrpSpPr/>
          <p:nvPr/>
        </p:nvGrpSpPr>
        <p:grpSpPr>
          <a:xfrm rot="0">
            <a:off x="7381875" y="3063240"/>
            <a:ext cx="1508760" cy="1508760"/>
            <a:chOff x="0" y="0"/>
            <a:chExt cx="2011680" cy="2011680"/>
          </a:xfrm>
        </p:grpSpPr>
        <p:sp>
          <p:nvSpPr>
            <p:cNvPr name="Freeform 15" id="15"/>
            <p:cNvSpPr/>
            <p:nvPr/>
          </p:nvSpPr>
          <p:spPr>
            <a:xfrm flipH="false" flipV="false" rot="0">
              <a:off x="0" y="0"/>
              <a:ext cx="2011680" cy="2011680"/>
            </a:xfrm>
            <a:custGeom>
              <a:avLst/>
              <a:gdLst/>
              <a:ahLst/>
              <a:cxnLst/>
              <a:rect r="r" b="b" t="t" l="l"/>
              <a:pathLst>
                <a:path h="2011680" w="2011680">
                  <a:moveTo>
                    <a:pt x="1005840" y="0"/>
                  </a:moveTo>
                  <a:cubicBezTo>
                    <a:pt x="1561338" y="0"/>
                    <a:pt x="2011680" y="450342"/>
                    <a:pt x="2011680" y="1005840"/>
                  </a:cubicBezTo>
                  <a:cubicBezTo>
                    <a:pt x="2011680" y="1561338"/>
                    <a:pt x="1561338" y="2011680"/>
                    <a:pt x="1005840" y="2011680"/>
                  </a:cubicBezTo>
                  <a:cubicBezTo>
                    <a:pt x="450342" y="2011680"/>
                    <a:pt x="0" y="1561338"/>
                    <a:pt x="0" y="1005840"/>
                  </a:cubicBezTo>
                  <a:cubicBezTo>
                    <a:pt x="0" y="450342"/>
                    <a:pt x="450342" y="0"/>
                    <a:pt x="1005840" y="0"/>
                  </a:cubicBezTo>
                  <a:close/>
                </a:path>
              </a:pathLst>
            </a:custGeom>
            <a:solidFill>
              <a:srgbClr val="FFFFFF"/>
            </a:solidFill>
          </p:spPr>
        </p:sp>
        <p:sp>
          <p:nvSpPr>
            <p:cNvPr name="Freeform 16" id="16"/>
            <p:cNvSpPr/>
            <p:nvPr/>
          </p:nvSpPr>
          <p:spPr>
            <a:xfrm flipH="false" flipV="false" rot="0">
              <a:off x="0" y="0"/>
              <a:ext cx="2011680" cy="2011680"/>
            </a:xfrm>
            <a:custGeom>
              <a:avLst/>
              <a:gdLst/>
              <a:ahLst/>
              <a:cxnLst/>
              <a:rect r="r" b="b" t="t" l="l"/>
              <a:pathLst>
                <a:path h="2011680" w="2011680">
                  <a:moveTo>
                    <a:pt x="1005840" y="0"/>
                  </a:moveTo>
                  <a:cubicBezTo>
                    <a:pt x="1561338" y="0"/>
                    <a:pt x="2011680" y="450342"/>
                    <a:pt x="2011680" y="1005840"/>
                  </a:cubicBezTo>
                  <a:cubicBezTo>
                    <a:pt x="2011680" y="1561338"/>
                    <a:pt x="1561338" y="2011680"/>
                    <a:pt x="1005840" y="2011680"/>
                  </a:cubicBezTo>
                  <a:cubicBezTo>
                    <a:pt x="450342" y="2011680"/>
                    <a:pt x="0" y="1561338"/>
                    <a:pt x="0" y="1005840"/>
                  </a:cubicBezTo>
                  <a:cubicBezTo>
                    <a:pt x="0" y="450342"/>
                    <a:pt x="450342" y="0"/>
                    <a:pt x="1005840" y="0"/>
                  </a:cubicBezTo>
                  <a:close/>
                </a:path>
              </a:pathLst>
            </a:custGeom>
            <a:solidFill>
              <a:srgbClr val="000000">
                <a:alpha val="0"/>
              </a:srgbClr>
            </a:solidFill>
            <a:ln w="28575" cap="sq">
              <a:solidFill>
                <a:srgbClr val="173A45"/>
              </a:solidFill>
              <a:prstDash val="solid"/>
              <a:miter/>
            </a:ln>
          </p:spPr>
        </p:sp>
      </p:grpSp>
      <p:grpSp>
        <p:nvGrpSpPr>
          <p:cNvPr name="Group 17" id="17"/>
          <p:cNvGrpSpPr/>
          <p:nvPr/>
        </p:nvGrpSpPr>
        <p:grpSpPr>
          <a:xfrm rot="0">
            <a:off x="7608189" y="3289554"/>
            <a:ext cx="1056132" cy="1056132"/>
            <a:chOff x="0" y="0"/>
            <a:chExt cx="1408176" cy="1408176"/>
          </a:xfrm>
        </p:grpSpPr>
        <p:sp>
          <p:nvSpPr>
            <p:cNvPr name="Freeform 18" id="18"/>
            <p:cNvSpPr/>
            <p:nvPr/>
          </p:nvSpPr>
          <p:spPr>
            <a:xfrm flipH="false" flipV="false" rot="0">
              <a:off x="0" y="0"/>
              <a:ext cx="1408176" cy="1408176"/>
            </a:xfrm>
            <a:custGeom>
              <a:avLst/>
              <a:gdLst/>
              <a:ahLst/>
              <a:cxnLst/>
              <a:rect r="r" b="b" t="t" l="l"/>
              <a:pathLst>
                <a:path h="1408176" w="1408176">
                  <a:moveTo>
                    <a:pt x="704088" y="0"/>
                  </a:moveTo>
                  <a:cubicBezTo>
                    <a:pt x="1092962" y="0"/>
                    <a:pt x="1408176" y="315214"/>
                    <a:pt x="1408176" y="704088"/>
                  </a:cubicBezTo>
                  <a:cubicBezTo>
                    <a:pt x="1408176" y="1092962"/>
                    <a:pt x="1092962" y="1408176"/>
                    <a:pt x="704088" y="1408176"/>
                  </a:cubicBezTo>
                  <a:cubicBezTo>
                    <a:pt x="315214" y="1408176"/>
                    <a:pt x="0" y="1092962"/>
                    <a:pt x="0" y="704088"/>
                  </a:cubicBezTo>
                  <a:cubicBezTo>
                    <a:pt x="0" y="315214"/>
                    <a:pt x="315214" y="0"/>
                    <a:pt x="704088" y="0"/>
                  </a:cubicBezTo>
                  <a:close/>
                </a:path>
              </a:pathLst>
            </a:custGeom>
            <a:solidFill>
              <a:srgbClr val="F1E3CB"/>
            </a:solidFill>
          </p:spPr>
        </p:sp>
        <p:sp>
          <p:nvSpPr>
            <p:cNvPr name="Freeform 19" id="19"/>
            <p:cNvSpPr/>
            <p:nvPr/>
          </p:nvSpPr>
          <p:spPr>
            <a:xfrm flipH="false" flipV="false" rot="0">
              <a:off x="0" y="0"/>
              <a:ext cx="1408176" cy="1408176"/>
            </a:xfrm>
            <a:custGeom>
              <a:avLst/>
              <a:gdLst/>
              <a:ahLst/>
              <a:cxnLst/>
              <a:rect r="r" b="b" t="t" l="l"/>
              <a:pathLst>
                <a:path h="1408176" w="1408176">
                  <a:moveTo>
                    <a:pt x="704088" y="0"/>
                  </a:moveTo>
                  <a:cubicBezTo>
                    <a:pt x="1092962" y="0"/>
                    <a:pt x="1408176" y="315214"/>
                    <a:pt x="1408176" y="704088"/>
                  </a:cubicBezTo>
                  <a:cubicBezTo>
                    <a:pt x="1408176" y="1092962"/>
                    <a:pt x="1092962" y="1408176"/>
                    <a:pt x="704088" y="1408176"/>
                  </a:cubicBezTo>
                  <a:cubicBezTo>
                    <a:pt x="315214" y="1408176"/>
                    <a:pt x="0" y="1092962"/>
                    <a:pt x="0" y="704088"/>
                  </a:cubicBezTo>
                  <a:cubicBezTo>
                    <a:pt x="0" y="315214"/>
                    <a:pt x="315214" y="0"/>
                    <a:pt x="704088" y="0"/>
                  </a:cubicBezTo>
                  <a:close/>
                </a:path>
              </a:pathLst>
            </a:custGeom>
            <a:solidFill>
              <a:srgbClr val="000000">
                <a:alpha val="0"/>
              </a:srgbClr>
            </a:solidFill>
            <a:ln w="28575" cap="sq">
              <a:solidFill>
                <a:srgbClr val="173A45"/>
              </a:solidFill>
              <a:prstDash val="solid"/>
              <a:miter/>
            </a:ln>
          </p:spPr>
        </p:sp>
      </p:grpSp>
      <p:sp>
        <p:nvSpPr>
          <p:cNvPr name="AutoShape 20" id="20"/>
          <p:cNvSpPr/>
          <p:nvPr/>
        </p:nvSpPr>
        <p:spPr>
          <a:xfrm rot="0">
            <a:off x="7132892" y="3100959"/>
            <a:ext cx="33528" cy="1433322"/>
          </a:xfrm>
          <a:prstGeom prst="rect">
            <a:avLst/>
          </a:prstGeom>
          <a:solidFill>
            <a:srgbClr val="173A45"/>
          </a:solidFill>
        </p:spPr>
      </p:sp>
      <p:sp>
        <p:nvSpPr>
          <p:cNvPr name="AutoShape 21" id="21"/>
          <p:cNvSpPr/>
          <p:nvPr/>
        </p:nvSpPr>
        <p:spPr>
          <a:xfrm rot="0">
            <a:off x="9101804" y="3100959"/>
            <a:ext cx="33528" cy="1433322"/>
          </a:xfrm>
          <a:prstGeom prst="rect">
            <a:avLst/>
          </a:prstGeom>
          <a:solidFill>
            <a:srgbClr val="173A45"/>
          </a:solidFill>
        </p:spPr>
      </p:sp>
      <p:grpSp>
        <p:nvGrpSpPr>
          <p:cNvPr name="Group 22" id="22"/>
          <p:cNvGrpSpPr/>
          <p:nvPr/>
        </p:nvGrpSpPr>
        <p:grpSpPr>
          <a:xfrm rot="0">
            <a:off x="7055739" y="3061144"/>
            <a:ext cx="184404" cy="419100"/>
            <a:chOff x="0" y="0"/>
            <a:chExt cx="245872" cy="558800"/>
          </a:xfrm>
        </p:grpSpPr>
        <p:sp>
          <p:nvSpPr>
            <p:cNvPr name="Freeform 23" id="23"/>
            <p:cNvSpPr/>
            <p:nvPr/>
          </p:nvSpPr>
          <p:spPr>
            <a:xfrm flipH="false" flipV="false" rot="0">
              <a:off x="0" y="0"/>
              <a:ext cx="245872" cy="558800"/>
            </a:xfrm>
            <a:custGeom>
              <a:avLst/>
              <a:gdLst/>
              <a:ahLst/>
              <a:cxnLst/>
              <a:rect r="r" b="b" t="t" l="l"/>
              <a:pathLst>
                <a:path h="558800" w="245872">
                  <a:moveTo>
                    <a:pt x="80010" y="0"/>
                  </a:moveTo>
                  <a:lnTo>
                    <a:pt x="165862" y="0"/>
                  </a:lnTo>
                  <a:cubicBezTo>
                    <a:pt x="210058" y="0"/>
                    <a:pt x="245872" y="35814"/>
                    <a:pt x="245872" y="80010"/>
                  </a:cubicBezTo>
                  <a:lnTo>
                    <a:pt x="245872" y="478790"/>
                  </a:lnTo>
                  <a:cubicBezTo>
                    <a:pt x="245872" y="522986"/>
                    <a:pt x="210058" y="558800"/>
                    <a:pt x="165862" y="558800"/>
                  </a:cubicBezTo>
                  <a:lnTo>
                    <a:pt x="80010" y="558800"/>
                  </a:lnTo>
                  <a:cubicBezTo>
                    <a:pt x="35814" y="558800"/>
                    <a:pt x="0" y="522986"/>
                    <a:pt x="0" y="478790"/>
                  </a:cubicBezTo>
                  <a:lnTo>
                    <a:pt x="0" y="80010"/>
                  </a:lnTo>
                  <a:cubicBezTo>
                    <a:pt x="0" y="35814"/>
                    <a:pt x="35814" y="0"/>
                    <a:pt x="80010" y="0"/>
                  </a:cubicBezTo>
                  <a:close/>
                </a:path>
              </a:pathLst>
            </a:custGeom>
            <a:solidFill>
              <a:srgbClr val="173A45"/>
            </a:solidFill>
          </p:spPr>
        </p:sp>
      </p:grpSp>
      <p:grpSp>
        <p:nvGrpSpPr>
          <p:cNvPr name="Group 24" id="24"/>
          <p:cNvGrpSpPr/>
          <p:nvPr/>
        </p:nvGrpSpPr>
        <p:grpSpPr>
          <a:xfrm rot="0">
            <a:off x="9049798" y="3061144"/>
            <a:ext cx="134112" cy="645414"/>
            <a:chOff x="0" y="0"/>
            <a:chExt cx="178816" cy="860552"/>
          </a:xfrm>
        </p:grpSpPr>
        <p:sp>
          <p:nvSpPr>
            <p:cNvPr name="Freeform 25" id="25"/>
            <p:cNvSpPr/>
            <p:nvPr/>
          </p:nvSpPr>
          <p:spPr>
            <a:xfrm flipH="false" flipV="false" rot="0">
              <a:off x="0" y="0"/>
              <a:ext cx="178816" cy="860552"/>
            </a:xfrm>
            <a:custGeom>
              <a:avLst/>
              <a:gdLst/>
              <a:ahLst/>
              <a:cxnLst/>
              <a:rect r="r" b="b" t="t" l="l"/>
              <a:pathLst>
                <a:path h="860552" w="178816">
                  <a:moveTo>
                    <a:pt x="80010" y="0"/>
                  </a:moveTo>
                  <a:lnTo>
                    <a:pt x="98806" y="0"/>
                  </a:lnTo>
                  <a:cubicBezTo>
                    <a:pt x="143002" y="0"/>
                    <a:pt x="178816" y="35814"/>
                    <a:pt x="178816" y="80010"/>
                  </a:cubicBezTo>
                  <a:lnTo>
                    <a:pt x="178816" y="780542"/>
                  </a:lnTo>
                  <a:cubicBezTo>
                    <a:pt x="178816" y="824738"/>
                    <a:pt x="143002" y="860552"/>
                    <a:pt x="98806" y="860552"/>
                  </a:cubicBezTo>
                  <a:lnTo>
                    <a:pt x="80010" y="860552"/>
                  </a:lnTo>
                  <a:cubicBezTo>
                    <a:pt x="35814" y="860552"/>
                    <a:pt x="0" y="824738"/>
                    <a:pt x="0" y="780542"/>
                  </a:cubicBezTo>
                  <a:lnTo>
                    <a:pt x="0" y="80010"/>
                  </a:lnTo>
                  <a:cubicBezTo>
                    <a:pt x="0" y="35814"/>
                    <a:pt x="35814" y="0"/>
                    <a:pt x="80010" y="0"/>
                  </a:cubicBezTo>
                  <a:close/>
                </a:path>
              </a:pathLst>
            </a:custGeom>
            <a:solidFill>
              <a:srgbClr val="173A45"/>
            </a:solidFill>
          </p:spPr>
        </p:sp>
      </p:grpSp>
      <p:sp>
        <p:nvSpPr>
          <p:cNvPr name="TextBox 26" id="26"/>
          <p:cNvSpPr txBox="true"/>
          <p:nvPr/>
        </p:nvSpPr>
        <p:spPr>
          <a:xfrm rot="0">
            <a:off x="10399395" y="3675602"/>
            <a:ext cx="1424940" cy="778002"/>
          </a:xfrm>
          <a:prstGeom prst="rect">
            <a:avLst/>
          </a:prstGeom>
        </p:spPr>
        <p:txBody>
          <a:bodyPr anchor="t" rtlCol="false" tIns="0" lIns="0" bIns="0" rIns="0">
            <a:spAutoFit/>
          </a:bodyPr>
          <a:lstStyle/>
          <a:p>
            <a:pPr algn="ctr">
              <a:lnSpc>
                <a:spcPts val="5660"/>
              </a:lnSpc>
            </a:pPr>
            <a:r>
              <a:rPr lang="en-US" sz="4224">
                <a:solidFill>
                  <a:srgbClr val="AC4D31"/>
                </a:solidFill>
                <a:latin typeface="Sarabun"/>
                <a:ea typeface="Sarabun"/>
                <a:cs typeface="Sarabun"/>
                <a:sym typeface="Sarabun"/>
              </a:rPr>
              <a:t>→</a:t>
            </a:r>
          </a:p>
        </p:txBody>
      </p:sp>
      <p:grpSp>
        <p:nvGrpSpPr>
          <p:cNvPr name="Group 27" id="27"/>
          <p:cNvGrpSpPr/>
          <p:nvPr/>
        </p:nvGrpSpPr>
        <p:grpSpPr>
          <a:xfrm rot="0">
            <a:off x="13584555" y="2809684"/>
            <a:ext cx="1282446" cy="2154174"/>
            <a:chOff x="0" y="0"/>
            <a:chExt cx="1709928" cy="2872232"/>
          </a:xfrm>
        </p:grpSpPr>
        <p:sp>
          <p:nvSpPr>
            <p:cNvPr name="Freeform 28" id="28"/>
            <p:cNvSpPr/>
            <p:nvPr/>
          </p:nvSpPr>
          <p:spPr>
            <a:xfrm flipH="false" flipV="false" rot="0">
              <a:off x="0" y="0"/>
              <a:ext cx="1709928" cy="2872232"/>
            </a:xfrm>
            <a:custGeom>
              <a:avLst/>
              <a:gdLst/>
              <a:ahLst/>
              <a:cxnLst/>
              <a:rect r="r" b="b" t="t" l="l"/>
              <a:pathLst>
                <a:path h="2872232" w="1709928">
                  <a:moveTo>
                    <a:pt x="274320" y="0"/>
                  </a:moveTo>
                  <a:lnTo>
                    <a:pt x="1435608" y="0"/>
                  </a:lnTo>
                  <a:cubicBezTo>
                    <a:pt x="1587119" y="0"/>
                    <a:pt x="1709928" y="122809"/>
                    <a:pt x="1709928" y="274320"/>
                  </a:cubicBezTo>
                  <a:lnTo>
                    <a:pt x="1709928" y="2597912"/>
                  </a:lnTo>
                  <a:cubicBezTo>
                    <a:pt x="1709928" y="2749423"/>
                    <a:pt x="1587119" y="2872232"/>
                    <a:pt x="1435608" y="2872232"/>
                  </a:cubicBezTo>
                  <a:lnTo>
                    <a:pt x="274320" y="2872232"/>
                  </a:lnTo>
                  <a:cubicBezTo>
                    <a:pt x="122809" y="2872232"/>
                    <a:pt x="0" y="2749423"/>
                    <a:pt x="0" y="2597912"/>
                  </a:cubicBezTo>
                  <a:lnTo>
                    <a:pt x="0" y="274320"/>
                  </a:lnTo>
                  <a:cubicBezTo>
                    <a:pt x="0" y="122809"/>
                    <a:pt x="122809" y="0"/>
                    <a:pt x="274320" y="0"/>
                  </a:cubicBezTo>
                  <a:close/>
                </a:path>
              </a:pathLst>
            </a:custGeom>
            <a:solidFill>
              <a:srgbClr val="173A45"/>
            </a:solidFill>
          </p:spPr>
        </p:sp>
      </p:grpSp>
      <p:grpSp>
        <p:nvGrpSpPr>
          <p:cNvPr name="Group 29" id="29"/>
          <p:cNvGrpSpPr/>
          <p:nvPr/>
        </p:nvGrpSpPr>
        <p:grpSpPr>
          <a:xfrm rot="0">
            <a:off x="13680853" y="3000375"/>
            <a:ext cx="1089660" cy="1735074"/>
            <a:chOff x="0" y="0"/>
            <a:chExt cx="1452880" cy="2313432"/>
          </a:xfrm>
        </p:grpSpPr>
        <p:sp>
          <p:nvSpPr>
            <p:cNvPr name="Freeform 30" id="30"/>
            <p:cNvSpPr/>
            <p:nvPr/>
          </p:nvSpPr>
          <p:spPr>
            <a:xfrm flipH="false" flipV="false" rot="0">
              <a:off x="0" y="0"/>
              <a:ext cx="1452880" cy="2313432"/>
            </a:xfrm>
            <a:custGeom>
              <a:avLst/>
              <a:gdLst/>
              <a:ahLst/>
              <a:cxnLst/>
              <a:rect r="r" b="b" t="t" l="l"/>
              <a:pathLst>
                <a:path h="2313432" w="1452880">
                  <a:moveTo>
                    <a:pt x="91440" y="0"/>
                  </a:moveTo>
                  <a:lnTo>
                    <a:pt x="1361440" y="0"/>
                  </a:lnTo>
                  <a:cubicBezTo>
                    <a:pt x="1411986" y="0"/>
                    <a:pt x="1452880" y="40894"/>
                    <a:pt x="1452880" y="91440"/>
                  </a:cubicBezTo>
                  <a:lnTo>
                    <a:pt x="1452880" y="2221992"/>
                  </a:lnTo>
                  <a:cubicBezTo>
                    <a:pt x="1452880" y="2272538"/>
                    <a:pt x="1411986" y="2313432"/>
                    <a:pt x="1361440" y="2313432"/>
                  </a:cubicBezTo>
                  <a:lnTo>
                    <a:pt x="91440" y="2313432"/>
                  </a:lnTo>
                  <a:cubicBezTo>
                    <a:pt x="40894" y="2313432"/>
                    <a:pt x="0" y="2272538"/>
                    <a:pt x="0" y="2221992"/>
                  </a:cubicBezTo>
                  <a:lnTo>
                    <a:pt x="0" y="91440"/>
                  </a:lnTo>
                  <a:cubicBezTo>
                    <a:pt x="0" y="40894"/>
                    <a:pt x="40894" y="0"/>
                    <a:pt x="91440" y="0"/>
                  </a:cubicBezTo>
                  <a:close/>
                </a:path>
              </a:pathLst>
            </a:custGeom>
            <a:solidFill>
              <a:srgbClr val="FFFFFF"/>
            </a:solidFill>
          </p:spPr>
        </p:sp>
      </p:grpSp>
      <p:grpSp>
        <p:nvGrpSpPr>
          <p:cNvPr name="Group 31" id="31"/>
          <p:cNvGrpSpPr/>
          <p:nvPr/>
        </p:nvGrpSpPr>
        <p:grpSpPr>
          <a:xfrm rot="0">
            <a:off x="14066425" y="2885122"/>
            <a:ext cx="318516" cy="41910"/>
            <a:chOff x="0" y="0"/>
            <a:chExt cx="424688" cy="55880"/>
          </a:xfrm>
        </p:grpSpPr>
        <p:sp>
          <p:nvSpPr>
            <p:cNvPr name="Freeform 32" id="32"/>
            <p:cNvSpPr/>
            <p:nvPr/>
          </p:nvSpPr>
          <p:spPr>
            <a:xfrm flipH="false" flipV="false" rot="0">
              <a:off x="0" y="0"/>
              <a:ext cx="424688" cy="55880"/>
            </a:xfrm>
            <a:custGeom>
              <a:avLst/>
              <a:gdLst/>
              <a:ahLst/>
              <a:cxnLst/>
              <a:rect r="r" b="b" t="t" l="l"/>
              <a:pathLst>
                <a:path h="55880" w="424688">
                  <a:moveTo>
                    <a:pt x="22860" y="0"/>
                  </a:moveTo>
                  <a:lnTo>
                    <a:pt x="401828" y="0"/>
                  </a:lnTo>
                  <a:cubicBezTo>
                    <a:pt x="414401" y="0"/>
                    <a:pt x="424688" y="10287"/>
                    <a:pt x="424688" y="22860"/>
                  </a:cubicBezTo>
                  <a:lnTo>
                    <a:pt x="424688" y="33020"/>
                  </a:lnTo>
                  <a:cubicBezTo>
                    <a:pt x="424688" y="45593"/>
                    <a:pt x="414401" y="55880"/>
                    <a:pt x="401828" y="55880"/>
                  </a:cubicBezTo>
                  <a:lnTo>
                    <a:pt x="22860" y="55880"/>
                  </a:lnTo>
                  <a:cubicBezTo>
                    <a:pt x="10287" y="55880"/>
                    <a:pt x="0" y="45593"/>
                    <a:pt x="0" y="33020"/>
                  </a:cubicBezTo>
                  <a:lnTo>
                    <a:pt x="0" y="22860"/>
                  </a:lnTo>
                  <a:cubicBezTo>
                    <a:pt x="0" y="10287"/>
                    <a:pt x="10287" y="0"/>
                    <a:pt x="22860" y="0"/>
                  </a:cubicBezTo>
                  <a:close/>
                </a:path>
              </a:pathLst>
            </a:custGeom>
            <a:solidFill>
              <a:srgbClr val="FFFFFF"/>
            </a:solidFill>
          </p:spPr>
        </p:sp>
      </p:grpSp>
      <p:grpSp>
        <p:nvGrpSpPr>
          <p:cNvPr name="Group 33" id="33"/>
          <p:cNvGrpSpPr/>
          <p:nvPr/>
        </p:nvGrpSpPr>
        <p:grpSpPr>
          <a:xfrm rot="0">
            <a:off x="14167009" y="4804886"/>
            <a:ext cx="117348" cy="117348"/>
            <a:chOff x="0" y="0"/>
            <a:chExt cx="156464" cy="156464"/>
          </a:xfrm>
        </p:grpSpPr>
        <p:sp>
          <p:nvSpPr>
            <p:cNvPr name="Freeform 34" id="34"/>
            <p:cNvSpPr/>
            <p:nvPr/>
          </p:nvSpPr>
          <p:spPr>
            <a:xfrm flipH="false" flipV="false" rot="0">
              <a:off x="0" y="0"/>
              <a:ext cx="156464" cy="156464"/>
            </a:xfrm>
            <a:custGeom>
              <a:avLst/>
              <a:gdLst/>
              <a:ahLst/>
              <a:cxnLst/>
              <a:rect r="r" b="b" t="t" l="l"/>
              <a:pathLst>
                <a:path h="156464" w="156464">
                  <a:moveTo>
                    <a:pt x="78232" y="0"/>
                  </a:moveTo>
                  <a:cubicBezTo>
                    <a:pt x="121412" y="0"/>
                    <a:pt x="156464" y="35052"/>
                    <a:pt x="156464" y="78232"/>
                  </a:cubicBezTo>
                  <a:cubicBezTo>
                    <a:pt x="156464" y="121412"/>
                    <a:pt x="121412" y="156464"/>
                    <a:pt x="78232" y="156464"/>
                  </a:cubicBezTo>
                  <a:cubicBezTo>
                    <a:pt x="35052" y="156464"/>
                    <a:pt x="0" y="121412"/>
                    <a:pt x="0" y="78232"/>
                  </a:cubicBezTo>
                  <a:cubicBezTo>
                    <a:pt x="0" y="35052"/>
                    <a:pt x="35052" y="0"/>
                    <a:pt x="78232" y="0"/>
                  </a:cubicBezTo>
                  <a:close/>
                </a:path>
              </a:pathLst>
            </a:custGeom>
            <a:solidFill>
              <a:srgbClr val="FFFFFF"/>
            </a:solidFill>
          </p:spPr>
        </p:sp>
      </p:grpSp>
      <p:sp>
        <p:nvSpPr>
          <p:cNvPr name="AutoShape 35" id="35"/>
          <p:cNvSpPr/>
          <p:nvPr/>
        </p:nvSpPr>
        <p:spPr>
          <a:xfrm rot="0">
            <a:off x="13846493" y="3352800"/>
            <a:ext cx="268224" cy="268224"/>
          </a:xfrm>
          <a:prstGeom prst="rect">
            <a:avLst/>
          </a:prstGeom>
          <a:solidFill>
            <a:srgbClr val="173A45"/>
          </a:solidFill>
        </p:spPr>
      </p:sp>
      <p:sp>
        <p:nvSpPr>
          <p:cNvPr name="AutoShape 36" id="36"/>
          <p:cNvSpPr/>
          <p:nvPr/>
        </p:nvSpPr>
        <p:spPr>
          <a:xfrm rot="0">
            <a:off x="14299120" y="3352800"/>
            <a:ext cx="268224" cy="268224"/>
          </a:xfrm>
          <a:prstGeom prst="rect">
            <a:avLst/>
          </a:prstGeom>
          <a:solidFill>
            <a:srgbClr val="173A45"/>
          </a:solidFill>
        </p:spPr>
      </p:sp>
      <p:sp>
        <p:nvSpPr>
          <p:cNvPr name="AutoShape 37" id="37"/>
          <p:cNvSpPr/>
          <p:nvPr/>
        </p:nvSpPr>
        <p:spPr>
          <a:xfrm rot="0">
            <a:off x="13846493" y="3805428"/>
            <a:ext cx="268224" cy="268224"/>
          </a:xfrm>
          <a:prstGeom prst="rect">
            <a:avLst/>
          </a:prstGeom>
          <a:solidFill>
            <a:srgbClr val="173A45"/>
          </a:solidFill>
        </p:spPr>
      </p:sp>
      <p:sp>
        <p:nvSpPr>
          <p:cNvPr name="AutoShape 38" id="38"/>
          <p:cNvSpPr/>
          <p:nvPr/>
        </p:nvSpPr>
        <p:spPr>
          <a:xfrm rot="0">
            <a:off x="14302835" y="3809143"/>
            <a:ext cx="117348" cy="117348"/>
          </a:xfrm>
          <a:prstGeom prst="rect">
            <a:avLst/>
          </a:prstGeom>
          <a:solidFill>
            <a:srgbClr val="173A45"/>
          </a:solidFill>
        </p:spPr>
      </p:sp>
      <p:sp>
        <p:nvSpPr>
          <p:cNvPr name="AutoShape 39" id="39"/>
          <p:cNvSpPr/>
          <p:nvPr/>
        </p:nvSpPr>
        <p:spPr>
          <a:xfrm rot="0">
            <a:off x="14438186" y="3952018"/>
            <a:ext cx="125730" cy="125730"/>
          </a:xfrm>
          <a:prstGeom prst="rect">
            <a:avLst/>
          </a:prstGeom>
          <a:solidFill>
            <a:srgbClr val="173A45"/>
          </a:solidFill>
        </p:spPr>
      </p:sp>
      <p:sp>
        <p:nvSpPr>
          <p:cNvPr name="AutoShape 40" id="40"/>
          <p:cNvSpPr/>
          <p:nvPr/>
        </p:nvSpPr>
        <p:spPr>
          <a:xfrm rot="0">
            <a:off x="14163675" y="3662458"/>
            <a:ext cx="108966" cy="108966"/>
          </a:xfrm>
          <a:prstGeom prst="rect">
            <a:avLst/>
          </a:prstGeom>
          <a:solidFill>
            <a:srgbClr val="173A45"/>
          </a:solidFill>
        </p:spPr>
      </p:sp>
      <p:grpSp>
        <p:nvGrpSpPr>
          <p:cNvPr name="Group 41" id="41"/>
          <p:cNvGrpSpPr/>
          <p:nvPr/>
        </p:nvGrpSpPr>
        <p:grpSpPr>
          <a:xfrm rot="0">
            <a:off x="2185035" y="6374130"/>
            <a:ext cx="3604260" cy="502920"/>
            <a:chOff x="0" y="0"/>
            <a:chExt cx="4805680" cy="670560"/>
          </a:xfrm>
        </p:grpSpPr>
        <p:sp>
          <p:nvSpPr>
            <p:cNvPr name="Freeform 42" id="42"/>
            <p:cNvSpPr/>
            <p:nvPr/>
          </p:nvSpPr>
          <p:spPr>
            <a:xfrm flipH="false" flipV="false" rot="0">
              <a:off x="0" y="0"/>
              <a:ext cx="4805680" cy="670560"/>
            </a:xfrm>
            <a:custGeom>
              <a:avLst/>
              <a:gdLst/>
              <a:ahLst/>
              <a:cxnLst/>
              <a:rect r="r" b="b" t="t" l="l"/>
              <a:pathLst>
                <a:path h="670560" w="4805680">
                  <a:moveTo>
                    <a:pt x="335280" y="0"/>
                  </a:moveTo>
                  <a:lnTo>
                    <a:pt x="4470400" y="0"/>
                  </a:lnTo>
                  <a:cubicBezTo>
                    <a:pt x="4655566" y="0"/>
                    <a:pt x="4805680" y="150114"/>
                    <a:pt x="4805680" y="335280"/>
                  </a:cubicBezTo>
                  <a:cubicBezTo>
                    <a:pt x="4805680" y="520446"/>
                    <a:pt x="4655566" y="670560"/>
                    <a:pt x="447040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43" id="43"/>
          <p:cNvSpPr txBox="true"/>
          <p:nvPr/>
        </p:nvSpPr>
        <p:spPr>
          <a:xfrm rot="0">
            <a:off x="2285619" y="6431280"/>
            <a:ext cx="340309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SERVICE_STAFF</a:t>
            </a:r>
          </a:p>
        </p:txBody>
      </p:sp>
      <p:grpSp>
        <p:nvGrpSpPr>
          <p:cNvPr name="Group 44" id="44"/>
          <p:cNvGrpSpPr/>
          <p:nvPr/>
        </p:nvGrpSpPr>
        <p:grpSpPr>
          <a:xfrm rot="0">
            <a:off x="6878955" y="6374130"/>
            <a:ext cx="3604260" cy="502920"/>
            <a:chOff x="0" y="0"/>
            <a:chExt cx="4805680" cy="670560"/>
          </a:xfrm>
        </p:grpSpPr>
        <p:sp>
          <p:nvSpPr>
            <p:cNvPr name="Freeform 45" id="45"/>
            <p:cNvSpPr/>
            <p:nvPr/>
          </p:nvSpPr>
          <p:spPr>
            <a:xfrm flipH="false" flipV="false" rot="0">
              <a:off x="0" y="0"/>
              <a:ext cx="4805680" cy="670560"/>
            </a:xfrm>
            <a:custGeom>
              <a:avLst/>
              <a:gdLst/>
              <a:ahLst/>
              <a:cxnLst/>
              <a:rect r="r" b="b" t="t" l="l"/>
              <a:pathLst>
                <a:path h="670560" w="4805680">
                  <a:moveTo>
                    <a:pt x="335280" y="0"/>
                  </a:moveTo>
                  <a:lnTo>
                    <a:pt x="4470400" y="0"/>
                  </a:lnTo>
                  <a:cubicBezTo>
                    <a:pt x="4655566" y="0"/>
                    <a:pt x="4805680" y="150114"/>
                    <a:pt x="4805680" y="335280"/>
                  </a:cubicBezTo>
                  <a:cubicBezTo>
                    <a:pt x="4805680" y="520446"/>
                    <a:pt x="4655566" y="670560"/>
                    <a:pt x="447040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46" id="46"/>
          <p:cNvSpPr txBox="true"/>
          <p:nvPr/>
        </p:nvSpPr>
        <p:spPr>
          <a:xfrm rot="0">
            <a:off x="6979539" y="6431280"/>
            <a:ext cx="340309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AVAILABLE</a:t>
            </a:r>
          </a:p>
        </p:txBody>
      </p:sp>
      <p:grpSp>
        <p:nvGrpSpPr>
          <p:cNvPr name="Group 47" id="47"/>
          <p:cNvGrpSpPr/>
          <p:nvPr/>
        </p:nvGrpSpPr>
        <p:grpSpPr>
          <a:xfrm rot="0">
            <a:off x="12578715" y="6374130"/>
            <a:ext cx="3604260" cy="502920"/>
            <a:chOff x="0" y="0"/>
            <a:chExt cx="4805680" cy="670560"/>
          </a:xfrm>
        </p:grpSpPr>
        <p:sp>
          <p:nvSpPr>
            <p:cNvPr name="Freeform 48" id="48"/>
            <p:cNvSpPr/>
            <p:nvPr/>
          </p:nvSpPr>
          <p:spPr>
            <a:xfrm flipH="false" flipV="false" rot="0">
              <a:off x="0" y="0"/>
              <a:ext cx="4805680" cy="670560"/>
            </a:xfrm>
            <a:custGeom>
              <a:avLst/>
              <a:gdLst/>
              <a:ahLst/>
              <a:cxnLst/>
              <a:rect r="r" b="b" t="t" l="l"/>
              <a:pathLst>
                <a:path h="670560" w="4805680">
                  <a:moveTo>
                    <a:pt x="335280" y="0"/>
                  </a:moveTo>
                  <a:lnTo>
                    <a:pt x="4470400" y="0"/>
                  </a:lnTo>
                  <a:cubicBezTo>
                    <a:pt x="4655566" y="0"/>
                    <a:pt x="4805680" y="150114"/>
                    <a:pt x="4805680" y="335280"/>
                  </a:cubicBezTo>
                  <a:cubicBezTo>
                    <a:pt x="4805680" y="520446"/>
                    <a:pt x="4655566" y="670560"/>
                    <a:pt x="4470400" y="670560"/>
                  </a:cubicBezTo>
                  <a:lnTo>
                    <a:pt x="335280" y="670560"/>
                  </a:lnTo>
                  <a:cubicBezTo>
                    <a:pt x="150114" y="670560"/>
                    <a:pt x="0" y="520446"/>
                    <a:pt x="0" y="335280"/>
                  </a:cubicBezTo>
                  <a:cubicBezTo>
                    <a:pt x="0" y="150114"/>
                    <a:pt x="150114" y="0"/>
                    <a:pt x="335280" y="0"/>
                  </a:cubicBezTo>
                  <a:close/>
                </a:path>
              </a:pathLst>
            </a:custGeom>
            <a:solidFill>
              <a:srgbClr val="DAEBE4"/>
            </a:solidFill>
          </p:spPr>
        </p:sp>
      </p:grpSp>
      <p:sp>
        <p:nvSpPr>
          <p:cNvPr name="TextBox 49" id="49"/>
          <p:cNvSpPr txBox="true"/>
          <p:nvPr/>
        </p:nvSpPr>
        <p:spPr>
          <a:xfrm rot="0">
            <a:off x="12679299" y="6431280"/>
            <a:ext cx="3403092" cy="354330"/>
          </a:xfrm>
          <a:prstGeom prst="rect">
            <a:avLst/>
          </a:prstGeom>
        </p:spPr>
        <p:txBody>
          <a:bodyPr anchor="t" rtlCol="false" tIns="0" lIns="0" bIns="0" rIns="0">
            <a:spAutoFit/>
          </a:bodyPr>
          <a:lstStyle/>
          <a:p>
            <a:pPr algn="ctr">
              <a:lnSpc>
                <a:spcPts val="2653"/>
              </a:lnSpc>
            </a:pPr>
            <a:r>
              <a:rPr lang="en-US" b="true" sz="1979">
                <a:solidFill>
                  <a:srgbClr val="28766D"/>
                </a:solidFill>
                <a:latin typeface="Sarabun Semi-Bold"/>
                <a:ea typeface="Sarabun Semi-Bold"/>
                <a:cs typeface="Sarabun Semi-Bold"/>
                <a:sym typeface="Sarabun Semi-Bold"/>
              </a:rPr>
              <a:t>ACTIVE + QR</a:t>
            </a:r>
          </a:p>
        </p:txBody>
      </p:sp>
      <p:sp>
        <p:nvSpPr>
          <p:cNvPr name="TextBox 50" id="50"/>
          <p:cNvSpPr txBox="true"/>
          <p:nvPr/>
        </p:nvSpPr>
        <p:spPr>
          <a:xfrm rot="0">
            <a:off x="2017395" y="8103679"/>
            <a:ext cx="14249400" cy="313563"/>
          </a:xfrm>
          <a:prstGeom prst="rect">
            <a:avLst/>
          </a:prstGeom>
        </p:spPr>
        <p:txBody>
          <a:bodyPr anchor="t" rtlCol="false" tIns="0" lIns="0" bIns="0" rIns="0">
            <a:spAutoFit/>
          </a:bodyPr>
          <a:lstStyle/>
          <a:p>
            <a:pPr algn="l">
              <a:lnSpc>
                <a:spcPts val="2211"/>
              </a:lnSpc>
            </a:pPr>
            <a:r>
              <a:rPr lang="en-US" sz="1650">
                <a:solidFill>
                  <a:srgbClr val="647477"/>
                </a:solidFill>
                <a:latin typeface="Sarabun"/>
                <a:ea typeface="Sarabun"/>
                <a:cs typeface="Sarabun"/>
                <a:sym typeface="Sarabun"/>
              </a:rPr>
              <a:t>ผิดเงื่อนไข → ปฏิเสธ · รายละเอียด / แหล่งอ้างอิงอยู่ใน Notes</a:t>
            </a:r>
          </a:p>
        </p:txBody>
      </p:sp>
      <p:sp>
        <p:nvSpPr>
          <p:cNvPr name="TextBox 51" id="51"/>
          <p:cNvSpPr txBox="true"/>
          <p:nvPr/>
        </p:nvSpPr>
        <p:spPr>
          <a:xfrm rot="0">
            <a:off x="1047750" y="8534400"/>
            <a:ext cx="16192500" cy="854869"/>
          </a:xfrm>
          <a:prstGeom prst="rect">
            <a:avLst/>
          </a:prstGeom>
        </p:spPr>
        <p:txBody>
          <a:bodyPr anchor="t" rtlCol="false" tIns="0" lIns="0" bIns="0" rIns="0">
            <a:spAutoFit/>
          </a:bodyPr>
          <a:lstStyle/>
          <a:p>
            <a:pPr algn="l">
              <a:lnSpc>
                <a:spcPts val="3216"/>
              </a:lnSpc>
            </a:pPr>
            <a:r>
              <a:rPr lang="en-US" sz="2400">
                <a:solidFill>
                  <a:srgbClr val="173A45"/>
                </a:solidFill>
                <a:latin typeface="Sarabun"/>
                <a:ea typeface="Sarabun"/>
                <a:cs typeface="Sarabun"/>
                <a:sym typeface="Sarabun"/>
              </a:rPr>
              <a:t>พนักงานเปิดได้เฉพาะโต๊ะ AVAILABLE ที่ผ่านเงื่อนไข ระบบสร้างรอบ ACTIVE พร้อม QR สำหรับให้ลูกค้าแลกสิทธิ์ของรอบนี้</a:t>
            </a:r>
          </a:p>
        </p:txBody>
      </p:sp>
      <p:sp>
        <p:nvSpPr>
          <p:cNvPr name="TextBox 52" id="52"/>
          <p:cNvSpPr txBox="true"/>
          <p:nvPr/>
        </p:nvSpPr>
        <p:spPr>
          <a:xfrm rot="0">
            <a:off x="1047750" y="9601200"/>
            <a:ext cx="11906250" cy="312515"/>
          </a:xfrm>
          <a:prstGeom prst="rect">
            <a:avLst/>
          </a:prstGeom>
        </p:spPr>
        <p:txBody>
          <a:bodyPr anchor="t" rtlCol="false" tIns="0" lIns="0" bIns="0" rIns="0">
            <a:spAutoFit/>
          </a:bodyPr>
          <a:lstStyle/>
          <a:p>
            <a:pPr algn="l">
              <a:lnSpc>
                <a:spcPts val="2311"/>
              </a:lnSpc>
            </a:pPr>
            <a:r>
              <a:rPr lang="en-US" sz="1725">
                <a:solidFill>
                  <a:srgbClr val="647477"/>
                </a:solidFill>
                <a:latin typeface="Sarabun"/>
                <a:ea typeface="Sarabun"/>
                <a:cs typeface="Sarabun"/>
                <a:sym typeface="Sarabun"/>
              </a:rPr>
              <a:t>pavarit_673380278-9_01</a:t>
            </a:r>
          </a:p>
        </p:txBody>
      </p:sp>
      <p:sp>
        <p:nvSpPr>
          <p:cNvPr name="TextBox 53" id="53"/>
          <p:cNvSpPr txBox="true"/>
          <p:nvPr/>
        </p:nvSpPr>
        <p:spPr>
          <a:xfrm rot="0">
            <a:off x="14001750" y="9601200"/>
            <a:ext cx="3238500" cy="312515"/>
          </a:xfrm>
          <a:prstGeom prst="rect">
            <a:avLst/>
          </a:prstGeom>
        </p:spPr>
        <p:txBody>
          <a:bodyPr anchor="t" rtlCol="false" tIns="0" lIns="0" bIns="0" rIns="0">
            <a:spAutoFit/>
          </a:bodyPr>
          <a:lstStyle/>
          <a:p>
            <a:pPr algn="r">
              <a:lnSpc>
                <a:spcPts val="2311"/>
              </a:lnSpc>
            </a:pPr>
            <a:r>
              <a:rPr lang="en-US" sz="1725">
                <a:solidFill>
                  <a:srgbClr val="647477"/>
                </a:solidFill>
                <a:latin typeface="Sarabun"/>
                <a:ea typeface="Sarabun"/>
                <a:cs typeface="Sarabun"/>
                <a:sym typeface="Sarabun"/>
              </a:rPr>
              <a:t>Q&amp;A · 24/24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DAHXmHjoiFU</dc:identifier>
  <dcterms:modified xsi:type="dcterms:W3CDTF">2011-08-01T06:04:30Z</dcterms:modified>
  <cp:revision>1</cp:revision>
  <dc:title>CP353002 · Team Draft v4 · ภาพพร้อมคำอธิบาย · 9 min</dc:title>
</cp:coreProperties>
</file>